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Over the next 30 minutes I'll show you why the way most teams use AI coding assistants is fundamentally broken — and how a constraint-based framework called RPI fixes it. We'll cover the problem, the framework, a live demo, and how different roles use it today.</a:t>
            </a:r>
          </a:p>
          <a:p/>
          <a:p>
            <a:r>
              <a:t>HVE-Core has been industry-proven at companies like AVEVA, BMW, Michelin, Hexagon, Kubota, and Nvidia to improve coding accuracy, automate repetitive tasks, and personalize solutions.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Raise your hand if this has happened to you. The AI generates something that looks right. It compiles. Then you deploy and discover it used patterns from 3 years ago, missed your naming conventions, and broke two downstream services. This is the universal failure mode of AI-assisted development.</a:t>
            </a:r>
          </a:p>
          <a:p/>
          <a:p>
            <a:r>
              <a:t>The pain is quantifiable: developers lose 15 to 20 hours per week dealing with repetitive tasks and relearning context. Unstructured AI interactions and constant context-switching cost about 40% of productivity. Those aren't hypothetical numbers — they come from real engineering teams.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 cause: AI treats every request as an implementation request. It never separates investigation from implementation. It pattern-matches from training data instead of searching your actual codebase. The output looks plausible — but plausible and correct aren't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philosophical foundation of HVE-Core. We don't try to make AI smarter. We constrain what it can do at each stage. A researcher that cannot write code will search instead of inventing. A planner that cannot implement will sequence instead of coding. Constraints force better behavior.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HVE-Core is an enterprise-ready prompt engineering framework. 22 custom agents, 27 prompts, 24 instruction files, 1 skill, and 10 collections. Agents define what AI can and cannot do. Instructions encode coding standards. Prompts are how users interact. Collections bundle artifacts for specific roles — a developer gets different tools than a TPM.</a:t>
            </a:r>
          </a:p>
          <a:p/>
          <a:p>
            <a:r>
              <a:t>This isn't just theory. HVE-Core has been used by industry leaders like AVEVA, BMW, Michelin, Hexagon, Kubota, and Nvidia to boost productivity and improve coding accuracy in real production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converts one form of understanding into the next. Uncertainty becomes knowledge. Knowledge becomes strategy. Strategy becomes working code. Working code becomes validated code. The /clear markers between phases prevent context contamination — the researcher's reasoning must not leak into the implementor.</a:t>
            </a:r>
          </a:p>
          <a:p/>
          <a:p>
            <a:r>
              <a:t>Internal trials show up to 88% faster task completion using RPI compared to unstructured AI prompting. That means what used to take a week might take one 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constraints row is the key architectural element. The researcher cannot implement — so it searches instead of inventing. The planner cannot implement — so it sequences instead of coding. The implementor follows the plan — no creative decisions. The reviewer cannot modify code — only validate. Each constraint forces the AI into its correct mode of operation.</a:t>
            </a:r>
          </a:p>
          <a:p/>
          <a:p>
            <a:r>
              <a:t>Best practice: keep each RPI cycle scoped to about 3 files. If the plan is larger, split into multiple cycles. This keeps tasks manageable and prevents context overload.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TPMs: the traceability row is your strongest argument for RPI adoption. Every line of code traces back through a plan to a research finding. For everyone: the /clear rule sounds counterintuitive — why throw away context? Because context contamination causes the researcher's reasoning patterns to leak into the implementor, creating mode confusion. Each phase needs a clean start with only its designated inputs.</a:t>
            </a:r>
          </a:p>
          <a:p/>
          <a:p>
            <a:r>
              <a:t>The paradigm shift is real: stop asking AI to write code. Start asking it to help you research, plan, and then implement with evidence. That single change transforms AI from a code generator into a research partner.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modes form the RPI cycle. Two additional modes serve specialized functions. Prompt Builder creates the artifacts that configure the agents — it's meta-level. PR Review is an 8-dimension quality gate that complements Task Reviewer. Every mode has a constraint that prevents the AI from doing something specific.</a:t>
            </a:r>
          </a:p>
          <a:p/>
          <a:p>
            <a:r>
              <a:t>Advanced tip: for familiar tasks where you know the codebase well, the rpi-agent can orchestrate all four phases in a single session. But for anything complex or unfamiliar, running phases separately with /clear gives much better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going to run through the RPI workflow live. Watch for five things: how the researcher searches rather than invents, how it cites files and line numbers, how the plan references research artifacts, how /clear resets context, and how the implementor follows the plan step by step.</a:t>
            </a:r>
          </a:p>
          <a:p/>
          <a:p>
            <a:r>
              <a:t>Demo flow: open VS Code, run /task-research, show output, /clear, run /task-plan with research file, show plan and details output, /clear, run /task-implement with plan.</a:t>
            </a:r>
          </a:p>
          <a:p/>
          <a:p>
            <a:r>
              <a:t>Fallback: if live demo fails, switch to pre-captured screenshots or terminal output.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HVE-Core isn't just for developers. Eight distinct roles, each with a dedicated collection that filters the right tools for their job.</a:t>
            </a:r>
          </a:p>
          <a:p/>
          <a:p>
            <a:r>
              <a:t>For developers: the RPI pipeline. For TPMs and leads: requirements discovery → PRD authoring → ADO work item creation. For PMs and non-coding roles: use Researcher to gather data for status reports, Planner to structure narratives, Prompt Builder to formulate user stories. For OSS contributors: RPI as a self-service mentor — pick a 'good first issue,' research the codebase, plan your approach, implement with guidance.</a:t>
            </a:r>
          </a:p>
          <a:p/>
          <a:p>
            <a:r>
              <a:t>Notice that roles don't share workflows — a TPM's tooling is different from a developer's. Collections make that separation automatic.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RPI adapts to different situations. For complex or ambiguous projects where requirements are unclear, you can add a Discovery phase before Research — we call this D-RPI. Discovery is a brainstorming session with the AI in Ask Mode: 'Who is the audience? What do they care about? What do they already know?' It mirrors the Empathize and Define stages of Design Thinking.</a:t>
            </a:r>
          </a:p>
          <a:p/>
          <a:p>
            <a:r>
              <a:t>This alignment isn't a coincidence. RPI maps naturally to Design Thinking — Research parallels Ideation, Plan parallels Prototyping, Implement parallels Building, Review parallels Testing with feedback loops. Context from Discovery pre-seeds the Research phase, so the AI already understands the high-level intent.</a:t>
            </a:r>
          </a:p>
          <a:p/>
          <a:p>
            <a:r>
              <a:t>Note that D-RPI and Design Thinking integration are forward-looking extensions. The core four-phase RPI is the production workflow today. And RPI is cyclical, not linear — the Review phase can route back to Research for knowledge gaps, back to Plan for scope changes, or back to Implement for fixes.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aren't hypothetical — real teams have seen dramatic improvements with HVE-Core. A global telecom rolled out an HVE approach in their cloud deployment process and cut deployment times by 50%. Another team saw architecture documents and security plans go from taking several days to just a few hours — a 90% reduction.</a:t>
            </a:r>
          </a:p>
          <a:p/>
          <a:p>
            <a:r>
              <a:t>At an internal hackathon, a team delivered a working prototype in only 2 days using RPI and Copilot — something that traditionally would have taken 6 to 8 weeks. Quality improved too: the AI-driven PR Review agent helped developers catch subtle bugs and security issues before code was merged.</a:t>
            </a:r>
          </a:p>
          <a:p/>
          <a:p>
            <a:r>
              <a:t>And developers are happier. By eliminating tedious tasks and reducing context-switching, HVE-Core frees engineers to focus on creative problem-solving. Teams report significantly less frustration and higher morale.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HVE-Core uses its own tools to build itself. This presentation was planned using the RPI workflow. Every agent was built by the Prompt Builder agent. The validation pipeline runs 12+ automated checks on every PR. If it doesn't work on itself, why would it work on your project? Self-referential credibility is the strongest argument for adoption.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VS Code extensions organized by role. hve-core is the full package with 21 agents, 23 prompts, and 18 instruction files. Specialized extensions like hve-ado and hve-github focus on specific workflows. All share a common base of 8 core agents and 5 core instructions. Pick the extension that matches your role.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with your team: the first RPI workflow feels slower. That's by design. You're building research artifacts that compound across features. By the third feature, the workflow feels natural and you'll wonder how you worked without it.</a:t>
            </a:r>
          </a:p>
          <a:p/>
          <a:p>
            <a:r>
              <a:t>The real value isn't the current task — it's what compounds. Research documents accumulate into institutional memory. New team members can read how past decisions were made. You're not just solving today's problem; you're building the knowledge base that accelerates tomorrow's.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paths to get started, based on your role. The VS Code Extension is the fastest — literally 10 seconds from the Marketplace. Search 'HVE Core,' install, and you have all six chat modes immediately. If you need to customize artifacts, clone the repo. For zero-config, use GitHub Codespaces — one click.</a:t>
            </a:r>
          </a:p>
          <a:p/>
          <a:p>
            <a:r>
              <a:t>For learning, the first-workflow tutorial takes 15 minutes — it's a guided RPI exercise. The HVE-Learning repository has full self-paced modules on prompt engineering, RPI, and backlog management. Customer Zero Katas provide hands-on practice exercises for real-world scenarios.</a:t>
            </a:r>
          </a:p>
          <a:p/>
          <a:p>
            <a:r>
              <a:t>All documentation lives at aka.ms/hve-core — installation steps, usage examples, FAQs, and deep-dive guides.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We'd love to have you be part of the HVE community. Bi-weekly community syncs are the best way to see what's new — live demos of new features, Q&amp;A with the core team, and roadmap discussions. These are open to everyone.</a:t>
            </a:r>
          </a:p>
          <a:p/>
          <a:p>
            <a:r>
              <a:t>For day-to-day collaboration, join the #Hypervelocity and #SeasonOfHVE Teams channels. You'll find tips, troubleshooting help, and discussions about best practices.</a:t>
            </a:r>
          </a:p>
          <a:p/>
          <a:p>
            <a:r>
              <a:t>Contributing is straightforward. Issues labeled 'good first issue' are curated for newcomers. And here's the meta play: use RPI itself to make your first contribution. Run Task Researcher to understand the codebase, Task Planner to outline your approach, then implement. Contributions aren't limited to code — prompts, instructions, documentation, and bug reports are all valuable.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to get started. Install the extension — 10 seconds. Open Copilot Chat. Select Task Researcher. Ask it about your next feature. That's it.</a:t>
            </a:r>
          </a:p>
          <a:p/>
          <a:p>
            <a:r>
              <a:t>Don't change your whole workflow — just use the researcher once and see what happens. When you see how it searches the codebase instead of inventing code, you'll understand why constraints are features.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Hypervelocity Engineering is about making your whole team dramatically faster and better. First, HVE-Core delivers real results — some teams have seen nearly a tenfold speed-up on certain tasks, while also catching quality issues that could have slipped through.</a:t>
            </a:r>
          </a:p>
          <a:p/>
          <a:p>
            <a:r>
              <a:t>Second, RPI is the heart of this approach. It might feel counterintuitive at first to slow down and do separate research and planning steps, but that structure is exactly what unlocks the speed later. Structured phases kill the AI rework loop.</a:t>
            </a:r>
          </a:p>
          <a:p/>
          <a:p>
            <a:r>
              <a:t>Third, HVE-Core empowers everyone, not just developers. PMs create PRDs. TPMs build backlog hierarchies. Security engineers generate threat models. Our call to action: try HVE-Core on one task this week. The setup is trivial — 10 seconds. 'The code comes last, after the hard work of understanding is complete.' Thank you — let's go forth and build at hypervelocity.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1645920"/>
            <a:ext cx="10058400" cy="1371600"/>
          </a:xfrm>
          <a:prstGeom prst="rect">
            <a:avLst/>
          </a:prstGeom>
          <a:noFill/>
        </p:spPr>
        <p:txBody>
          <a:bodyPr wrap="square">
            <a:spAutoFit/>
          </a:bodyPr>
          <a:lstStyle/>
          <a:p>
            <a:pPr algn="l">
              <a:defRPr sz="4400" b="1">
                <a:solidFill>
                  <a:srgbClr val="FFFFFF"/>
                </a:solidFill>
                <a:latin typeface="Segoe UI"/>
              </a:defRPr>
            </a:pPr>
            <a:r>
              <a:t>HVE-Core and the RPI Framework</a:t>
            </a:r>
          </a:p>
        </p:txBody>
      </p:sp>
      <p:sp>
        <p:nvSpPr>
          <p:cNvPr id="3" name="Rectangle 2"/>
          <p:cNvSpPr/>
          <p:nvPr/>
        </p:nvSpPr>
        <p:spPr>
          <a:xfrm>
            <a:off x="731520" y="274320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017520"/>
            <a:ext cx="10058400" cy="1828800"/>
          </a:xfrm>
          <a:prstGeom prst="rect">
            <a:avLst/>
          </a:prstGeom>
          <a:noFill/>
        </p:spPr>
        <p:txBody>
          <a:bodyPr wrap="square">
            <a:spAutoFit/>
          </a:bodyPr>
          <a:lstStyle/>
          <a:p>
            <a:pPr>
              <a:spcAft>
                <a:spcPts val="400"/>
              </a:spcAft>
              <a:defRPr sz="2000" b="0">
                <a:solidFill>
                  <a:srgbClr val="E0E0E0"/>
                </a:solidFill>
                <a:latin typeface="Segoe UI"/>
              </a:defRPr>
            </a:pPr>
            <a:r>
              <a:t>Turning AI from a Code Generator into a Research Partner</a:t>
            </a:r>
          </a:p>
          <a:p>
            <a:pPr>
              <a:spcAft>
                <a:spcPts val="400"/>
              </a:spcAft>
              <a:defRPr sz="1000" b="0">
                <a:solidFill>
                  <a:srgbClr val="FFFFFF"/>
                </a:solidFill>
                <a:latin typeface="Segoe UI"/>
              </a:defRPr>
            </a:pPr>
          </a:p>
          <a:p>
            <a:pPr>
              <a:spcAft>
                <a:spcPts val="400"/>
              </a:spcAft>
              <a:defRPr sz="1600" b="0">
                <a:solidFill>
                  <a:srgbClr val="909090"/>
                </a:solidFill>
                <a:latin typeface="Segoe UI"/>
              </a:defRPr>
            </a:pPr>
            <a:r>
              <a:t>A constraint-based framework for AI-assisted engineering</a:t>
            </a:r>
          </a:p>
        </p:txBody>
      </p:sp>
      <p:sp>
        <p:nvSpPr>
          <p:cNvPr id="5" name="Rounded Rectangle 4"/>
          <p:cNvSpPr/>
          <p:nvPr/>
        </p:nvSpPr>
        <p:spPr>
          <a:xfrm>
            <a:off x="731520" y="4754880"/>
            <a:ext cx="27432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30-Minute Overview  •  Two Parts</a:t>
            </a:r>
          </a:p>
        </p:txBody>
      </p:sp>
      <p:sp>
        <p:nvSpPr>
          <p:cNvPr id="6" name="TextBox 5"/>
          <p:cNvSpPr txBox="1"/>
          <p:nvPr/>
        </p:nvSpPr>
        <p:spPr>
          <a:xfrm>
            <a:off x="731520" y="5669280"/>
            <a:ext cx="10058400" cy="365760"/>
          </a:xfrm>
          <a:prstGeom prst="rect">
            <a:avLst/>
          </a:prstGeom>
          <a:noFill/>
        </p:spPr>
        <p:txBody>
          <a:bodyPr wrap="square">
            <a:spAutoFit/>
          </a:bodyPr>
          <a:lstStyle/>
          <a:p>
            <a:pPr algn="ctr">
              <a:defRPr sz="1400" b="1">
                <a:solidFill>
                  <a:srgbClr val="038E8E"/>
                </a:solidFill>
                <a:latin typeface="Segoe UI"/>
              </a:defRPr>
            </a:pPr>
            <a:r>
              <a:t>Proven at AVEVA  •  BMW  •  Michelin  •  Hexagon  •  Kubota  •  Nvidia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The Problem</a:t>
            </a:r>
          </a:p>
        </p:txBody>
      </p:sp>
      <p:sp>
        <p:nvSpPr>
          <p:cNvPr id="3" name="Rectangle 2"/>
          <p:cNvSpPr/>
          <p:nvPr/>
        </p:nvSpPr>
        <p:spPr>
          <a:xfrm>
            <a:off x="731520" y="1005840"/>
            <a:ext cx="731520" cy="5080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6858000" cy="3657600"/>
          </a:xfrm>
          <a:prstGeom prst="rect">
            <a:avLst/>
          </a:prstGeom>
          <a:noFill/>
        </p:spPr>
        <p:txBody>
          <a:bodyPr wrap="square">
            <a:spAutoFit/>
          </a:bodyPr>
          <a:lstStyle/>
          <a:p>
            <a:pPr>
              <a:spcAft>
                <a:spcPts val="400"/>
              </a:spcAft>
              <a:defRPr sz="800" b="0">
                <a:solidFill>
                  <a:srgbClr val="FFFFFF"/>
                </a:solidFill>
                <a:latin typeface="Segoe UI"/>
              </a:defRPr>
            </a:pPr>
          </a:p>
          <a:p>
            <a:pPr>
              <a:spcAft>
                <a:spcPts val="400"/>
              </a:spcAft>
              <a:defRPr sz="1800" b="0">
                <a:solidFill>
                  <a:srgbClr val="FFFFFF"/>
                </a:solidFill>
                <a:latin typeface="Segoe UI"/>
              </a:defRPr>
            </a:pPr>
            <a:r>
              <a:t>You: "Build me a Terraform module for Azure IoT"</a:t>
            </a:r>
          </a:p>
          <a:p>
            <a:pPr>
              <a:spcAft>
                <a:spcPts val="400"/>
              </a:spcAft>
              <a:defRPr sz="1200" b="0">
                <a:solidFill>
                  <a:srgbClr val="FFFFFF"/>
                </a:solidFill>
                <a:latin typeface="Segoe UI"/>
              </a:defRPr>
            </a:pPr>
          </a:p>
          <a:p>
            <a:pPr>
              <a:spcAft>
                <a:spcPts val="400"/>
              </a:spcAft>
              <a:defRPr sz="1800" b="0">
                <a:solidFill>
                  <a:srgbClr val="E0E0E0"/>
                </a:solidFill>
                <a:latin typeface="Segoe UI"/>
              </a:defRPr>
            </a:pPr>
            <a:r>
              <a:t>AI: *immediately generates 2,000 lines of code*</a:t>
            </a:r>
          </a:p>
          <a:p>
            <a:pPr>
              <a:spcAft>
                <a:spcPts val="400"/>
              </a:spcAft>
              <a:defRPr sz="1200" b="0">
                <a:solidFill>
                  <a:srgbClr val="FFFFFF"/>
                </a:solidFill>
                <a:latin typeface="Segoe UI"/>
              </a:defRPr>
            </a:pPr>
          </a:p>
          <a:p>
            <a:pPr>
              <a:spcAft>
                <a:spcPts val="400"/>
              </a:spcAft>
              <a:defRPr sz="2000" b="1">
                <a:solidFill>
                  <a:srgbClr val="D13438"/>
                </a:solidFill>
                <a:latin typeface="Segoe UI"/>
              </a:defRPr>
            </a:pPr>
            <a:r>
              <a:t>Reality:</a:t>
            </a:r>
          </a:p>
          <a:p>
            <a:pPr>
              <a:spcAft>
                <a:spcPts val="400"/>
              </a:spcAft>
              <a:defRPr sz="1400" b="0">
                <a:solidFill>
                  <a:srgbClr val="D13438"/>
                </a:solidFill>
                <a:latin typeface="Segoe UI"/>
              </a:defRPr>
            </a:pPr>
            <a:r>
              <a:t>  • Missing provider dependencies</a:t>
            </a:r>
          </a:p>
          <a:p>
            <a:pPr>
              <a:spcAft>
                <a:spcPts val="400"/>
              </a:spcAft>
              <a:defRPr sz="1400" b="0">
                <a:solidFill>
                  <a:srgbClr val="D13438"/>
                </a:solidFill>
                <a:latin typeface="Segoe UI"/>
              </a:defRPr>
            </a:pPr>
            <a:r>
              <a:t>  • Wrong variable naming conventions</a:t>
            </a:r>
          </a:p>
          <a:p>
            <a:pPr>
              <a:spcAft>
                <a:spcPts val="400"/>
              </a:spcAft>
              <a:defRPr sz="1400" b="0">
                <a:solidFill>
                  <a:srgbClr val="D13438"/>
                </a:solidFill>
                <a:latin typeface="Segoe UI"/>
              </a:defRPr>
            </a:pPr>
            <a:r>
              <a:t>  • Patterns from 3 years ago</a:t>
            </a:r>
          </a:p>
          <a:p>
            <a:pPr>
              <a:spcAft>
                <a:spcPts val="400"/>
              </a:spcAft>
              <a:defRPr sz="1400" b="0">
                <a:solidFill>
                  <a:srgbClr val="D13438"/>
                </a:solidFill>
                <a:latin typeface="Segoe UI"/>
              </a:defRPr>
            </a:pPr>
            <a:r>
              <a:t>  • Broke two downstream services</a:t>
            </a:r>
          </a:p>
          <a:p>
            <a:pPr>
              <a:spcAft>
                <a:spcPts val="400"/>
              </a:spcAft>
              <a:defRPr sz="1400" b="0">
                <a:solidFill>
                  <a:srgbClr val="D13438"/>
                </a:solidFill>
                <a:latin typeface="Segoe UI"/>
              </a:defRPr>
            </a:pPr>
            <a:r>
              <a:t>  • Used modules that don't exist in your registry</a:t>
            </a:r>
          </a:p>
          <a:p>
            <a:pPr>
              <a:spcAft>
                <a:spcPts val="400"/>
              </a:spcAft>
              <a:defRPr sz="1200" b="0">
                <a:solidFill>
                  <a:srgbClr val="FFFFFF"/>
                </a:solidFill>
                <a:latin typeface="Segoe UI"/>
              </a:defRPr>
            </a:pPr>
          </a:p>
          <a:p>
            <a:pPr>
              <a:spcAft>
                <a:spcPts val="400"/>
              </a:spcAft>
              <a:defRPr sz="1400" b="1">
                <a:solidFill>
                  <a:srgbClr val="909090"/>
                </a:solidFill>
                <a:latin typeface="Segoe UI"/>
              </a:defRPr>
            </a:pPr>
            <a:r>
              <a:t>It looked right. It compiled. Then you deployed.</a:t>
            </a:r>
          </a:p>
        </p:txBody>
      </p:sp>
      <p:sp>
        <p:nvSpPr>
          <p:cNvPr id="5" name="Rounded Rectangle 4"/>
          <p:cNvSpPr/>
          <p:nvPr/>
        </p:nvSpPr>
        <p:spPr>
          <a:xfrm>
            <a:off x="8229600" y="1371600"/>
            <a:ext cx="3200400" cy="45720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The Cost</a:t>
            </a:r>
          </a:p>
        </p:txBody>
      </p:sp>
      <p:sp>
        <p:nvSpPr>
          <p:cNvPr id="6" name="TextBox 5"/>
          <p:cNvSpPr txBox="1"/>
          <p:nvPr/>
        </p:nvSpPr>
        <p:spPr>
          <a:xfrm>
            <a:off x="8229600" y="2011680"/>
            <a:ext cx="3200400" cy="2743200"/>
          </a:xfrm>
          <a:prstGeom prst="rect">
            <a:avLst/>
          </a:prstGeom>
          <a:noFill/>
        </p:spPr>
        <p:txBody>
          <a:bodyPr wrap="square">
            <a:spAutoFit/>
          </a:bodyPr>
          <a:lstStyle/>
          <a:p>
            <a:pPr>
              <a:spcAft>
                <a:spcPts val="400"/>
              </a:spcAft>
              <a:defRPr sz="2000" b="1">
                <a:solidFill>
                  <a:srgbClr val="FF8C00"/>
                </a:solidFill>
                <a:latin typeface="Segoe UI"/>
              </a:defRPr>
            </a:pPr>
            <a:r>
              <a:t>15–20 hrs/week</a:t>
            </a:r>
          </a:p>
          <a:p>
            <a:pPr>
              <a:spcAft>
                <a:spcPts val="400"/>
              </a:spcAft>
              <a:defRPr sz="1200" b="0">
                <a:solidFill>
                  <a:srgbClr val="E0E0E0"/>
                </a:solidFill>
                <a:latin typeface="Segoe UI"/>
              </a:defRPr>
            </a:pPr>
            <a:r>
              <a:t>lost to repetitive tasks and</a:t>
            </a:r>
          </a:p>
          <a:p>
            <a:pPr>
              <a:spcAft>
                <a:spcPts val="400"/>
              </a:spcAft>
              <a:defRPr sz="1200" b="0">
                <a:solidFill>
                  <a:srgbClr val="E0E0E0"/>
                </a:solidFill>
                <a:latin typeface="Segoe UI"/>
              </a:defRPr>
            </a:pPr>
            <a:r>
              <a:t>relearning context</a:t>
            </a:r>
          </a:p>
          <a:p>
            <a:pPr>
              <a:spcAft>
                <a:spcPts val="400"/>
              </a:spcAft>
              <a:defRPr sz="1000" b="0">
                <a:solidFill>
                  <a:srgbClr val="FFFFFF"/>
                </a:solidFill>
                <a:latin typeface="Segoe UI"/>
              </a:defRPr>
            </a:pPr>
          </a:p>
          <a:p>
            <a:pPr>
              <a:spcAft>
                <a:spcPts val="400"/>
              </a:spcAft>
              <a:defRPr sz="2000" b="1">
                <a:solidFill>
                  <a:srgbClr val="FF8C00"/>
                </a:solidFill>
                <a:latin typeface="Segoe UI"/>
              </a:defRPr>
            </a:pPr>
            <a:r>
              <a:t>40% productivity loss</a:t>
            </a:r>
          </a:p>
          <a:p>
            <a:pPr>
              <a:spcAft>
                <a:spcPts val="400"/>
              </a:spcAft>
              <a:defRPr sz="1200" b="0">
                <a:solidFill>
                  <a:srgbClr val="E0E0E0"/>
                </a:solidFill>
                <a:latin typeface="Segoe UI"/>
              </a:defRPr>
            </a:pPr>
            <a:r>
              <a:t>from unstructured AI interactions</a:t>
            </a:r>
          </a:p>
          <a:p>
            <a:pPr>
              <a:spcAft>
                <a:spcPts val="400"/>
              </a:spcAft>
              <a:defRPr sz="1200" b="0">
                <a:solidFill>
                  <a:srgbClr val="E0E0E0"/>
                </a:solidFill>
                <a:latin typeface="Segoe UI"/>
              </a:defRPr>
            </a:pPr>
            <a:r>
              <a:t>and context-switching</a:t>
            </a:r>
          </a:p>
        </p:txBody>
      </p:sp>
      <p:sp>
        <p:nvSpPr>
          <p:cNvPr id="7" name="TextBox 6"/>
          <p:cNvSpPr txBox="1"/>
          <p:nvPr/>
        </p:nvSpPr>
        <p:spPr>
          <a:xfrm>
            <a:off x="914400" y="5943600"/>
            <a:ext cx="9144000" cy="457200"/>
          </a:xfrm>
          <a:prstGeom prst="rect">
            <a:avLst/>
          </a:prstGeom>
          <a:noFill/>
        </p:spPr>
        <p:txBody>
          <a:bodyPr wrap="square">
            <a:spAutoFit/>
          </a:bodyPr>
          <a:lstStyle/>
          <a:p>
            <a:pPr algn="l">
              <a:defRPr sz="1400" b="0">
                <a:solidFill>
                  <a:srgbClr val="909090"/>
                </a:solidFill>
                <a:latin typeface="Segoe UI"/>
              </a:defRPr>
            </a:pPr>
            <a:r>
              <a:t>Raise your hand if this has happened to you.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Why It Happens</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645920"/>
            <a:ext cx="3657600" cy="22860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78D4"/>
                </a:solidFill>
                <a:latin typeface="Segoe UI"/>
              </a:defRPr>
            </a:pPr>
            <a:r>
              <a:t>Investigate?</a:t>
            </a:r>
            <a:br/>
            <a:br/>
            <a:r>
              <a:t>🔍</a:t>
            </a:r>
            <a:br/>
            <a:br/>
            <a:r>
              <a:t>Search • Analyze • Understand</a:t>
            </a:r>
          </a:p>
        </p:txBody>
      </p:sp>
      <p:sp>
        <p:nvSpPr>
          <p:cNvPr id="5" name="Rounded Rectangle 4"/>
          <p:cNvSpPr/>
          <p:nvPr/>
        </p:nvSpPr>
        <p:spPr>
          <a:xfrm>
            <a:off x="6858000" y="1645920"/>
            <a:ext cx="3657600" cy="22860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8C00"/>
                </a:solidFill>
                <a:latin typeface="Segoe UI"/>
              </a:defRPr>
            </a:pPr>
            <a:r>
              <a:t>Implement!</a:t>
            </a:r>
            <a:br/>
            <a:br/>
            <a:r>
              <a:t>⌨️</a:t>
            </a:r>
            <a:br/>
            <a:br/>
            <a:r>
              <a:t>Generate • Write • Ship</a:t>
            </a:r>
          </a:p>
        </p:txBody>
      </p:sp>
      <p:cxnSp>
        <p:nvCxnSpPr>
          <p:cNvPr id="6" name="Connector 5"/>
          <p:cNvCxnSpPr/>
          <p:nvPr/>
        </p:nvCxnSpPr>
        <p:spPr>
          <a:xfrm>
            <a:off x="5212080" y="2743200"/>
            <a:ext cx="1463040" cy="0"/>
          </a:xfrm>
          <a:prstGeom prst="line">
            <a:avLst/>
          </a:prstGeom>
          <a:ln w="38100">
            <a:solidFill>
              <a:srgbClr val="D1343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828800" y="4389120"/>
            <a:ext cx="8229600" cy="731520"/>
          </a:xfrm>
          <a:prstGeom prst="rect">
            <a:avLst/>
          </a:prstGeom>
          <a:noFill/>
        </p:spPr>
        <p:txBody>
          <a:bodyPr wrap="square">
            <a:spAutoFit/>
          </a:bodyPr>
          <a:lstStyle/>
          <a:p>
            <a:pPr algn="ctr">
              <a:defRPr sz="2800" b="1">
                <a:solidFill>
                  <a:srgbClr val="FFFFFF"/>
                </a:solidFill>
                <a:latin typeface="Segoe UI"/>
              </a:defRPr>
            </a:pPr>
            <a:r>
              <a:t>AI Writes First and Thinks Never</a:t>
            </a:r>
          </a:p>
        </p:txBody>
      </p:sp>
      <p:sp>
        <p:nvSpPr>
          <p:cNvPr id="8" name="TextBox 7"/>
          <p:cNvSpPr txBox="1"/>
          <p:nvPr/>
        </p:nvSpPr>
        <p:spPr>
          <a:xfrm>
            <a:off x="1828800" y="5212080"/>
            <a:ext cx="8229600" cy="457200"/>
          </a:xfrm>
          <a:prstGeom prst="rect">
            <a:avLst/>
          </a:prstGeom>
          <a:noFill/>
        </p:spPr>
        <p:txBody>
          <a:bodyPr wrap="square">
            <a:spAutoFit/>
          </a:bodyPr>
          <a:lstStyle/>
          <a:p>
            <a:pPr algn="ctr">
              <a:defRPr sz="1600" b="0">
                <a:solidFill>
                  <a:srgbClr val="909090"/>
                </a:solidFill>
                <a:latin typeface="Segoe UI"/>
              </a:defRPr>
            </a:pPr>
            <a:r>
              <a:t>"Plausible" and "correct" aren't the same 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The Counterintuitive Insight</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2286000"/>
          </a:xfrm>
          <a:prstGeom prst="rect">
            <a:avLst/>
          </a:prstGeom>
          <a:noFill/>
        </p:spPr>
        <p:txBody>
          <a:bodyPr wrap="square">
            <a:spAutoFit/>
          </a:bodyPr>
          <a:lstStyle/>
          <a:p>
            <a:pPr>
              <a:spcAft>
                <a:spcPts val="400"/>
              </a:spcAft>
              <a:defRPr sz="2200" b="0">
                <a:solidFill>
                  <a:srgbClr val="FFFFFF"/>
                </a:solidFill>
                <a:latin typeface="Segoe UI"/>
              </a:defRPr>
            </a:pPr>
            <a:r>
              <a:t>"The solution isn't teaching AI to be smarter.</a:t>
            </a:r>
          </a:p>
          <a:p>
            <a:pPr>
              <a:spcAft>
                <a:spcPts val="400"/>
              </a:spcAft>
              <a:defRPr sz="800" b="0">
                <a:solidFill>
                  <a:srgbClr val="FFFFFF"/>
                </a:solidFill>
                <a:latin typeface="Segoe UI"/>
              </a:defRPr>
            </a:pPr>
          </a:p>
          <a:p>
            <a:pPr>
              <a:spcAft>
                <a:spcPts val="400"/>
              </a:spcAft>
              <a:defRPr sz="2200" b="0">
                <a:solidFill>
                  <a:srgbClr val="FFFFFF"/>
                </a:solidFill>
                <a:latin typeface="Segoe UI"/>
              </a:defRPr>
            </a:pPr>
            <a:r>
              <a:t>It's preventing AI from doing certain things</a:t>
            </a:r>
          </a:p>
          <a:p>
            <a:pPr>
              <a:spcAft>
                <a:spcPts val="400"/>
              </a:spcAft>
              <a:defRPr sz="2200" b="0">
                <a:solidFill>
                  <a:srgbClr val="FFFFFF"/>
                </a:solidFill>
                <a:latin typeface="Segoe UI"/>
              </a:defRPr>
            </a:pPr>
            <a:r>
              <a:t>at certain times."</a:t>
            </a:r>
          </a:p>
        </p:txBody>
      </p:sp>
      <p:sp>
        <p:nvSpPr>
          <p:cNvPr id="5" name="Rectangle 4"/>
          <p:cNvSpPr/>
          <p:nvPr/>
        </p:nvSpPr>
        <p:spPr>
          <a:xfrm>
            <a:off x="731520" y="347472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4389120"/>
            <a:ext cx="4114800" cy="64008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Optimizing for plausible code</a:t>
            </a:r>
          </a:p>
        </p:txBody>
      </p:sp>
      <p:cxnSp>
        <p:nvCxnSpPr>
          <p:cNvPr id="7" name="Connector 6"/>
          <p:cNvCxnSpPr/>
          <p:nvPr/>
        </p:nvCxnSpPr>
        <p:spPr>
          <a:xfrm>
            <a:off x="5669280" y="4709160"/>
            <a:ext cx="73152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0" y="4389120"/>
            <a:ext cx="4114800" cy="6400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Optimizing for verified truth</a:t>
            </a:r>
          </a:p>
        </p:txBody>
      </p:sp>
      <p:sp>
        <p:nvSpPr>
          <p:cNvPr id="9" name="TextBox 8"/>
          <p:cNvSpPr txBox="1"/>
          <p:nvPr/>
        </p:nvSpPr>
        <p:spPr>
          <a:xfrm>
            <a:off x="1371600" y="5486400"/>
            <a:ext cx="9144000" cy="457200"/>
          </a:xfrm>
          <a:prstGeom prst="rect">
            <a:avLst/>
          </a:prstGeom>
          <a:noFill/>
        </p:spPr>
        <p:txBody>
          <a:bodyPr wrap="square">
            <a:spAutoFit/>
          </a:bodyPr>
          <a:lstStyle/>
          <a:p>
            <a:pPr algn="ctr">
              <a:defRPr sz="1600" b="0">
                <a:solidFill>
                  <a:srgbClr val="909090"/>
                </a:solidFill>
                <a:latin typeface="Segoe UI"/>
              </a:defRPr>
            </a:pPr>
            <a:r>
              <a:t>Constraints are features, not limitations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What is HVE-Core?</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058400" cy="548640"/>
          </a:xfrm>
          <a:prstGeom prst="rect">
            <a:avLst/>
          </a:prstGeom>
          <a:noFill/>
        </p:spPr>
        <p:txBody>
          <a:bodyPr wrap="square">
            <a:spAutoFit/>
          </a:bodyPr>
          <a:lstStyle/>
          <a:p>
            <a:pPr algn="l">
              <a:defRPr sz="1500" b="0">
                <a:solidFill>
                  <a:srgbClr val="E0E0E0"/>
                </a:solidFill>
                <a:latin typeface="Segoe UI"/>
              </a:defRPr>
            </a:pPr>
            <a:r>
              <a:t>An enterprise-ready prompt engineering framework that transforms GitHub Copilot from a code-completion tool into a structured engineering partner.</a:t>
            </a:r>
          </a:p>
        </p:txBody>
      </p:sp>
      <p:sp>
        <p:nvSpPr>
          <p:cNvPr id="5" name="Rounded Rectangle 4"/>
          <p:cNvSpPr/>
          <p:nvPr/>
        </p:nvSpPr>
        <p:spPr>
          <a:xfrm>
            <a:off x="731520" y="2194560"/>
            <a:ext cx="1920240" cy="10972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Agents</a:t>
            </a:r>
            <a:br/>
            <a:r>
              <a:t>22</a:t>
            </a:r>
          </a:p>
        </p:txBody>
      </p:sp>
      <p:sp>
        <p:nvSpPr>
          <p:cNvPr id="6" name="Rounded Rectangle 5"/>
          <p:cNvSpPr/>
          <p:nvPr/>
        </p:nvSpPr>
        <p:spPr>
          <a:xfrm>
            <a:off x="2926080" y="2194560"/>
            <a:ext cx="1920240" cy="10972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Prompts</a:t>
            </a:r>
            <a:br/>
            <a:r>
              <a:t>27</a:t>
            </a:r>
          </a:p>
        </p:txBody>
      </p:sp>
      <p:sp>
        <p:nvSpPr>
          <p:cNvPr id="7" name="Rounded Rectangle 6"/>
          <p:cNvSpPr/>
          <p:nvPr/>
        </p:nvSpPr>
        <p:spPr>
          <a:xfrm>
            <a:off x="5120640" y="2194560"/>
            <a:ext cx="1920240" cy="10972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Instructions</a:t>
            </a:r>
            <a:br/>
            <a:r>
              <a:t>24</a:t>
            </a:r>
          </a:p>
        </p:txBody>
      </p:sp>
      <p:sp>
        <p:nvSpPr>
          <p:cNvPr id="8" name="Rounded Rectangle 7"/>
          <p:cNvSpPr/>
          <p:nvPr/>
        </p:nvSpPr>
        <p:spPr>
          <a:xfrm>
            <a:off x="7315199" y="2194560"/>
            <a:ext cx="1920240" cy="1097280"/>
          </a:xfrm>
          <a:prstGeom prst="round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Skills</a:t>
            </a:r>
            <a:br/>
            <a:r>
              <a:t>1</a:t>
            </a:r>
          </a:p>
        </p:txBody>
      </p:sp>
      <p:sp>
        <p:nvSpPr>
          <p:cNvPr id="9" name="Rounded Rectangle 8"/>
          <p:cNvSpPr/>
          <p:nvPr/>
        </p:nvSpPr>
        <p:spPr>
          <a:xfrm>
            <a:off x="9509760" y="2194560"/>
            <a:ext cx="1920240" cy="109728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Segoe UI"/>
              </a:defRPr>
            </a:pPr>
            <a:r>
              <a:t>Collections</a:t>
            </a:r>
            <a:br/>
            <a:r>
              <a:t>10</a:t>
            </a:r>
          </a:p>
        </p:txBody>
      </p:sp>
      <p:sp>
        <p:nvSpPr>
          <p:cNvPr id="10" name="TextBox 9"/>
          <p:cNvSpPr txBox="1"/>
          <p:nvPr/>
        </p:nvSpPr>
        <p:spPr>
          <a:xfrm>
            <a:off x="731520" y="3657600"/>
            <a:ext cx="10058400" cy="457200"/>
          </a:xfrm>
          <a:prstGeom prst="rect">
            <a:avLst/>
          </a:prstGeom>
          <a:noFill/>
        </p:spPr>
        <p:txBody>
          <a:bodyPr wrap="square">
            <a:spAutoFit/>
          </a:bodyPr>
          <a:lstStyle/>
          <a:p>
            <a:pPr algn="l">
              <a:defRPr sz="1800" b="1">
                <a:solidFill>
                  <a:srgbClr val="FFFFFF"/>
                </a:solidFill>
                <a:latin typeface="Segoe UI"/>
              </a:defRPr>
            </a:pPr>
            <a:r>
              <a:t>Delegation Flow</a:t>
            </a:r>
          </a:p>
        </p:txBody>
      </p:sp>
      <p:sp>
        <p:nvSpPr>
          <p:cNvPr id="11" name="Rounded Rectangle 10"/>
          <p:cNvSpPr/>
          <p:nvPr/>
        </p:nvSpPr>
        <p:spPr>
          <a:xfrm>
            <a:off x="914400" y="4206240"/>
            <a:ext cx="182880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909090"/>
                </a:solidFill>
                <a:latin typeface="Segoe UI"/>
              </a:defRPr>
            </a:pPr>
            <a:r>
              <a:t>User</a:t>
            </a:r>
          </a:p>
        </p:txBody>
      </p:sp>
      <p:cxnSp>
        <p:nvCxnSpPr>
          <p:cNvPr id="12" name="Connector 11"/>
          <p:cNvCxnSpPr/>
          <p:nvPr/>
        </p:nvCxnSpPr>
        <p:spPr>
          <a:xfrm>
            <a:off x="2834640" y="4480560"/>
            <a:ext cx="54864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74720" y="4206240"/>
            <a:ext cx="182880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7C10"/>
                </a:solidFill>
                <a:latin typeface="Segoe UI"/>
              </a:defRPr>
            </a:pPr>
            <a:r>
              <a:t>Prompt</a:t>
            </a:r>
          </a:p>
        </p:txBody>
      </p:sp>
      <p:cxnSp>
        <p:nvCxnSpPr>
          <p:cNvPr id="14" name="Connector 13"/>
          <p:cNvCxnSpPr/>
          <p:nvPr/>
        </p:nvCxnSpPr>
        <p:spPr>
          <a:xfrm>
            <a:off x="5394960" y="4480560"/>
            <a:ext cx="548640" cy="0"/>
          </a:xfrm>
          <a:prstGeom prst="line">
            <a:avLst/>
          </a:prstGeom>
          <a:ln w="25400">
            <a:solidFill>
              <a:srgbClr val="107C1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035040" y="4206240"/>
            <a:ext cx="182880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78D4"/>
                </a:solidFill>
                <a:latin typeface="Segoe UI"/>
              </a:defRPr>
            </a:pPr>
            <a:r>
              <a:t>Agent</a:t>
            </a:r>
          </a:p>
        </p:txBody>
      </p:sp>
      <p:cxnSp>
        <p:nvCxnSpPr>
          <p:cNvPr id="16" name="Connector 15"/>
          <p:cNvCxnSpPr/>
          <p:nvPr/>
        </p:nvCxnSpPr>
        <p:spPr>
          <a:xfrm>
            <a:off x="7955280" y="4480560"/>
            <a:ext cx="54864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595359" y="4206240"/>
            <a:ext cx="182880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8C00"/>
                </a:solidFill>
                <a:latin typeface="Segoe UI"/>
              </a:defRPr>
            </a:pPr>
            <a:r>
              <a:t>Instructions</a:t>
            </a:r>
          </a:p>
        </p:txBody>
      </p:sp>
      <p:sp>
        <p:nvSpPr>
          <p:cNvPr id="18" name="TextBox 17"/>
          <p:cNvSpPr txBox="1"/>
          <p:nvPr/>
        </p:nvSpPr>
        <p:spPr>
          <a:xfrm>
            <a:off x="731520" y="5029200"/>
            <a:ext cx="10058400" cy="1371600"/>
          </a:xfrm>
          <a:prstGeom prst="rect">
            <a:avLst/>
          </a:prstGeom>
          <a:noFill/>
        </p:spPr>
        <p:txBody>
          <a:bodyPr wrap="square">
            <a:spAutoFit/>
          </a:bodyPr>
          <a:lstStyle/>
          <a:p>
            <a:pPr>
              <a:spcAft>
                <a:spcPts val="400"/>
              </a:spcAft>
              <a:defRPr sz="1300" b="0">
                <a:solidFill>
                  <a:srgbClr val="909090"/>
                </a:solidFill>
                <a:latin typeface="Segoe UI"/>
              </a:defRPr>
            </a:pPr>
            <a:r>
              <a:t>Agents define behavior and constraints. Instructions encode standards.</a:t>
            </a:r>
          </a:p>
          <a:p>
            <a:pPr>
              <a:spcAft>
                <a:spcPts val="400"/>
              </a:spcAft>
              <a:defRPr sz="1300" b="0">
                <a:solidFill>
                  <a:srgbClr val="909090"/>
                </a:solidFill>
                <a:latin typeface="Segoe UI"/>
              </a:defRPr>
            </a:pPr>
            <a:r>
              <a:t>Prompts are user entry points. Skills package domain knowledge.</a:t>
            </a:r>
          </a:p>
          <a:p>
            <a:pPr>
              <a:spcAft>
                <a:spcPts val="400"/>
              </a:spcAft>
              <a:defRPr sz="1300" b="0">
                <a:solidFill>
                  <a:srgbClr val="909090"/>
                </a:solidFill>
                <a:latin typeface="Segoe UI"/>
              </a:defRPr>
            </a:pPr>
            <a:r>
              <a:t>Collections bundle everything for specific roles.</a:t>
            </a:r>
          </a:p>
          <a:p>
            <a:pPr>
              <a:spcAft>
                <a:spcPts val="400"/>
              </a:spcAft>
              <a:defRPr sz="600" b="0">
                <a:solidFill>
                  <a:srgbClr val="FFFFFF"/>
                </a:solidFill>
                <a:latin typeface="Segoe UI"/>
              </a:defRPr>
            </a:pPr>
          </a:p>
          <a:p>
            <a:pPr>
              <a:spcAft>
                <a:spcPts val="400"/>
              </a:spcAft>
              <a:defRPr sz="1300" b="1">
                <a:solidFill>
                  <a:srgbClr val="038E8E"/>
                </a:solidFill>
                <a:latin typeface="Segoe UI"/>
              </a:defRPr>
            </a:pPr>
            <a:r>
              <a:t>Industry-proven at AVEVA, BMW, Michelin, Hexagon, Kubota, and Nvidia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defRPr sz="3200" b="1">
                <a:solidFill>
                  <a:srgbClr val="FFFFFF"/>
                </a:solidFill>
                <a:latin typeface="Segoe UI"/>
              </a:defRPr>
            </a:pPr>
            <a:r>
              <a:t>The RPI Pipeline</a:t>
            </a:r>
          </a:p>
        </p:txBody>
      </p:sp>
      <p:sp>
        <p:nvSpPr>
          <p:cNvPr id="3" name="Rectangle 2"/>
          <p:cNvSpPr/>
          <p:nvPr/>
        </p:nvSpPr>
        <p:spPr>
          <a:xfrm>
            <a:off x="731520" y="82296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ve-rpi-pipeline-enhanced.png"/>
          <p:cNvPicPr>
            <a:picLocks noChangeAspect="1"/>
          </p:cNvPicPr>
          <p:nvPr/>
        </p:nvPicPr>
        <p:blipFill>
          <a:blip r:embed="rId2"/>
          <a:stretch>
            <a:fillRect/>
          </a:stretch>
        </p:blipFill>
        <p:spPr>
          <a:xfrm>
            <a:off x="274320" y="1097280"/>
            <a:ext cx="11612880" cy="5303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Deep Dive: Each Phase</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71600"/>
            <a:ext cx="265176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Research</a:t>
            </a:r>
          </a:p>
        </p:txBody>
      </p:sp>
      <p:sp>
        <p:nvSpPr>
          <p:cNvPr id="5" name="TextBox 4"/>
          <p:cNvSpPr txBox="1"/>
          <p:nvPr/>
        </p:nvSpPr>
        <p:spPr>
          <a:xfrm>
            <a:off x="548640" y="1920240"/>
            <a:ext cx="2468880" cy="4114800"/>
          </a:xfrm>
          <a:prstGeom prst="rect">
            <a:avLst/>
          </a:prstGeom>
          <a:noFill/>
        </p:spPr>
        <p:txBody>
          <a:bodyPr wrap="square">
            <a:spAutoFit/>
          </a:bodyPr>
          <a:lstStyle/>
          <a:p>
            <a:pPr>
              <a:spcAft>
                <a:spcPts val="400"/>
              </a:spcAft>
              <a:defRPr sz="1100" b="1">
                <a:solidFill>
                  <a:srgbClr val="0078D4"/>
                </a:solidFill>
                <a:latin typeface="Segoe UI"/>
              </a:defRPr>
            </a:pPr>
            <a:r>
              <a:t>Purpose</a:t>
            </a:r>
          </a:p>
          <a:p>
            <a:pPr>
              <a:spcAft>
                <a:spcPts val="400"/>
              </a:spcAft>
              <a:defRPr sz="1000" b="0">
                <a:solidFill>
                  <a:srgbClr val="E0E0E0"/>
                </a:solidFill>
                <a:latin typeface="Segoe UI"/>
              </a:defRPr>
            </a:pPr>
            <a:r>
              <a:t>Discover what exists</a:t>
            </a:r>
          </a:p>
          <a:p>
            <a:pPr>
              <a:spcAft>
                <a:spcPts val="400"/>
              </a:spcAft>
              <a:defRPr sz="600" b="0">
                <a:solidFill>
                  <a:srgbClr val="FFFFFF"/>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FFFFFF"/>
                </a:solidFill>
                <a:latin typeface="Segoe UI"/>
              </a:defRPr>
            </a:pPr>
            <a:r>
              <a:t>CANNOT implement or modify code</a:t>
            </a:r>
          </a:p>
          <a:p>
            <a:pPr>
              <a:spcAft>
                <a:spcPts val="400"/>
              </a:spcAft>
              <a:defRPr sz="600" b="0">
                <a:solidFill>
                  <a:srgbClr val="FFFFFF"/>
                </a:solidFill>
                <a:latin typeface="Segoe UI"/>
              </a:defRPr>
            </a:pPr>
          </a:p>
          <a:p>
            <a:pPr>
              <a:spcAft>
                <a:spcPts val="400"/>
              </a:spcAft>
              <a:defRPr sz="1100" b="1">
                <a:solidFill>
                  <a:srgbClr val="0078D4"/>
                </a:solidFill>
                <a:latin typeface="Segoe UI"/>
              </a:defRPr>
            </a:pPr>
            <a:r>
              <a:t>Key Output</a:t>
            </a:r>
          </a:p>
          <a:p>
            <a:pPr>
              <a:spcAft>
                <a:spcPts val="400"/>
              </a:spcAft>
              <a:defRPr sz="1000" b="0">
                <a:solidFill>
                  <a:srgbClr val="E0E0E0"/>
                </a:solidFill>
                <a:latin typeface="Segoe UI"/>
              </a:defRPr>
            </a:pPr>
            <a:r>
              <a:t>research.md with citations</a:t>
            </a:r>
          </a:p>
          <a:p>
            <a:pPr>
              <a:spcAft>
                <a:spcPts val="400"/>
              </a:spcAft>
              <a:defRPr sz="600" b="0">
                <a:solidFill>
                  <a:srgbClr val="FFFFFF"/>
                </a:solidFill>
                <a:latin typeface="Segoe UI"/>
              </a:defRPr>
            </a:pPr>
          </a:p>
          <a:p>
            <a:pPr>
              <a:spcAft>
                <a:spcPts val="400"/>
              </a:spcAft>
              <a:defRPr sz="1100" b="1">
                <a:solidFill>
                  <a:srgbClr val="0078D4"/>
                </a:solidFill>
                <a:latin typeface="Segoe UI"/>
              </a:defRPr>
            </a:pPr>
            <a:r>
              <a:t>Invocation</a:t>
            </a:r>
          </a:p>
          <a:p>
            <a:pPr>
              <a:spcAft>
                <a:spcPts val="400"/>
              </a:spcAft>
              <a:defRPr sz="1000" b="0">
                <a:solidFill>
                  <a:srgbClr val="909090"/>
                </a:solidFill>
                <a:latin typeface="Segoe UI"/>
              </a:defRPr>
            </a:pPr>
            <a:r>
              <a:t>/task-research</a:t>
            </a:r>
          </a:p>
        </p:txBody>
      </p:sp>
      <p:sp>
        <p:nvSpPr>
          <p:cNvPr id="6" name="Rounded Rectangle 5"/>
          <p:cNvSpPr/>
          <p:nvPr/>
        </p:nvSpPr>
        <p:spPr>
          <a:xfrm>
            <a:off x="3291840" y="1371600"/>
            <a:ext cx="265176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Plan</a:t>
            </a:r>
          </a:p>
        </p:txBody>
      </p:sp>
      <p:sp>
        <p:nvSpPr>
          <p:cNvPr id="7" name="TextBox 6"/>
          <p:cNvSpPr txBox="1"/>
          <p:nvPr/>
        </p:nvSpPr>
        <p:spPr>
          <a:xfrm>
            <a:off x="3383280" y="1920240"/>
            <a:ext cx="2468880" cy="4114800"/>
          </a:xfrm>
          <a:prstGeom prst="rect">
            <a:avLst/>
          </a:prstGeom>
          <a:noFill/>
        </p:spPr>
        <p:txBody>
          <a:bodyPr wrap="square">
            <a:spAutoFit/>
          </a:bodyPr>
          <a:lstStyle/>
          <a:p>
            <a:pPr>
              <a:spcAft>
                <a:spcPts val="400"/>
              </a:spcAft>
              <a:defRPr sz="1100" b="1">
                <a:solidFill>
                  <a:srgbClr val="107C10"/>
                </a:solidFill>
                <a:latin typeface="Segoe UI"/>
              </a:defRPr>
            </a:pPr>
            <a:r>
              <a:t>Purpose</a:t>
            </a:r>
          </a:p>
          <a:p>
            <a:pPr>
              <a:spcAft>
                <a:spcPts val="400"/>
              </a:spcAft>
              <a:defRPr sz="1000" b="0">
                <a:solidFill>
                  <a:srgbClr val="E0E0E0"/>
                </a:solidFill>
                <a:latin typeface="Segoe UI"/>
              </a:defRPr>
            </a:pPr>
            <a:r>
              <a:t>Sequence the work</a:t>
            </a:r>
          </a:p>
          <a:p>
            <a:pPr>
              <a:spcAft>
                <a:spcPts val="400"/>
              </a:spcAft>
              <a:defRPr sz="600" b="0">
                <a:solidFill>
                  <a:srgbClr val="FFFFFF"/>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FFFFFF"/>
                </a:solidFill>
                <a:latin typeface="Segoe UI"/>
              </a:defRPr>
            </a:pPr>
            <a:r>
              <a:t>CANNOT implement or modify code</a:t>
            </a:r>
          </a:p>
          <a:p>
            <a:pPr>
              <a:spcAft>
                <a:spcPts val="400"/>
              </a:spcAft>
              <a:defRPr sz="600" b="0">
                <a:solidFill>
                  <a:srgbClr val="FFFFFF"/>
                </a:solidFill>
                <a:latin typeface="Segoe UI"/>
              </a:defRPr>
            </a:pPr>
          </a:p>
          <a:p>
            <a:pPr>
              <a:spcAft>
                <a:spcPts val="400"/>
              </a:spcAft>
              <a:defRPr sz="1100" b="1">
                <a:solidFill>
                  <a:srgbClr val="107C10"/>
                </a:solidFill>
                <a:latin typeface="Segoe UI"/>
              </a:defRPr>
            </a:pPr>
            <a:r>
              <a:t>Key Output</a:t>
            </a:r>
          </a:p>
          <a:p>
            <a:pPr>
              <a:spcAft>
                <a:spcPts val="400"/>
              </a:spcAft>
              <a:defRPr sz="1000" b="0">
                <a:solidFill>
                  <a:srgbClr val="E0E0E0"/>
                </a:solidFill>
                <a:latin typeface="Segoe UI"/>
              </a:defRPr>
            </a:pPr>
            <a:r>
              <a:t>plan.instructions.md + details.md</a:t>
            </a:r>
          </a:p>
          <a:p>
            <a:pPr>
              <a:spcAft>
                <a:spcPts val="400"/>
              </a:spcAft>
              <a:defRPr sz="600" b="0">
                <a:solidFill>
                  <a:srgbClr val="FFFFFF"/>
                </a:solidFill>
                <a:latin typeface="Segoe UI"/>
              </a:defRPr>
            </a:pPr>
          </a:p>
          <a:p>
            <a:pPr>
              <a:spcAft>
                <a:spcPts val="400"/>
              </a:spcAft>
              <a:defRPr sz="1100" b="1">
                <a:solidFill>
                  <a:srgbClr val="107C10"/>
                </a:solidFill>
                <a:latin typeface="Segoe UI"/>
              </a:defRPr>
            </a:pPr>
            <a:r>
              <a:t>Invocation</a:t>
            </a:r>
          </a:p>
          <a:p>
            <a:pPr>
              <a:spcAft>
                <a:spcPts val="400"/>
              </a:spcAft>
              <a:defRPr sz="1000" b="0">
                <a:solidFill>
                  <a:srgbClr val="909090"/>
                </a:solidFill>
                <a:latin typeface="Segoe UI"/>
              </a:defRPr>
            </a:pPr>
            <a:r>
              <a:t>/task-plan</a:t>
            </a:r>
          </a:p>
        </p:txBody>
      </p:sp>
      <p:sp>
        <p:nvSpPr>
          <p:cNvPr id="8" name="Rounded Rectangle 7"/>
          <p:cNvSpPr/>
          <p:nvPr/>
        </p:nvSpPr>
        <p:spPr>
          <a:xfrm>
            <a:off x="6126480" y="1371600"/>
            <a:ext cx="265176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Implement</a:t>
            </a:r>
          </a:p>
        </p:txBody>
      </p:sp>
      <p:sp>
        <p:nvSpPr>
          <p:cNvPr id="9" name="TextBox 8"/>
          <p:cNvSpPr txBox="1"/>
          <p:nvPr/>
        </p:nvSpPr>
        <p:spPr>
          <a:xfrm>
            <a:off x="6217920" y="1920240"/>
            <a:ext cx="2468880" cy="4114800"/>
          </a:xfrm>
          <a:prstGeom prst="rect">
            <a:avLst/>
          </a:prstGeom>
          <a:noFill/>
        </p:spPr>
        <p:txBody>
          <a:bodyPr wrap="square">
            <a:spAutoFit/>
          </a:bodyPr>
          <a:lstStyle/>
          <a:p>
            <a:pPr>
              <a:spcAft>
                <a:spcPts val="400"/>
              </a:spcAft>
              <a:defRPr sz="1100" b="1">
                <a:solidFill>
                  <a:srgbClr val="FF8C00"/>
                </a:solidFill>
                <a:latin typeface="Segoe UI"/>
              </a:defRPr>
            </a:pPr>
            <a:r>
              <a:t>Purpose</a:t>
            </a:r>
          </a:p>
          <a:p>
            <a:pPr>
              <a:spcAft>
                <a:spcPts val="400"/>
              </a:spcAft>
              <a:defRPr sz="1000" b="0">
                <a:solidFill>
                  <a:srgbClr val="E0E0E0"/>
                </a:solidFill>
                <a:latin typeface="Segoe UI"/>
              </a:defRPr>
            </a:pPr>
            <a:r>
              <a:t>Execute the plan</a:t>
            </a:r>
          </a:p>
          <a:p>
            <a:pPr>
              <a:spcAft>
                <a:spcPts val="400"/>
              </a:spcAft>
              <a:defRPr sz="600" b="0">
                <a:solidFill>
                  <a:srgbClr val="FFFFFF"/>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FFFFFF"/>
                </a:solidFill>
                <a:latin typeface="Segoe UI"/>
              </a:defRPr>
            </a:pPr>
            <a:r>
              <a:t>MUST follow plan — no creative decisions</a:t>
            </a:r>
          </a:p>
          <a:p>
            <a:pPr>
              <a:spcAft>
                <a:spcPts val="400"/>
              </a:spcAft>
              <a:defRPr sz="600" b="0">
                <a:solidFill>
                  <a:srgbClr val="FFFFFF"/>
                </a:solidFill>
                <a:latin typeface="Segoe UI"/>
              </a:defRPr>
            </a:pPr>
          </a:p>
          <a:p>
            <a:pPr>
              <a:spcAft>
                <a:spcPts val="400"/>
              </a:spcAft>
              <a:defRPr sz="1100" b="1">
                <a:solidFill>
                  <a:srgbClr val="FF8C00"/>
                </a:solidFill>
                <a:latin typeface="Segoe UI"/>
              </a:defRPr>
            </a:pPr>
            <a:r>
              <a:t>Key Output</a:t>
            </a:r>
          </a:p>
          <a:p>
            <a:pPr>
              <a:spcAft>
                <a:spcPts val="400"/>
              </a:spcAft>
              <a:defRPr sz="1000" b="0">
                <a:solidFill>
                  <a:srgbClr val="E0E0E0"/>
                </a:solidFill>
                <a:latin typeface="Segoe UI"/>
              </a:defRPr>
            </a:pPr>
            <a:r>
              <a:t>Working code matching plan</a:t>
            </a:r>
          </a:p>
          <a:p>
            <a:pPr>
              <a:spcAft>
                <a:spcPts val="400"/>
              </a:spcAft>
              <a:defRPr sz="600" b="0">
                <a:solidFill>
                  <a:srgbClr val="FFFFFF"/>
                </a:solidFill>
                <a:latin typeface="Segoe UI"/>
              </a:defRPr>
            </a:pPr>
          </a:p>
          <a:p>
            <a:pPr>
              <a:spcAft>
                <a:spcPts val="400"/>
              </a:spcAft>
              <a:defRPr sz="1100" b="1">
                <a:solidFill>
                  <a:srgbClr val="FF8C00"/>
                </a:solidFill>
                <a:latin typeface="Segoe UI"/>
              </a:defRPr>
            </a:pPr>
            <a:r>
              <a:t>Invocation</a:t>
            </a:r>
          </a:p>
          <a:p>
            <a:pPr>
              <a:spcAft>
                <a:spcPts val="400"/>
              </a:spcAft>
              <a:defRPr sz="1000" b="0">
                <a:solidFill>
                  <a:srgbClr val="909090"/>
                </a:solidFill>
                <a:latin typeface="Segoe UI"/>
              </a:defRPr>
            </a:pPr>
            <a:r>
              <a:t>/task-implement</a:t>
            </a:r>
          </a:p>
        </p:txBody>
      </p:sp>
      <p:sp>
        <p:nvSpPr>
          <p:cNvPr id="10" name="Rounded Rectangle 9"/>
          <p:cNvSpPr/>
          <p:nvPr/>
        </p:nvSpPr>
        <p:spPr>
          <a:xfrm>
            <a:off x="8961120" y="1371600"/>
            <a:ext cx="2651760" cy="45720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Review</a:t>
            </a:r>
          </a:p>
        </p:txBody>
      </p:sp>
      <p:sp>
        <p:nvSpPr>
          <p:cNvPr id="11" name="TextBox 10"/>
          <p:cNvSpPr txBox="1"/>
          <p:nvPr/>
        </p:nvSpPr>
        <p:spPr>
          <a:xfrm>
            <a:off x="9052560" y="1920240"/>
            <a:ext cx="2468880" cy="4114800"/>
          </a:xfrm>
          <a:prstGeom prst="rect">
            <a:avLst/>
          </a:prstGeom>
          <a:noFill/>
        </p:spPr>
        <p:txBody>
          <a:bodyPr wrap="square">
            <a:spAutoFit/>
          </a:bodyPr>
          <a:lstStyle/>
          <a:p>
            <a:pPr>
              <a:spcAft>
                <a:spcPts val="400"/>
              </a:spcAft>
              <a:defRPr sz="1100" b="1">
                <a:solidFill>
                  <a:srgbClr val="8864D8"/>
                </a:solidFill>
                <a:latin typeface="Segoe UI"/>
              </a:defRPr>
            </a:pPr>
            <a:r>
              <a:t>Purpose</a:t>
            </a:r>
          </a:p>
          <a:p>
            <a:pPr>
              <a:spcAft>
                <a:spcPts val="400"/>
              </a:spcAft>
              <a:defRPr sz="1000" b="0">
                <a:solidFill>
                  <a:srgbClr val="E0E0E0"/>
                </a:solidFill>
                <a:latin typeface="Segoe UI"/>
              </a:defRPr>
            </a:pPr>
            <a:r>
              <a:t>Validate the output</a:t>
            </a:r>
          </a:p>
          <a:p>
            <a:pPr>
              <a:spcAft>
                <a:spcPts val="400"/>
              </a:spcAft>
              <a:defRPr sz="600" b="0">
                <a:solidFill>
                  <a:srgbClr val="FFFFFF"/>
                </a:solidFill>
                <a:latin typeface="Segoe UI"/>
              </a:defRPr>
            </a:pPr>
          </a:p>
          <a:p>
            <a:pPr>
              <a:spcAft>
                <a:spcPts val="400"/>
              </a:spcAft>
              <a:defRPr sz="1100" b="1">
                <a:solidFill>
                  <a:srgbClr val="D13438"/>
                </a:solidFill>
                <a:latin typeface="Segoe UI"/>
              </a:defRPr>
            </a:pPr>
            <a:r>
              <a:t>Core Constraint</a:t>
            </a:r>
          </a:p>
          <a:p>
            <a:pPr>
              <a:spcAft>
                <a:spcPts val="400"/>
              </a:spcAft>
              <a:defRPr sz="1000" b="1">
                <a:solidFill>
                  <a:srgbClr val="FFFFFF"/>
                </a:solidFill>
                <a:latin typeface="Segoe UI"/>
              </a:defRPr>
            </a:pPr>
            <a:r>
              <a:t>CANNOT modify code — only report findings</a:t>
            </a:r>
          </a:p>
          <a:p>
            <a:pPr>
              <a:spcAft>
                <a:spcPts val="400"/>
              </a:spcAft>
              <a:defRPr sz="600" b="0">
                <a:solidFill>
                  <a:srgbClr val="FFFFFF"/>
                </a:solidFill>
                <a:latin typeface="Segoe UI"/>
              </a:defRPr>
            </a:pPr>
          </a:p>
          <a:p>
            <a:pPr>
              <a:spcAft>
                <a:spcPts val="400"/>
              </a:spcAft>
              <a:defRPr sz="1100" b="1">
                <a:solidFill>
                  <a:srgbClr val="8864D8"/>
                </a:solidFill>
                <a:latin typeface="Segoe UI"/>
              </a:defRPr>
            </a:pPr>
            <a:r>
              <a:t>Key Output</a:t>
            </a:r>
          </a:p>
          <a:p>
            <a:pPr>
              <a:spcAft>
                <a:spcPts val="400"/>
              </a:spcAft>
              <a:defRPr sz="1000" b="0">
                <a:solidFill>
                  <a:srgbClr val="E0E0E0"/>
                </a:solidFill>
                <a:latin typeface="Segoe UI"/>
              </a:defRPr>
            </a:pPr>
            <a:r>
              <a:t>8-dimension review report</a:t>
            </a:r>
          </a:p>
          <a:p>
            <a:pPr>
              <a:spcAft>
                <a:spcPts val="400"/>
              </a:spcAft>
              <a:defRPr sz="600" b="0">
                <a:solidFill>
                  <a:srgbClr val="FFFFFF"/>
                </a:solidFill>
                <a:latin typeface="Segoe UI"/>
              </a:defRPr>
            </a:pPr>
          </a:p>
          <a:p>
            <a:pPr>
              <a:spcAft>
                <a:spcPts val="400"/>
              </a:spcAft>
              <a:defRPr sz="1100" b="1">
                <a:solidFill>
                  <a:srgbClr val="8864D8"/>
                </a:solidFill>
                <a:latin typeface="Segoe UI"/>
              </a:defRPr>
            </a:pPr>
            <a:r>
              <a:t>Invocation</a:t>
            </a:r>
          </a:p>
          <a:p>
            <a:pPr>
              <a:spcAft>
                <a:spcPts val="400"/>
              </a:spcAft>
              <a:defRPr sz="1000" b="0">
                <a:solidFill>
                  <a:srgbClr val="909090"/>
                </a:solidFill>
                <a:latin typeface="Segoe UI"/>
              </a:defRPr>
            </a:pPr>
            <a:r>
              <a:t>/task-review</a:t>
            </a:r>
          </a:p>
        </p:txBody>
      </p:sp>
      <p:sp>
        <p:nvSpPr>
          <p:cNvPr id="12" name="TextBox 11"/>
          <p:cNvSpPr txBox="1"/>
          <p:nvPr/>
        </p:nvSpPr>
        <p:spPr>
          <a:xfrm>
            <a:off x="731520" y="5943600"/>
            <a:ext cx="10058400" cy="457200"/>
          </a:xfrm>
          <a:prstGeom prst="rect">
            <a:avLst/>
          </a:prstGeom>
          <a:noFill/>
        </p:spPr>
        <p:txBody>
          <a:bodyPr wrap="square">
            <a:spAutoFit/>
          </a:bodyPr>
          <a:lstStyle/>
          <a:p>
            <a:pPr algn="l">
              <a:defRPr sz="1200" b="1">
                <a:solidFill>
                  <a:srgbClr val="038E8E"/>
                </a:solidFill>
                <a:latin typeface="Segoe UI"/>
              </a:defRPr>
            </a:pPr>
            <a:r>
              <a:t>Best practice: Keep implementation to ~3 files per RPI cycle for manageable scope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defRPr sz="2800" b="1">
                <a:solidFill>
                  <a:srgbClr val="FFFFFF"/>
                </a:solidFill>
                <a:latin typeface="Segoe UI"/>
              </a:defRPr>
            </a:pPr>
            <a:r>
              <a:t>Quality Comparison + The /clear Rule</a:t>
            </a:r>
          </a:p>
        </p:txBody>
      </p:sp>
      <p:sp>
        <p:nvSpPr>
          <p:cNvPr id="3" name="Rectangle 2"/>
          <p:cNvSpPr/>
          <p:nvPr/>
        </p:nvSpPr>
        <p:spPr>
          <a:xfrm>
            <a:off x="731520" y="7772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097280"/>
            <a:ext cx="2743200" cy="32004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Traditional AI</a:t>
            </a:r>
          </a:p>
        </p:txBody>
      </p:sp>
      <p:sp>
        <p:nvSpPr>
          <p:cNvPr id="5" name="Rounded Rectangle 4"/>
          <p:cNvSpPr/>
          <p:nvPr/>
        </p:nvSpPr>
        <p:spPr>
          <a:xfrm>
            <a:off x="4297680" y="1097280"/>
            <a:ext cx="2743200" cy="320040"/>
          </a:xfrm>
          <a:prstGeom prst="round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Dimension</a:t>
            </a:r>
          </a:p>
        </p:txBody>
      </p:sp>
      <p:sp>
        <p:nvSpPr>
          <p:cNvPr id="6" name="Rounded Rectangle 5"/>
          <p:cNvSpPr/>
          <p:nvPr/>
        </p:nvSpPr>
        <p:spPr>
          <a:xfrm>
            <a:off x="7223760" y="1097280"/>
            <a:ext cx="3200400" cy="32004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RPI Approach</a:t>
            </a:r>
          </a:p>
        </p:txBody>
      </p:sp>
      <p:sp>
        <p:nvSpPr>
          <p:cNvPr id="7" name="TextBox 6"/>
          <p:cNvSpPr txBox="1"/>
          <p:nvPr/>
        </p:nvSpPr>
        <p:spPr>
          <a:xfrm>
            <a:off x="1371600" y="1463040"/>
            <a:ext cx="2743200" cy="347472"/>
          </a:xfrm>
          <a:prstGeom prst="rect">
            <a:avLst/>
          </a:prstGeom>
          <a:noFill/>
        </p:spPr>
        <p:txBody>
          <a:bodyPr wrap="square">
            <a:spAutoFit/>
          </a:bodyPr>
          <a:lstStyle/>
          <a:p>
            <a:pPr algn="l">
              <a:defRPr sz="1000" b="0">
                <a:solidFill>
                  <a:srgbClr val="D13438"/>
                </a:solidFill>
                <a:latin typeface="Segoe UI"/>
              </a:defRPr>
            </a:pPr>
            <a:r>
              <a:t>Invents plausible patterns</a:t>
            </a:r>
          </a:p>
        </p:txBody>
      </p:sp>
      <p:sp>
        <p:nvSpPr>
          <p:cNvPr id="8" name="TextBox 7"/>
          <p:cNvSpPr txBox="1"/>
          <p:nvPr/>
        </p:nvSpPr>
        <p:spPr>
          <a:xfrm>
            <a:off x="4297680" y="1463040"/>
            <a:ext cx="2743200" cy="347472"/>
          </a:xfrm>
          <a:prstGeom prst="rect">
            <a:avLst/>
          </a:prstGeom>
          <a:noFill/>
        </p:spPr>
        <p:txBody>
          <a:bodyPr wrap="square">
            <a:spAutoFit/>
          </a:bodyPr>
          <a:lstStyle/>
          <a:p>
            <a:pPr algn="ctr">
              <a:defRPr sz="1000" b="1">
                <a:solidFill>
                  <a:srgbClr val="FFFFFF"/>
                </a:solidFill>
                <a:latin typeface="Segoe UI"/>
              </a:defRPr>
            </a:pPr>
            <a:r>
              <a:t>Pattern matching</a:t>
            </a:r>
          </a:p>
        </p:txBody>
      </p:sp>
      <p:sp>
        <p:nvSpPr>
          <p:cNvPr id="9" name="TextBox 8"/>
          <p:cNvSpPr txBox="1"/>
          <p:nvPr/>
        </p:nvSpPr>
        <p:spPr>
          <a:xfrm>
            <a:off x="7223760" y="1463040"/>
            <a:ext cx="3200400" cy="347472"/>
          </a:xfrm>
          <a:prstGeom prst="rect">
            <a:avLst/>
          </a:prstGeom>
          <a:noFill/>
        </p:spPr>
        <p:txBody>
          <a:bodyPr wrap="square">
            <a:spAutoFit/>
          </a:bodyPr>
          <a:lstStyle/>
          <a:p>
            <a:pPr algn="l">
              <a:defRPr sz="1000" b="0">
                <a:solidFill>
                  <a:srgbClr val="107C10"/>
                </a:solidFill>
                <a:latin typeface="Segoe UI"/>
              </a:defRPr>
            </a:pPr>
            <a:r>
              <a:t>Finds actual codebase patterns</a:t>
            </a:r>
          </a:p>
        </p:txBody>
      </p:sp>
      <p:sp>
        <p:nvSpPr>
          <p:cNvPr id="10" name="TextBox 9"/>
          <p:cNvSpPr txBox="1"/>
          <p:nvPr/>
        </p:nvSpPr>
        <p:spPr>
          <a:xfrm>
            <a:off x="1371600" y="1847088"/>
            <a:ext cx="2743200" cy="347472"/>
          </a:xfrm>
          <a:prstGeom prst="rect">
            <a:avLst/>
          </a:prstGeom>
          <a:noFill/>
        </p:spPr>
        <p:txBody>
          <a:bodyPr wrap="square">
            <a:spAutoFit/>
          </a:bodyPr>
          <a:lstStyle/>
          <a:p>
            <a:pPr algn="l">
              <a:defRPr sz="1000" b="0">
                <a:solidFill>
                  <a:srgbClr val="D13438"/>
                </a:solidFill>
                <a:latin typeface="Segoe UI"/>
              </a:defRPr>
            </a:pPr>
            <a:r>
              <a:t>No audit trail</a:t>
            </a:r>
          </a:p>
        </p:txBody>
      </p:sp>
      <p:sp>
        <p:nvSpPr>
          <p:cNvPr id="11" name="TextBox 10"/>
          <p:cNvSpPr txBox="1"/>
          <p:nvPr/>
        </p:nvSpPr>
        <p:spPr>
          <a:xfrm>
            <a:off x="4297680" y="1847088"/>
            <a:ext cx="2743200" cy="347472"/>
          </a:xfrm>
          <a:prstGeom prst="rect">
            <a:avLst/>
          </a:prstGeom>
          <a:noFill/>
        </p:spPr>
        <p:txBody>
          <a:bodyPr wrap="square">
            <a:spAutoFit/>
          </a:bodyPr>
          <a:lstStyle/>
          <a:p>
            <a:pPr algn="ctr">
              <a:defRPr sz="1000" b="1">
                <a:solidFill>
                  <a:srgbClr val="FFFFFF"/>
                </a:solidFill>
                <a:latin typeface="Segoe UI"/>
              </a:defRPr>
            </a:pPr>
            <a:r>
              <a:t>Traceability</a:t>
            </a:r>
          </a:p>
        </p:txBody>
      </p:sp>
      <p:sp>
        <p:nvSpPr>
          <p:cNvPr id="12" name="TextBox 11"/>
          <p:cNvSpPr txBox="1"/>
          <p:nvPr/>
        </p:nvSpPr>
        <p:spPr>
          <a:xfrm>
            <a:off x="7223760" y="1847088"/>
            <a:ext cx="3200400" cy="347472"/>
          </a:xfrm>
          <a:prstGeom prst="rect">
            <a:avLst/>
          </a:prstGeom>
          <a:noFill/>
        </p:spPr>
        <p:txBody>
          <a:bodyPr wrap="square">
            <a:spAutoFit/>
          </a:bodyPr>
          <a:lstStyle/>
          <a:p>
            <a:pPr algn="l">
              <a:defRPr sz="1000" b="0">
                <a:solidFill>
                  <a:srgbClr val="107C10"/>
                </a:solidFill>
                <a:latin typeface="Segoe UI"/>
              </a:defRPr>
            </a:pPr>
            <a:r>
              <a:t>Research → Plan → Code</a:t>
            </a:r>
          </a:p>
        </p:txBody>
      </p:sp>
      <p:sp>
        <p:nvSpPr>
          <p:cNvPr id="13" name="TextBox 12"/>
          <p:cNvSpPr txBox="1"/>
          <p:nvPr/>
        </p:nvSpPr>
        <p:spPr>
          <a:xfrm>
            <a:off x="1371600" y="2231136"/>
            <a:ext cx="2743200" cy="347472"/>
          </a:xfrm>
          <a:prstGeom prst="rect">
            <a:avLst/>
          </a:prstGeom>
          <a:noFill/>
        </p:spPr>
        <p:txBody>
          <a:bodyPr wrap="square">
            <a:spAutoFit/>
          </a:bodyPr>
          <a:lstStyle/>
          <a:p>
            <a:pPr algn="l">
              <a:defRPr sz="1000" b="0">
                <a:solidFill>
                  <a:srgbClr val="D13438"/>
                </a:solidFill>
                <a:latin typeface="Segoe UI"/>
              </a:defRPr>
            </a:pPr>
            <a:r>
              <a:t>Lost between sessions</a:t>
            </a:r>
          </a:p>
        </p:txBody>
      </p:sp>
      <p:sp>
        <p:nvSpPr>
          <p:cNvPr id="14" name="TextBox 13"/>
          <p:cNvSpPr txBox="1"/>
          <p:nvPr/>
        </p:nvSpPr>
        <p:spPr>
          <a:xfrm>
            <a:off x="4297680" y="2231136"/>
            <a:ext cx="2743200" cy="347472"/>
          </a:xfrm>
          <a:prstGeom prst="rect">
            <a:avLst/>
          </a:prstGeom>
          <a:noFill/>
        </p:spPr>
        <p:txBody>
          <a:bodyPr wrap="square">
            <a:spAutoFit/>
          </a:bodyPr>
          <a:lstStyle/>
          <a:p>
            <a:pPr algn="ctr">
              <a:defRPr sz="1000" b="1">
                <a:solidFill>
                  <a:srgbClr val="FFFFFF"/>
                </a:solidFill>
                <a:latin typeface="Segoe UI"/>
              </a:defRPr>
            </a:pPr>
            <a:r>
              <a:t>Knowledge transfer</a:t>
            </a:r>
          </a:p>
        </p:txBody>
      </p:sp>
      <p:sp>
        <p:nvSpPr>
          <p:cNvPr id="15" name="TextBox 14"/>
          <p:cNvSpPr txBox="1"/>
          <p:nvPr/>
        </p:nvSpPr>
        <p:spPr>
          <a:xfrm>
            <a:off x="7223760" y="2231136"/>
            <a:ext cx="3200400" cy="347472"/>
          </a:xfrm>
          <a:prstGeom prst="rect">
            <a:avLst/>
          </a:prstGeom>
          <a:noFill/>
        </p:spPr>
        <p:txBody>
          <a:bodyPr wrap="square">
            <a:spAutoFit/>
          </a:bodyPr>
          <a:lstStyle/>
          <a:p>
            <a:pPr algn="l">
              <a:defRPr sz="1000" b="0">
                <a:solidFill>
                  <a:srgbClr val="107C10"/>
                </a:solidFill>
                <a:latin typeface="Segoe UI"/>
              </a:defRPr>
            </a:pPr>
            <a:r>
              <a:t>Preserved in artifacts</a:t>
            </a:r>
          </a:p>
        </p:txBody>
      </p:sp>
      <p:sp>
        <p:nvSpPr>
          <p:cNvPr id="16" name="TextBox 15"/>
          <p:cNvSpPr txBox="1"/>
          <p:nvPr/>
        </p:nvSpPr>
        <p:spPr>
          <a:xfrm>
            <a:off x="1371600" y="2615184"/>
            <a:ext cx="2743200" cy="347472"/>
          </a:xfrm>
          <a:prstGeom prst="rect">
            <a:avLst/>
          </a:prstGeom>
          <a:noFill/>
        </p:spPr>
        <p:txBody>
          <a:bodyPr wrap="square">
            <a:spAutoFit/>
          </a:bodyPr>
          <a:lstStyle/>
          <a:p>
            <a:pPr algn="l">
              <a:defRPr sz="1000" b="0">
                <a:solidFill>
                  <a:srgbClr val="D13438"/>
                </a:solidFill>
                <a:latin typeface="Segoe UI"/>
              </a:defRPr>
            </a:pPr>
            <a:r>
              <a:t>30-50% discarded</a:t>
            </a:r>
          </a:p>
        </p:txBody>
      </p:sp>
      <p:sp>
        <p:nvSpPr>
          <p:cNvPr id="17" name="TextBox 16"/>
          <p:cNvSpPr txBox="1"/>
          <p:nvPr/>
        </p:nvSpPr>
        <p:spPr>
          <a:xfrm>
            <a:off x="4297680" y="2615184"/>
            <a:ext cx="2743200" cy="347472"/>
          </a:xfrm>
          <a:prstGeom prst="rect">
            <a:avLst/>
          </a:prstGeom>
          <a:noFill/>
        </p:spPr>
        <p:txBody>
          <a:bodyPr wrap="square">
            <a:spAutoFit/>
          </a:bodyPr>
          <a:lstStyle/>
          <a:p>
            <a:pPr algn="ctr">
              <a:defRPr sz="1000" b="1">
                <a:solidFill>
                  <a:srgbClr val="FFFFFF"/>
                </a:solidFill>
                <a:latin typeface="Segoe UI"/>
              </a:defRPr>
            </a:pPr>
            <a:r>
              <a:t>Rework</a:t>
            </a:r>
          </a:p>
        </p:txBody>
      </p:sp>
      <p:sp>
        <p:nvSpPr>
          <p:cNvPr id="18" name="TextBox 17"/>
          <p:cNvSpPr txBox="1"/>
          <p:nvPr/>
        </p:nvSpPr>
        <p:spPr>
          <a:xfrm>
            <a:off x="7223760" y="2615184"/>
            <a:ext cx="3200400" cy="347472"/>
          </a:xfrm>
          <a:prstGeom prst="rect">
            <a:avLst/>
          </a:prstGeom>
          <a:noFill/>
        </p:spPr>
        <p:txBody>
          <a:bodyPr wrap="square">
            <a:spAutoFit/>
          </a:bodyPr>
          <a:lstStyle/>
          <a:p>
            <a:pPr algn="l">
              <a:defRPr sz="1000" b="0">
                <a:solidFill>
                  <a:srgbClr val="107C10"/>
                </a:solidFill>
                <a:latin typeface="Segoe UI"/>
              </a:defRPr>
            </a:pPr>
            <a:r>
              <a:t>&lt; 10% rework</a:t>
            </a:r>
          </a:p>
        </p:txBody>
      </p:sp>
      <p:sp>
        <p:nvSpPr>
          <p:cNvPr id="19" name="TextBox 18"/>
          <p:cNvSpPr txBox="1"/>
          <p:nvPr/>
        </p:nvSpPr>
        <p:spPr>
          <a:xfrm>
            <a:off x="1371600" y="2999232"/>
            <a:ext cx="2743200" cy="347472"/>
          </a:xfrm>
          <a:prstGeom prst="rect">
            <a:avLst/>
          </a:prstGeom>
          <a:noFill/>
        </p:spPr>
        <p:txBody>
          <a:bodyPr wrap="square">
            <a:spAutoFit/>
          </a:bodyPr>
          <a:lstStyle/>
          <a:p>
            <a:pPr algn="l">
              <a:defRPr sz="1000" b="0">
                <a:solidFill>
                  <a:srgbClr val="D13438"/>
                </a:solidFill>
                <a:latin typeface="Segoe UI"/>
              </a:defRPr>
            </a:pPr>
            <a:r>
              <a:t>Manual review only</a:t>
            </a:r>
          </a:p>
        </p:txBody>
      </p:sp>
      <p:sp>
        <p:nvSpPr>
          <p:cNvPr id="20" name="TextBox 19"/>
          <p:cNvSpPr txBox="1"/>
          <p:nvPr/>
        </p:nvSpPr>
        <p:spPr>
          <a:xfrm>
            <a:off x="4297680" y="2999232"/>
            <a:ext cx="2743200" cy="347472"/>
          </a:xfrm>
          <a:prstGeom prst="rect">
            <a:avLst/>
          </a:prstGeom>
          <a:noFill/>
        </p:spPr>
        <p:txBody>
          <a:bodyPr wrap="square">
            <a:spAutoFit/>
          </a:bodyPr>
          <a:lstStyle/>
          <a:p>
            <a:pPr algn="ctr">
              <a:defRPr sz="1000" b="1">
                <a:solidFill>
                  <a:srgbClr val="FFFFFF"/>
                </a:solidFill>
                <a:latin typeface="Segoe UI"/>
              </a:defRPr>
            </a:pPr>
            <a:r>
              <a:t>Validation</a:t>
            </a:r>
          </a:p>
        </p:txBody>
      </p:sp>
      <p:sp>
        <p:nvSpPr>
          <p:cNvPr id="21" name="TextBox 20"/>
          <p:cNvSpPr txBox="1"/>
          <p:nvPr/>
        </p:nvSpPr>
        <p:spPr>
          <a:xfrm>
            <a:off x="7223760" y="2999232"/>
            <a:ext cx="3200400" cy="347472"/>
          </a:xfrm>
          <a:prstGeom prst="rect">
            <a:avLst/>
          </a:prstGeom>
          <a:noFill/>
        </p:spPr>
        <p:txBody>
          <a:bodyPr wrap="square">
            <a:spAutoFit/>
          </a:bodyPr>
          <a:lstStyle/>
          <a:p>
            <a:pPr algn="l">
              <a:defRPr sz="1000" b="0">
                <a:solidFill>
                  <a:srgbClr val="107C10"/>
                </a:solidFill>
                <a:latin typeface="Segoe UI"/>
              </a:defRPr>
            </a:pPr>
            <a:r>
              <a:t>8-dimension structured review</a:t>
            </a:r>
          </a:p>
        </p:txBody>
      </p:sp>
      <p:sp>
        <p:nvSpPr>
          <p:cNvPr id="22" name="TextBox 21"/>
          <p:cNvSpPr txBox="1"/>
          <p:nvPr/>
        </p:nvSpPr>
        <p:spPr>
          <a:xfrm>
            <a:off x="731520" y="3566160"/>
            <a:ext cx="10058400" cy="457200"/>
          </a:xfrm>
          <a:prstGeom prst="rect">
            <a:avLst/>
          </a:prstGeom>
          <a:noFill/>
        </p:spPr>
        <p:txBody>
          <a:bodyPr wrap="square">
            <a:spAutoFit/>
          </a:bodyPr>
          <a:lstStyle/>
          <a:p>
            <a:pPr algn="l">
              <a:defRPr sz="1600" b="1">
                <a:solidFill>
                  <a:srgbClr val="FFFFFF"/>
                </a:solidFill>
                <a:latin typeface="Segoe UI"/>
              </a:defRPr>
            </a:pPr>
            <a:r>
              <a:t>The /clear Rule: Context Reset Between Phases</a:t>
            </a:r>
          </a:p>
        </p:txBody>
      </p:sp>
      <p:sp>
        <p:nvSpPr>
          <p:cNvPr id="23" name="Rounded Rectangle 22"/>
          <p:cNvSpPr/>
          <p:nvPr/>
        </p:nvSpPr>
        <p:spPr>
          <a:xfrm>
            <a:off x="731520" y="4114800"/>
            <a:ext cx="1280160" cy="4114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Research</a:t>
            </a:r>
          </a:p>
        </p:txBody>
      </p:sp>
      <p:cxnSp>
        <p:nvCxnSpPr>
          <p:cNvPr id="24" name="Connector 23"/>
          <p:cNvCxnSpPr/>
          <p:nvPr/>
        </p:nvCxnSpPr>
        <p:spPr>
          <a:xfrm>
            <a:off x="2011680" y="4315968"/>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2286000" y="4114800"/>
            <a:ext cx="914400" cy="411480"/>
          </a:xfrm>
          <a:prstGeom prst="ellipse">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/clear</a:t>
            </a:r>
          </a:p>
        </p:txBody>
      </p:sp>
      <p:cxnSp>
        <p:nvCxnSpPr>
          <p:cNvPr id="26" name="Connector 25"/>
          <p:cNvCxnSpPr/>
          <p:nvPr/>
        </p:nvCxnSpPr>
        <p:spPr>
          <a:xfrm>
            <a:off x="3200400" y="4315968"/>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840480" y="4114800"/>
            <a:ext cx="1280160" cy="4114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Plan</a:t>
            </a:r>
          </a:p>
        </p:txBody>
      </p:sp>
      <p:cxnSp>
        <p:nvCxnSpPr>
          <p:cNvPr id="28" name="Connector 27"/>
          <p:cNvCxnSpPr/>
          <p:nvPr/>
        </p:nvCxnSpPr>
        <p:spPr>
          <a:xfrm>
            <a:off x="5120640" y="4315968"/>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5394959" y="4114800"/>
            <a:ext cx="914400" cy="411480"/>
          </a:xfrm>
          <a:prstGeom prst="ellipse">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/clear</a:t>
            </a:r>
          </a:p>
        </p:txBody>
      </p:sp>
      <p:cxnSp>
        <p:nvCxnSpPr>
          <p:cNvPr id="30" name="Connector 29"/>
          <p:cNvCxnSpPr/>
          <p:nvPr/>
        </p:nvCxnSpPr>
        <p:spPr>
          <a:xfrm>
            <a:off x="6309359" y="4315968"/>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949440" y="4114800"/>
            <a:ext cx="1280160" cy="4114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Implement</a:t>
            </a:r>
          </a:p>
        </p:txBody>
      </p:sp>
      <p:cxnSp>
        <p:nvCxnSpPr>
          <p:cNvPr id="32" name="Connector 31"/>
          <p:cNvCxnSpPr/>
          <p:nvPr/>
        </p:nvCxnSpPr>
        <p:spPr>
          <a:xfrm>
            <a:off x="8229600" y="4315968"/>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503920" y="4114800"/>
            <a:ext cx="914400" cy="411480"/>
          </a:xfrm>
          <a:prstGeom prst="ellipse">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/clear</a:t>
            </a:r>
          </a:p>
        </p:txBody>
      </p:sp>
      <p:cxnSp>
        <p:nvCxnSpPr>
          <p:cNvPr id="34" name="Connector 33"/>
          <p:cNvCxnSpPr/>
          <p:nvPr/>
        </p:nvCxnSpPr>
        <p:spPr>
          <a:xfrm>
            <a:off x="9418320" y="4315968"/>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0058400" y="4114800"/>
            <a:ext cx="1280160" cy="41148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Review</a:t>
            </a:r>
          </a:p>
        </p:txBody>
      </p:sp>
      <p:sp>
        <p:nvSpPr>
          <p:cNvPr id="36" name="TextBox 35"/>
          <p:cNvSpPr txBox="1"/>
          <p:nvPr/>
        </p:nvSpPr>
        <p:spPr>
          <a:xfrm>
            <a:off x="1371600" y="4937760"/>
            <a:ext cx="9144000" cy="1097280"/>
          </a:xfrm>
          <a:prstGeom prst="rect">
            <a:avLst/>
          </a:prstGeom>
          <a:noFill/>
        </p:spPr>
        <p:txBody>
          <a:bodyPr wrap="square">
            <a:spAutoFit/>
          </a:bodyPr>
          <a:lstStyle/>
          <a:p>
            <a:pPr>
              <a:spcAft>
                <a:spcPts val="400"/>
              </a:spcAft>
              <a:defRPr sz="600" b="0">
                <a:solidFill>
                  <a:srgbClr val="FFFFFF"/>
                </a:solidFill>
                <a:latin typeface="Segoe UI"/>
              </a:defRPr>
            </a:pPr>
          </a:p>
          <a:p>
            <a:pPr>
              <a:spcAft>
                <a:spcPts val="400"/>
              </a:spcAft>
              <a:defRPr sz="1500" b="1">
                <a:solidFill>
                  <a:srgbClr val="FFFFFF"/>
                </a:solidFill>
                <a:latin typeface="Segoe UI"/>
              </a:defRPr>
            </a:pPr>
            <a:r>
              <a:t>Stop asking AI: "Write this code."</a:t>
            </a:r>
          </a:p>
          <a:p>
            <a:pPr>
              <a:spcAft>
                <a:spcPts val="400"/>
              </a:spcAft>
              <a:defRPr sz="1500" b="1">
                <a:solidFill>
                  <a:srgbClr val="0078D4"/>
                </a:solidFill>
                <a:latin typeface="Segoe UI"/>
              </a:defRPr>
            </a:pPr>
            <a:r>
              <a:t>Start asking: "Help me research, plan, then implement with evidence."</a:t>
            </a:r>
          </a:p>
        </p:txBody>
      </p:sp>
      <p:sp>
        <p:nvSpPr>
          <p:cNvPr id="37" name="TextBox 36"/>
          <p:cNvSpPr txBox="1"/>
          <p:nvPr/>
        </p:nvSpPr>
        <p:spPr>
          <a:xfrm>
            <a:off x="1371600" y="5943600"/>
            <a:ext cx="9144000" cy="457200"/>
          </a:xfrm>
          <a:prstGeom prst="rect">
            <a:avLst/>
          </a:prstGeom>
          <a:noFill/>
        </p:spPr>
        <p:txBody>
          <a:bodyPr wrap="square">
            <a:spAutoFit/>
          </a:bodyPr>
          <a:lstStyle/>
          <a:p>
            <a:pPr algn="ctr">
              <a:defRPr sz="1200" b="0">
                <a:solidFill>
                  <a:srgbClr val="909090"/>
                </a:solidFill>
                <a:latin typeface="Segoe UI"/>
              </a:defRPr>
            </a:pPr>
            <a:r>
              <a:t>Context clearing prevents mode contamination — each phase gets a clean start.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Six Custom Chat Modes</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4572000" cy="365760"/>
          </a:xfrm>
          <a:prstGeom prst="rect">
            <a:avLst/>
          </a:prstGeom>
          <a:noFill/>
        </p:spPr>
        <p:txBody>
          <a:bodyPr wrap="square">
            <a:spAutoFit/>
          </a:bodyPr>
          <a:lstStyle/>
          <a:p>
            <a:pPr algn="l">
              <a:defRPr sz="1600" b="1">
                <a:solidFill>
                  <a:srgbClr val="0078D4"/>
                </a:solidFill>
                <a:latin typeface="Segoe UI"/>
              </a:defRPr>
            </a:pPr>
            <a:r>
              <a:t>RPI Cycle</a:t>
            </a:r>
          </a:p>
        </p:txBody>
      </p:sp>
      <p:sp>
        <p:nvSpPr>
          <p:cNvPr id="5" name="Rounded Rectangle 4"/>
          <p:cNvSpPr/>
          <p:nvPr/>
        </p:nvSpPr>
        <p:spPr>
          <a:xfrm>
            <a:off x="731520" y="1828800"/>
            <a:ext cx="2286000" cy="6400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Researcher</a:t>
            </a:r>
          </a:p>
        </p:txBody>
      </p:sp>
      <p:sp>
        <p:nvSpPr>
          <p:cNvPr id="6" name="TextBox 5"/>
          <p:cNvSpPr txBox="1"/>
          <p:nvPr/>
        </p:nvSpPr>
        <p:spPr>
          <a:xfrm>
            <a:off x="3200400" y="1828800"/>
            <a:ext cx="1371600" cy="320040"/>
          </a:xfrm>
          <a:prstGeom prst="rect">
            <a:avLst/>
          </a:prstGeom>
          <a:noFill/>
        </p:spPr>
        <p:txBody>
          <a:bodyPr wrap="square">
            <a:spAutoFit/>
          </a:bodyPr>
          <a:lstStyle/>
          <a:p>
            <a:pPr algn="l">
              <a:defRPr sz="1100" b="0">
                <a:solidFill>
                  <a:srgbClr val="0078D4"/>
                </a:solidFill>
                <a:latin typeface="Segoe UI"/>
              </a:defRPr>
            </a:pPr>
            <a:r>
              <a:t>/task-research</a:t>
            </a:r>
          </a:p>
        </p:txBody>
      </p:sp>
      <p:sp>
        <p:nvSpPr>
          <p:cNvPr id="7" name="TextBox 6"/>
          <p:cNvSpPr txBox="1"/>
          <p:nvPr/>
        </p:nvSpPr>
        <p:spPr>
          <a:xfrm>
            <a:off x="3200400" y="2148840"/>
            <a:ext cx="2743200" cy="320040"/>
          </a:xfrm>
          <a:prstGeom prst="rect">
            <a:avLst/>
          </a:prstGeom>
          <a:noFill/>
        </p:spPr>
        <p:txBody>
          <a:bodyPr wrap="square">
            <a:spAutoFit/>
          </a:bodyPr>
          <a:lstStyle/>
          <a:p>
            <a:pPr algn="l">
              <a:defRPr sz="1000" b="0">
                <a:solidFill>
                  <a:srgbClr val="D13438"/>
                </a:solidFill>
                <a:latin typeface="Segoe UI"/>
              </a:defRPr>
            </a:pPr>
            <a:r>
              <a:t>Constraint: Cannot implement</a:t>
            </a:r>
          </a:p>
        </p:txBody>
      </p:sp>
      <p:cxnSp>
        <p:nvCxnSpPr>
          <p:cNvPr id="8" name="Connector 7"/>
          <p:cNvCxnSpPr/>
          <p:nvPr/>
        </p:nvCxnSpPr>
        <p:spPr>
          <a:xfrm>
            <a:off x="1828800" y="2514600"/>
            <a:ext cx="0" cy="137160"/>
          </a:xfrm>
          <a:prstGeom prst="line">
            <a:avLst/>
          </a:prstGeom>
          <a:ln w="12700">
            <a:solidFill>
              <a:srgbClr val="90909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2697480"/>
            <a:ext cx="2286000" cy="6400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Planner</a:t>
            </a:r>
          </a:p>
        </p:txBody>
      </p:sp>
      <p:sp>
        <p:nvSpPr>
          <p:cNvPr id="10" name="TextBox 9"/>
          <p:cNvSpPr txBox="1"/>
          <p:nvPr/>
        </p:nvSpPr>
        <p:spPr>
          <a:xfrm>
            <a:off x="3200400" y="2697480"/>
            <a:ext cx="1371600" cy="320040"/>
          </a:xfrm>
          <a:prstGeom prst="rect">
            <a:avLst/>
          </a:prstGeom>
          <a:noFill/>
        </p:spPr>
        <p:txBody>
          <a:bodyPr wrap="square">
            <a:spAutoFit/>
          </a:bodyPr>
          <a:lstStyle/>
          <a:p>
            <a:pPr algn="l">
              <a:defRPr sz="1100" b="0">
                <a:solidFill>
                  <a:srgbClr val="107C10"/>
                </a:solidFill>
                <a:latin typeface="Segoe UI"/>
              </a:defRPr>
            </a:pPr>
            <a:r>
              <a:t>/task-plan</a:t>
            </a:r>
          </a:p>
        </p:txBody>
      </p:sp>
      <p:sp>
        <p:nvSpPr>
          <p:cNvPr id="11" name="TextBox 10"/>
          <p:cNvSpPr txBox="1"/>
          <p:nvPr/>
        </p:nvSpPr>
        <p:spPr>
          <a:xfrm>
            <a:off x="3200400" y="3017520"/>
            <a:ext cx="2743200" cy="320040"/>
          </a:xfrm>
          <a:prstGeom prst="rect">
            <a:avLst/>
          </a:prstGeom>
          <a:noFill/>
        </p:spPr>
        <p:txBody>
          <a:bodyPr wrap="square">
            <a:spAutoFit/>
          </a:bodyPr>
          <a:lstStyle/>
          <a:p>
            <a:pPr algn="l">
              <a:defRPr sz="1000" b="0">
                <a:solidFill>
                  <a:srgbClr val="D13438"/>
                </a:solidFill>
                <a:latin typeface="Segoe UI"/>
              </a:defRPr>
            </a:pPr>
            <a:r>
              <a:t>Constraint: Cannot implement</a:t>
            </a:r>
          </a:p>
        </p:txBody>
      </p:sp>
      <p:cxnSp>
        <p:nvCxnSpPr>
          <p:cNvPr id="12" name="Connector 11"/>
          <p:cNvCxnSpPr/>
          <p:nvPr/>
        </p:nvCxnSpPr>
        <p:spPr>
          <a:xfrm>
            <a:off x="1828800" y="3383280"/>
            <a:ext cx="0" cy="137160"/>
          </a:xfrm>
          <a:prstGeom prst="line">
            <a:avLst/>
          </a:prstGeom>
          <a:ln w="12700">
            <a:solidFill>
              <a:srgbClr val="90909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3566160"/>
            <a:ext cx="2286000" cy="6400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Implementor</a:t>
            </a:r>
          </a:p>
        </p:txBody>
      </p:sp>
      <p:sp>
        <p:nvSpPr>
          <p:cNvPr id="14" name="TextBox 13"/>
          <p:cNvSpPr txBox="1"/>
          <p:nvPr/>
        </p:nvSpPr>
        <p:spPr>
          <a:xfrm>
            <a:off x="3200400" y="3566160"/>
            <a:ext cx="1371600" cy="320040"/>
          </a:xfrm>
          <a:prstGeom prst="rect">
            <a:avLst/>
          </a:prstGeom>
          <a:noFill/>
        </p:spPr>
        <p:txBody>
          <a:bodyPr wrap="square">
            <a:spAutoFit/>
          </a:bodyPr>
          <a:lstStyle/>
          <a:p>
            <a:pPr algn="l">
              <a:defRPr sz="1100" b="0">
                <a:solidFill>
                  <a:srgbClr val="FF8C00"/>
                </a:solidFill>
                <a:latin typeface="Segoe UI"/>
              </a:defRPr>
            </a:pPr>
            <a:r>
              <a:t>/task-implement</a:t>
            </a:r>
          </a:p>
        </p:txBody>
      </p:sp>
      <p:sp>
        <p:nvSpPr>
          <p:cNvPr id="15" name="TextBox 14"/>
          <p:cNvSpPr txBox="1"/>
          <p:nvPr/>
        </p:nvSpPr>
        <p:spPr>
          <a:xfrm>
            <a:off x="3200400" y="3886200"/>
            <a:ext cx="2743200" cy="320040"/>
          </a:xfrm>
          <a:prstGeom prst="rect">
            <a:avLst/>
          </a:prstGeom>
          <a:noFill/>
        </p:spPr>
        <p:txBody>
          <a:bodyPr wrap="square">
            <a:spAutoFit/>
          </a:bodyPr>
          <a:lstStyle/>
          <a:p>
            <a:pPr algn="l">
              <a:defRPr sz="1000" b="0">
                <a:solidFill>
                  <a:srgbClr val="D13438"/>
                </a:solidFill>
                <a:latin typeface="Segoe UI"/>
              </a:defRPr>
            </a:pPr>
            <a:r>
              <a:t>Constraint: Follows plan only</a:t>
            </a:r>
          </a:p>
        </p:txBody>
      </p:sp>
      <p:cxnSp>
        <p:nvCxnSpPr>
          <p:cNvPr id="16" name="Connector 15"/>
          <p:cNvCxnSpPr/>
          <p:nvPr/>
        </p:nvCxnSpPr>
        <p:spPr>
          <a:xfrm>
            <a:off x="1828800" y="4251960"/>
            <a:ext cx="0" cy="137160"/>
          </a:xfrm>
          <a:prstGeom prst="line">
            <a:avLst/>
          </a:prstGeom>
          <a:ln w="12700">
            <a:solidFill>
              <a:srgbClr val="90909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1520" y="4434840"/>
            <a:ext cx="2286000" cy="64008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Task Reviewer</a:t>
            </a:r>
          </a:p>
        </p:txBody>
      </p:sp>
      <p:sp>
        <p:nvSpPr>
          <p:cNvPr id="18" name="TextBox 17"/>
          <p:cNvSpPr txBox="1"/>
          <p:nvPr/>
        </p:nvSpPr>
        <p:spPr>
          <a:xfrm>
            <a:off x="3200400" y="4434840"/>
            <a:ext cx="1371600" cy="320040"/>
          </a:xfrm>
          <a:prstGeom prst="rect">
            <a:avLst/>
          </a:prstGeom>
          <a:noFill/>
        </p:spPr>
        <p:txBody>
          <a:bodyPr wrap="square">
            <a:spAutoFit/>
          </a:bodyPr>
          <a:lstStyle/>
          <a:p>
            <a:pPr algn="l">
              <a:defRPr sz="1100" b="0">
                <a:solidFill>
                  <a:srgbClr val="8864D8"/>
                </a:solidFill>
                <a:latin typeface="Segoe UI"/>
              </a:defRPr>
            </a:pPr>
            <a:r>
              <a:t>/task-review</a:t>
            </a:r>
          </a:p>
        </p:txBody>
      </p:sp>
      <p:sp>
        <p:nvSpPr>
          <p:cNvPr id="19" name="TextBox 18"/>
          <p:cNvSpPr txBox="1"/>
          <p:nvPr/>
        </p:nvSpPr>
        <p:spPr>
          <a:xfrm>
            <a:off x="3200400" y="4754880"/>
            <a:ext cx="2743200" cy="320040"/>
          </a:xfrm>
          <a:prstGeom prst="rect">
            <a:avLst/>
          </a:prstGeom>
          <a:noFill/>
        </p:spPr>
        <p:txBody>
          <a:bodyPr wrap="square">
            <a:spAutoFit/>
          </a:bodyPr>
          <a:lstStyle/>
          <a:p>
            <a:pPr algn="l">
              <a:defRPr sz="1000" b="0">
                <a:solidFill>
                  <a:srgbClr val="D13438"/>
                </a:solidFill>
                <a:latin typeface="Segoe UI"/>
              </a:defRPr>
            </a:pPr>
            <a:r>
              <a:t>Constraint: Cannot modify code</a:t>
            </a:r>
          </a:p>
        </p:txBody>
      </p:sp>
      <p:sp>
        <p:nvSpPr>
          <p:cNvPr id="20" name="TextBox 19"/>
          <p:cNvSpPr txBox="1"/>
          <p:nvPr/>
        </p:nvSpPr>
        <p:spPr>
          <a:xfrm>
            <a:off x="6858000" y="1371600"/>
            <a:ext cx="4572000" cy="365760"/>
          </a:xfrm>
          <a:prstGeom prst="rect">
            <a:avLst/>
          </a:prstGeom>
          <a:noFill/>
        </p:spPr>
        <p:txBody>
          <a:bodyPr wrap="square">
            <a:spAutoFit/>
          </a:bodyPr>
          <a:lstStyle/>
          <a:p>
            <a:pPr algn="l">
              <a:defRPr sz="1600" b="1">
                <a:solidFill>
                  <a:srgbClr val="038E8E"/>
                </a:solidFill>
                <a:latin typeface="Segoe UI"/>
              </a:defRPr>
            </a:pPr>
            <a:r>
              <a:t>Complementary</a:t>
            </a:r>
          </a:p>
        </p:txBody>
      </p:sp>
      <p:sp>
        <p:nvSpPr>
          <p:cNvPr id="21" name="Rounded Rectangle 20"/>
          <p:cNvSpPr/>
          <p:nvPr/>
        </p:nvSpPr>
        <p:spPr>
          <a:xfrm>
            <a:off x="6858000" y="1828800"/>
            <a:ext cx="2286000" cy="640080"/>
          </a:xfrm>
          <a:prstGeom prst="round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Prompt Builder</a:t>
            </a:r>
          </a:p>
        </p:txBody>
      </p:sp>
      <p:sp>
        <p:nvSpPr>
          <p:cNvPr id="22" name="TextBox 21"/>
          <p:cNvSpPr txBox="1"/>
          <p:nvPr/>
        </p:nvSpPr>
        <p:spPr>
          <a:xfrm>
            <a:off x="9326880" y="1828800"/>
            <a:ext cx="2286000" cy="320040"/>
          </a:xfrm>
          <a:prstGeom prst="rect">
            <a:avLst/>
          </a:prstGeom>
          <a:noFill/>
        </p:spPr>
        <p:txBody>
          <a:bodyPr wrap="square">
            <a:spAutoFit/>
          </a:bodyPr>
          <a:lstStyle/>
          <a:p>
            <a:pPr algn="l">
              <a:defRPr sz="1100" b="0">
                <a:solidFill>
                  <a:srgbClr val="038E8E"/>
                </a:solidFill>
                <a:latin typeface="Segoe UI"/>
              </a:defRPr>
            </a:pPr>
            <a:r>
              <a:t>/prompt-build</a:t>
            </a:r>
          </a:p>
        </p:txBody>
      </p:sp>
      <p:sp>
        <p:nvSpPr>
          <p:cNvPr id="23" name="TextBox 22"/>
          <p:cNvSpPr txBox="1"/>
          <p:nvPr/>
        </p:nvSpPr>
        <p:spPr>
          <a:xfrm>
            <a:off x="9326880" y="2148840"/>
            <a:ext cx="2743200" cy="320040"/>
          </a:xfrm>
          <a:prstGeom prst="rect">
            <a:avLst/>
          </a:prstGeom>
          <a:noFill/>
        </p:spPr>
        <p:txBody>
          <a:bodyPr wrap="square">
            <a:spAutoFit/>
          </a:bodyPr>
          <a:lstStyle/>
          <a:p>
            <a:pPr algn="l">
              <a:defRPr sz="1000" b="0">
                <a:solidFill>
                  <a:srgbClr val="D13438"/>
                </a:solidFill>
                <a:latin typeface="Segoe UI"/>
              </a:defRPr>
            </a:pPr>
            <a:r>
              <a:t>Constraint: Orchestrates subagents</a:t>
            </a:r>
          </a:p>
        </p:txBody>
      </p:sp>
      <p:sp>
        <p:nvSpPr>
          <p:cNvPr id="24" name="Rounded Rectangle 23"/>
          <p:cNvSpPr/>
          <p:nvPr/>
        </p:nvSpPr>
        <p:spPr>
          <a:xfrm>
            <a:off x="6858000" y="2926080"/>
            <a:ext cx="2286000" cy="64008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Segoe UI"/>
              </a:defRPr>
            </a:pPr>
            <a:r>
              <a:t>PR Review</a:t>
            </a:r>
          </a:p>
        </p:txBody>
      </p:sp>
      <p:sp>
        <p:nvSpPr>
          <p:cNvPr id="25" name="TextBox 24"/>
          <p:cNvSpPr txBox="1"/>
          <p:nvPr/>
        </p:nvSpPr>
        <p:spPr>
          <a:xfrm>
            <a:off x="9326880" y="2926080"/>
            <a:ext cx="2286000" cy="320040"/>
          </a:xfrm>
          <a:prstGeom prst="rect">
            <a:avLst/>
          </a:prstGeom>
          <a:noFill/>
        </p:spPr>
        <p:txBody>
          <a:bodyPr wrap="square">
            <a:spAutoFit/>
          </a:bodyPr>
          <a:lstStyle/>
          <a:p>
            <a:pPr algn="l">
              <a:defRPr sz="1100" b="0">
                <a:solidFill>
                  <a:srgbClr val="8864D8"/>
                </a:solidFill>
                <a:latin typeface="Segoe UI"/>
              </a:defRPr>
            </a:pPr>
            <a:r>
              <a:t>Agent picker</a:t>
            </a:r>
          </a:p>
        </p:txBody>
      </p:sp>
      <p:sp>
        <p:nvSpPr>
          <p:cNvPr id="26" name="TextBox 25"/>
          <p:cNvSpPr txBox="1"/>
          <p:nvPr/>
        </p:nvSpPr>
        <p:spPr>
          <a:xfrm>
            <a:off x="9326880" y="3246120"/>
            <a:ext cx="2743200" cy="320040"/>
          </a:xfrm>
          <a:prstGeom prst="rect">
            <a:avLst/>
          </a:prstGeom>
          <a:noFill/>
        </p:spPr>
        <p:txBody>
          <a:bodyPr wrap="square">
            <a:spAutoFit/>
          </a:bodyPr>
          <a:lstStyle/>
          <a:p>
            <a:pPr algn="l">
              <a:defRPr sz="1000" b="0">
                <a:solidFill>
                  <a:srgbClr val="D13438"/>
                </a:solidFill>
                <a:latin typeface="Segoe UI"/>
              </a:defRPr>
            </a:pPr>
            <a:r>
              <a:t>Constraint: Never modifies code</a:t>
            </a:r>
          </a:p>
        </p:txBody>
      </p:sp>
      <p:sp>
        <p:nvSpPr>
          <p:cNvPr id="27" name="TextBox 26"/>
          <p:cNvSpPr txBox="1"/>
          <p:nvPr/>
        </p:nvSpPr>
        <p:spPr>
          <a:xfrm>
            <a:off x="731520" y="5303520"/>
            <a:ext cx="10058400" cy="914400"/>
          </a:xfrm>
          <a:prstGeom prst="rect">
            <a:avLst/>
          </a:prstGeom>
          <a:noFill/>
        </p:spPr>
        <p:txBody>
          <a:bodyPr wrap="square">
            <a:spAutoFit/>
          </a:bodyPr>
          <a:lstStyle/>
          <a:p>
            <a:pPr>
              <a:spcAft>
                <a:spcPts val="400"/>
              </a:spcAft>
              <a:defRPr sz="1300" b="0">
                <a:solidFill>
                  <a:srgbClr val="909090"/>
                </a:solidFill>
                <a:latin typeface="Segoe UI"/>
              </a:defRPr>
            </a:pPr>
            <a:r>
              <a:t>Every mode enforces specific constraints — AI cannot bypass its designated role</a:t>
            </a:r>
          </a:p>
          <a:p>
            <a:pPr>
              <a:spcAft>
                <a:spcPts val="400"/>
              </a:spcAft>
              <a:defRPr sz="600" b="0">
                <a:solidFill>
                  <a:srgbClr val="FFFFFF"/>
                </a:solidFill>
                <a:latin typeface="Segoe UI"/>
              </a:defRPr>
            </a:pPr>
          </a:p>
          <a:p>
            <a:pPr>
              <a:spcAft>
                <a:spcPts val="400"/>
              </a:spcAft>
              <a:defRPr sz="1100" b="0">
                <a:solidFill>
                  <a:srgbClr val="038E8E"/>
                </a:solidFill>
                <a:latin typeface="Segoe UI"/>
              </a:defRPr>
            </a:pPr>
            <a:r>
              <a:t>Advanced: rpi-agent orchestrates all 4 phases in a single session for familiar tasks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1371600"/>
            <a:ext cx="10058400" cy="914400"/>
          </a:xfrm>
          <a:prstGeom prst="rect">
            <a:avLst/>
          </a:prstGeom>
          <a:noFill/>
        </p:spPr>
        <p:txBody>
          <a:bodyPr wrap="square">
            <a:spAutoFit/>
          </a:bodyPr>
          <a:lstStyle/>
          <a:p>
            <a:pPr algn="l">
              <a:defRPr sz="4000" b="1">
                <a:solidFill>
                  <a:srgbClr val="FFFFFF"/>
                </a:solidFill>
                <a:latin typeface="Segoe UI"/>
              </a:defRPr>
            </a:pPr>
            <a:r>
              <a:t>Let's See It in Action</a:t>
            </a:r>
          </a:p>
        </p:txBody>
      </p:sp>
      <p:sp>
        <p:nvSpPr>
          <p:cNvPr id="3" name="Rectangle 2"/>
          <p:cNvSpPr/>
          <p:nvPr/>
        </p:nvSpPr>
        <p:spPr>
          <a:xfrm>
            <a:off x="731520" y="2103120"/>
            <a:ext cx="731520" cy="508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468880"/>
            <a:ext cx="10058400" cy="548640"/>
          </a:xfrm>
          <a:prstGeom prst="rect">
            <a:avLst/>
          </a:prstGeom>
          <a:noFill/>
        </p:spPr>
        <p:txBody>
          <a:bodyPr wrap="square">
            <a:spAutoFit/>
          </a:bodyPr>
          <a:lstStyle/>
          <a:p>
            <a:pPr algn="l">
              <a:defRPr sz="2000" b="0">
                <a:solidFill>
                  <a:srgbClr val="E0E0E0"/>
                </a:solidFill>
                <a:latin typeface="Segoe UI"/>
              </a:defRPr>
            </a:pPr>
            <a:r>
              <a:t>Live Demo: RPI Workflow — Researching and Planning a Feature</a:t>
            </a:r>
          </a:p>
        </p:txBody>
      </p:sp>
      <p:sp>
        <p:nvSpPr>
          <p:cNvPr id="5" name="TextBox 4"/>
          <p:cNvSpPr txBox="1"/>
          <p:nvPr/>
        </p:nvSpPr>
        <p:spPr>
          <a:xfrm>
            <a:off x="731520" y="3291840"/>
            <a:ext cx="9144000" cy="365760"/>
          </a:xfrm>
          <a:prstGeom prst="rect">
            <a:avLst/>
          </a:prstGeom>
          <a:noFill/>
        </p:spPr>
        <p:txBody>
          <a:bodyPr wrap="square">
            <a:spAutoFit/>
          </a:bodyPr>
          <a:lstStyle/>
          <a:p>
            <a:pPr algn="l">
              <a:defRPr sz="1600" b="1">
                <a:solidFill>
                  <a:srgbClr val="FFFFFF"/>
                </a:solidFill>
                <a:latin typeface="Segoe UI"/>
              </a:defRPr>
            </a:pPr>
            <a:r>
              <a:t>Watch for:</a:t>
            </a:r>
          </a:p>
        </p:txBody>
      </p:sp>
      <p:sp>
        <p:nvSpPr>
          <p:cNvPr id="6" name="Rounded Rectangle 5"/>
          <p:cNvSpPr/>
          <p:nvPr/>
        </p:nvSpPr>
        <p:spPr>
          <a:xfrm>
            <a:off x="914400" y="3749039"/>
            <a:ext cx="457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1.</a:t>
            </a:r>
          </a:p>
        </p:txBody>
      </p:sp>
      <p:sp>
        <p:nvSpPr>
          <p:cNvPr id="7" name="TextBox 6"/>
          <p:cNvSpPr txBox="1"/>
          <p:nvPr/>
        </p:nvSpPr>
        <p:spPr>
          <a:xfrm>
            <a:off x="1554480" y="3749039"/>
            <a:ext cx="9144000" cy="365760"/>
          </a:xfrm>
          <a:prstGeom prst="rect">
            <a:avLst/>
          </a:prstGeom>
          <a:noFill/>
        </p:spPr>
        <p:txBody>
          <a:bodyPr wrap="square">
            <a:spAutoFit/>
          </a:bodyPr>
          <a:lstStyle/>
          <a:p>
            <a:pPr algn="l">
              <a:defRPr sz="1400" b="0">
                <a:solidFill>
                  <a:srgbClr val="E0E0E0"/>
                </a:solidFill>
                <a:latin typeface="Segoe UI"/>
              </a:defRPr>
            </a:pPr>
            <a:r>
              <a:t>How the researcher finds existing patterns (not invents code)</a:t>
            </a:r>
          </a:p>
        </p:txBody>
      </p:sp>
      <p:sp>
        <p:nvSpPr>
          <p:cNvPr id="8" name="Rounded Rectangle 7"/>
          <p:cNvSpPr/>
          <p:nvPr/>
        </p:nvSpPr>
        <p:spPr>
          <a:xfrm>
            <a:off x="914400" y="4206240"/>
            <a:ext cx="457200" cy="36576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2.</a:t>
            </a:r>
          </a:p>
        </p:txBody>
      </p:sp>
      <p:sp>
        <p:nvSpPr>
          <p:cNvPr id="9" name="TextBox 8"/>
          <p:cNvSpPr txBox="1"/>
          <p:nvPr/>
        </p:nvSpPr>
        <p:spPr>
          <a:xfrm>
            <a:off x="1554480" y="4206240"/>
            <a:ext cx="9144000" cy="365760"/>
          </a:xfrm>
          <a:prstGeom prst="rect">
            <a:avLst/>
          </a:prstGeom>
          <a:noFill/>
        </p:spPr>
        <p:txBody>
          <a:bodyPr wrap="square">
            <a:spAutoFit/>
          </a:bodyPr>
          <a:lstStyle/>
          <a:p>
            <a:pPr algn="l">
              <a:defRPr sz="1400" b="0">
                <a:solidFill>
                  <a:srgbClr val="E0E0E0"/>
                </a:solidFill>
                <a:latin typeface="Segoe UI"/>
              </a:defRPr>
            </a:pPr>
            <a:r>
              <a:t>How it cites specific files and line numbers</a:t>
            </a:r>
          </a:p>
        </p:txBody>
      </p:sp>
      <p:sp>
        <p:nvSpPr>
          <p:cNvPr id="10" name="Rounded Rectangle 9"/>
          <p:cNvSpPr/>
          <p:nvPr/>
        </p:nvSpPr>
        <p:spPr>
          <a:xfrm>
            <a:off x="914400" y="4663440"/>
            <a:ext cx="457200" cy="36576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3.</a:t>
            </a:r>
          </a:p>
        </p:txBody>
      </p:sp>
      <p:sp>
        <p:nvSpPr>
          <p:cNvPr id="11" name="TextBox 10"/>
          <p:cNvSpPr txBox="1"/>
          <p:nvPr/>
        </p:nvSpPr>
        <p:spPr>
          <a:xfrm>
            <a:off x="1554480" y="4663440"/>
            <a:ext cx="9144000" cy="365760"/>
          </a:xfrm>
          <a:prstGeom prst="rect">
            <a:avLst/>
          </a:prstGeom>
          <a:noFill/>
        </p:spPr>
        <p:txBody>
          <a:bodyPr wrap="square">
            <a:spAutoFit/>
          </a:bodyPr>
          <a:lstStyle/>
          <a:p>
            <a:pPr algn="l">
              <a:defRPr sz="1400" b="0">
                <a:solidFill>
                  <a:srgbClr val="E0E0E0"/>
                </a:solidFill>
                <a:latin typeface="Segoe UI"/>
              </a:defRPr>
            </a:pPr>
            <a:r>
              <a:t>How the plan references the research artifacts</a:t>
            </a:r>
          </a:p>
        </p:txBody>
      </p:sp>
      <p:sp>
        <p:nvSpPr>
          <p:cNvPr id="12" name="Rounded Rectangle 11"/>
          <p:cNvSpPr/>
          <p:nvPr/>
        </p:nvSpPr>
        <p:spPr>
          <a:xfrm>
            <a:off x="914400" y="5120640"/>
            <a:ext cx="457200" cy="36576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4.</a:t>
            </a:r>
          </a:p>
        </p:txBody>
      </p:sp>
      <p:sp>
        <p:nvSpPr>
          <p:cNvPr id="13" name="TextBox 12"/>
          <p:cNvSpPr txBox="1"/>
          <p:nvPr/>
        </p:nvSpPr>
        <p:spPr>
          <a:xfrm>
            <a:off x="1554480" y="5120640"/>
            <a:ext cx="9144000" cy="365760"/>
          </a:xfrm>
          <a:prstGeom prst="rect">
            <a:avLst/>
          </a:prstGeom>
          <a:noFill/>
        </p:spPr>
        <p:txBody>
          <a:bodyPr wrap="square">
            <a:spAutoFit/>
          </a:bodyPr>
          <a:lstStyle/>
          <a:p>
            <a:pPr algn="l">
              <a:defRPr sz="1400" b="0">
                <a:solidFill>
                  <a:srgbClr val="E0E0E0"/>
                </a:solidFill>
                <a:latin typeface="Segoe UI"/>
              </a:defRPr>
            </a:pPr>
            <a:r>
              <a:t>How /clear resets context between phases</a:t>
            </a:r>
          </a:p>
        </p:txBody>
      </p:sp>
      <p:sp>
        <p:nvSpPr>
          <p:cNvPr id="14" name="Rounded Rectangle 13"/>
          <p:cNvSpPr/>
          <p:nvPr/>
        </p:nvSpPr>
        <p:spPr>
          <a:xfrm>
            <a:off x="914400" y="5577840"/>
            <a:ext cx="457200" cy="36576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5.</a:t>
            </a:r>
          </a:p>
        </p:txBody>
      </p:sp>
      <p:sp>
        <p:nvSpPr>
          <p:cNvPr id="15" name="TextBox 14"/>
          <p:cNvSpPr txBox="1"/>
          <p:nvPr/>
        </p:nvSpPr>
        <p:spPr>
          <a:xfrm>
            <a:off x="1554480" y="5577840"/>
            <a:ext cx="9144000" cy="365760"/>
          </a:xfrm>
          <a:prstGeom prst="rect">
            <a:avLst/>
          </a:prstGeom>
          <a:noFill/>
        </p:spPr>
        <p:txBody>
          <a:bodyPr wrap="square">
            <a:spAutoFit/>
          </a:bodyPr>
          <a:lstStyle/>
          <a:p>
            <a:pPr algn="l">
              <a:defRPr sz="1400" b="0">
                <a:solidFill>
                  <a:srgbClr val="E0E0E0"/>
                </a:solidFill>
                <a:latin typeface="Segoe UI"/>
              </a:defRPr>
            </a:pPr>
            <a:r>
              <a:t>How the implementor follows the plan step by step</a:t>
            </a:r>
          </a:p>
        </p:txBody>
      </p:sp>
      <p:sp>
        <p:nvSpPr>
          <p:cNvPr id="16" name="TextBox 15"/>
          <p:cNvSpPr txBox="1"/>
          <p:nvPr/>
        </p:nvSpPr>
        <p:spPr>
          <a:xfrm>
            <a:off x="731520" y="6126480"/>
            <a:ext cx="10058400" cy="365760"/>
          </a:xfrm>
          <a:prstGeom prst="rect">
            <a:avLst/>
          </a:prstGeom>
          <a:noFill/>
        </p:spPr>
        <p:txBody>
          <a:bodyPr wrap="square">
            <a:spAutoFit/>
          </a:bodyPr>
          <a:lstStyle/>
          <a:p>
            <a:pPr algn="l">
              <a:defRPr sz="1300" b="0">
                <a:solidFill>
                  <a:srgbClr val="909090"/>
                </a:solidFill>
                <a:latin typeface="Segoe UI"/>
              </a:defRPr>
            </a:pPr>
            <a:r>
              <a:t>Demo: ~5 minutes in VS Code  •  Research → /clear → Plan → /clear → Implement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274320"/>
            <a:ext cx="9144000" cy="640080"/>
          </a:xfrm>
          <a:prstGeom prst="rect">
            <a:avLst/>
          </a:prstGeom>
          <a:noFill/>
        </p:spPr>
        <p:txBody>
          <a:bodyPr wrap="square">
            <a:spAutoFit/>
          </a:bodyPr>
          <a:lstStyle/>
          <a:p>
            <a:pPr algn="l">
              <a:defRPr sz="3200" b="1">
                <a:solidFill>
                  <a:srgbClr val="FFFFFF"/>
                </a:solidFill>
                <a:latin typeface="Segoe UI"/>
              </a:defRPr>
            </a:pPr>
            <a:r>
              <a:t>Eight Roles, One Framework</a:t>
            </a:r>
          </a:p>
        </p:txBody>
      </p:sp>
      <p:sp>
        <p:nvSpPr>
          <p:cNvPr id="3" name="Rectangle 2"/>
          <p:cNvSpPr/>
          <p:nvPr/>
        </p:nvSpPr>
        <p:spPr>
          <a:xfrm>
            <a:off x="731520" y="82296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ve-role-mapping-enhanced.png"/>
          <p:cNvPicPr>
            <a:picLocks noChangeAspect="1"/>
          </p:cNvPicPr>
          <p:nvPr/>
        </p:nvPicPr>
        <p:blipFill>
          <a:blip r:embed="rId2"/>
          <a:stretch>
            <a:fillRect/>
          </a:stretch>
        </p:blipFill>
        <p:spPr>
          <a:xfrm>
            <a:off x="274320" y="1097280"/>
            <a:ext cx="11612880" cy="5303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Beyond RPI: Discovery + Design Thinking</a:t>
            </a:r>
          </a:p>
        </p:txBody>
      </p:sp>
      <p:sp>
        <p:nvSpPr>
          <p:cNvPr id="3" name="Rectangle 2"/>
          <p:cNvSpPr/>
          <p:nvPr/>
        </p:nvSpPr>
        <p:spPr>
          <a:xfrm>
            <a:off x="731520" y="1005840"/>
            <a:ext cx="731520" cy="50800"/>
          </a:xfrm>
          <a:prstGeom prst="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ve-drpi-pipeline.png"/>
          <p:cNvPicPr>
            <a:picLocks noChangeAspect="1"/>
          </p:cNvPicPr>
          <p:nvPr/>
        </p:nvPicPr>
        <p:blipFill>
          <a:blip r:embed="rId2"/>
          <a:stretch>
            <a:fillRect/>
          </a:stretch>
        </p:blipFill>
        <p:spPr>
          <a:xfrm>
            <a:off x="274320" y="1188720"/>
            <a:ext cx="11612880" cy="3200400"/>
          </a:xfrm>
          <a:prstGeom prst="rect">
            <a:avLst/>
          </a:prstGeom>
        </p:spPr>
      </p:pic>
      <p:sp>
        <p:nvSpPr>
          <p:cNvPr id="5" name="TextBox 4"/>
          <p:cNvSpPr txBox="1"/>
          <p:nvPr/>
        </p:nvSpPr>
        <p:spPr>
          <a:xfrm>
            <a:off x="914400" y="4572000"/>
            <a:ext cx="10058400" cy="365760"/>
          </a:xfrm>
          <a:prstGeom prst="rect">
            <a:avLst/>
          </a:prstGeom>
          <a:noFill/>
        </p:spPr>
        <p:txBody>
          <a:bodyPr wrap="square">
            <a:spAutoFit/>
          </a:bodyPr>
          <a:lstStyle/>
          <a:p>
            <a:pPr algn="l">
              <a:defRPr sz="1600" b="1">
                <a:solidFill>
                  <a:srgbClr val="FFFFFF"/>
                </a:solidFill>
                <a:latin typeface="Segoe UI"/>
              </a:defRPr>
            </a:pPr>
            <a:r>
              <a:t>Design Thinking Alignment</a:t>
            </a:r>
          </a:p>
        </p:txBody>
      </p:sp>
      <p:sp>
        <p:nvSpPr>
          <p:cNvPr id="6" name="Rounded Rectangle 5"/>
          <p:cNvSpPr/>
          <p:nvPr/>
        </p:nvSpPr>
        <p:spPr>
          <a:xfrm>
            <a:off x="914400" y="4937760"/>
            <a:ext cx="1645920" cy="274320"/>
          </a:xfrm>
          <a:prstGeom prst="roundRect">
            <a:avLst/>
          </a:prstGeom>
          <a:solidFill>
            <a:srgbClr val="90909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Segoe UI"/>
              </a:defRPr>
            </a:pPr>
            <a:r>
              <a:t>Discovery</a:t>
            </a:r>
          </a:p>
        </p:txBody>
      </p:sp>
      <p:sp>
        <p:nvSpPr>
          <p:cNvPr id="7" name="TextBox 6"/>
          <p:cNvSpPr txBox="1"/>
          <p:nvPr/>
        </p:nvSpPr>
        <p:spPr>
          <a:xfrm>
            <a:off x="2743200" y="4937760"/>
            <a:ext cx="2743200" cy="274320"/>
          </a:xfrm>
          <a:prstGeom prst="rect">
            <a:avLst/>
          </a:prstGeom>
          <a:noFill/>
        </p:spPr>
        <p:txBody>
          <a:bodyPr wrap="square">
            <a:spAutoFit/>
          </a:bodyPr>
          <a:lstStyle/>
          <a:p>
            <a:pPr algn="l">
              <a:defRPr sz="1000" b="0">
                <a:solidFill>
                  <a:srgbClr val="E0E0E0"/>
                </a:solidFill>
                <a:latin typeface="Segoe UI"/>
              </a:defRPr>
            </a:pPr>
            <a:r>
              <a:t>→  Empathize / Define</a:t>
            </a:r>
          </a:p>
        </p:txBody>
      </p:sp>
      <p:sp>
        <p:nvSpPr>
          <p:cNvPr id="8" name="Rounded Rectangle 7"/>
          <p:cNvSpPr/>
          <p:nvPr/>
        </p:nvSpPr>
        <p:spPr>
          <a:xfrm>
            <a:off x="914400" y="5257800"/>
            <a:ext cx="1645920" cy="2743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Segoe UI"/>
              </a:defRPr>
            </a:pPr>
            <a:r>
              <a:t>Research</a:t>
            </a:r>
          </a:p>
        </p:txBody>
      </p:sp>
      <p:sp>
        <p:nvSpPr>
          <p:cNvPr id="9" name="TextBox 8"/>
          <p:cNvSpPr txBox="1"/>
          <p:nvPr/>
        </p:nvSpPr>
        <p:spPr>
          <a:xfrm>
            <a:off x="2743200" y="5257800"/>
            <a:ext cx="2743200" cy="274320"/>
          </a:xfrm>
          <a:prstGeom prst="rect">
            <a:avLst/>
          </a:prstGeom>
          <a:noFill/>
        </p:spPr>
        <p:txBody>
          <a:bodyPr wrap="square">
            <a:spAutoFit/>
          </a:bodyPr>
          <a:lstStyle/>
          <a:p>
            <a:pPr algn="l">
              <a:defRPr sz="1000" b="0">
                <a:solidFill>
                  <a:srgbClr val="E0E0E0"/>
                </a:solidFill>
                <a:latin typeface="Segoe UI"/>
              </a:defRPr>
            </a:pPr>
            <a:r>
              <a:t>→  Ideate (evidence-constrained)</a:t>
            </a:r>
          </a:p>
        </p:txBody>
      </p:sp>
      <p:sp>
        <p:nvSpPr>
          <p:cNvPr id="10" name="Rounded Rectangle 9"/>
          <p:cNvSpPr/>
          <p:nvPr/>
        </p:nvSpPr>
        <p:spPr>
          <a:xfrm>
            <a:off x="914400" y="5577840"/>
            <a:ext cx="1645920" cy="27432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Segoe UI"/>
              </a:defRPr>
            </a:pPr>
            <a:r>
              <a:t>Plan</a:t>
            </a:r>
          </a:p>
        </p:txBody>
      </p:sp>
      <p:sp>
        <p:nvSpPr>
          <p:cNvPr id="11" name="TextBox 10"/>
          <p:cNvSpPr txBox="1"/>
          <p:nvPr/>
        </p:nvSpPr>
        <p:spPr>
          <a:xfrm>
            <a:off x="2743200" y="5577840"/>
            <a:ext cx="2743200" cy="274320"/>
          </a:xfrm>
          <a:prstGeom prst="rect">
            <a:avLst/>
          </a:prstGeom>
          <a:noFill/>
        </p:spPr>
        <p:txBody>
          <a:bodyPr wrap="square">
            <a:spAutoFit/>
          </a:bodyPr>
          <a:lstStyle/>
          <a:p>
            <a:pPr algn="l">
              <a:defRPr sz="1000" b="0">
                <a:solidFill>
                  <a:srgbClr val="E0E0E0"/>
                </a:solidFill>
                <a:latin typeface="Segoe UI"/>
              </a:defRPr>
            </a:pPr>
            <a:r>
              <a:t>→  Prototype (on paper)</a:t>
            </a:r>
          </a:p>
        </p:txBody>
      </p:sp>
      <p:sp>
        <p:nvSpPr>
          <p:cNvPr id="12" name="Rounded Rectangle 11"/>
          <p:cNvSpPr/>
          <p:nvPr/>
        </p:nvSpPr>
        <p:spPr>
          <a:xfrm>
            <a:off x="6400800" y="4937760"/>
            <a:ext cx="1645920" cy="27432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Segoe UI"/>
              </a:defRPr>
            </a:pPr>
            <a:r>
              <a:t>Implement</a:t>
            </a:r>
          </a:p>
        </p:txBody>
      </p:sp>
      <p:sp>
        <p:nvSpPr>
          <p:cNvPr id="13" name="TextBox 12"/>
          <p:cNvSpPr txBox="1"/>
          <p:nvPr/>
        </p:nvSpPr>
        <p:spPr>
          <a:xfrm>
            <a:off x="8229600" y="4937760"/>
            <a:ext cx="2743200" cy="274320"/>
          </a:xfrm>
          <a:prstGeom prst="rect">
            <a:avLst/>
          </a:prstGeom>
          <a:noFill/>
        </p:spPr>
        <p:txBody>
          <a:bodyPr wrap="square">
            <a:spAutoFit/>
          </a:bodyPr>
          <a:lstStyle/>
          <a:p>
            <a:pPr algn="l">
              <a:defRPr sz="1000" b="0">
                <a:solidFill>
                  <a:srgbClr val="E0E0E0"/>
                </a:solidFill>
                <a:latin typeface="Segoe UI"/>
              </a:defRPr>
            </a:pPr>
            <a:r>
              <a:t>→  Build / Test</a:t>
            </a:r>
          </a:p>
        </p:txBody>
      </p:sp>
      <p:sp>
        <p:nvSpPr>
          <p:cNvPr id="14" name="Rounded Rectangle 13"/>
          <p:cNvSpPr/>
          <p:nvPr/>
        </p:nvSpPr>
        <p:spPr>
          <a:xfrm>
            <a:off x="6400800" y="5257800"/>
            <a:ext cx="1645920" cy="27432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latin typeface="Segoe UI"/>
              </a:defRPr>
            </a:pPr>
            <a:r>
              <a:t>Review</a:t>
            </a:r>
          </a:p>
        </p:txBody>
      </p:sp>
      <p:sp>
        <p:nvSpPr>
          <p:cNvPr id="15" name="TextBox 14"/>
          <p:cNvSpPr txBox="1"/>
          <p:nvPr/>
        </p:nvSpPr>
        <p:spPr>
          <a:xfrm>
            <a:off x="8229600" y="5257800"/>
            <a:ext cx="2743200" cy="274320"/>
          </a:xfrm>
          <a:prstGeom prst="rect">
            <a:avLst/>
          </a:prstGeom>
          <a:noFill/>
        </p:spPr>
        <p:txBody>
          <a:bodyPr wrap="square">
            <a:spAutoFit/>
          </a:bodyPr>
          <a:lstStyle/>
          <a:p>
            <a:pPr algn="l">
              <a:defRPr sz="1000" b="0">
                <a:solidFill>
                  <a:srgbClr val="E0E0E0"/>
                </a:solidFill>
                <a:latin typeface="Segoe UI"/>
              </a:defRPr>
            </a:pPr>
            <a:r>
              <a:t>→  Validate / Feedback</a:t>
            </a:r>
          </a:p>
        </p:txBody>
      </p:sp>
      <p:sp>
        <p:nvSpPr>
          <p:cNvPr id="16" name="TextBox 15"/>
          <p:cNvSpPr txBox="1"/>
          <p:nvPr/>
        </p:nvSpPr>
        <p:spPr>
          <a:xfrm>
            <a:off x="914400" y="6126480"/>
            <a:ext cx="10058400" cy="365760"/>
          </a:xfrm>
          <a:prstGeom prst="rect">
            <a:avLst/>
          </a:prstGeom>
          <a:noFill/>
        </p:spPr>
        <p:txBody>
          <a:bodyPr wrap="square">
            <a:spAutoFit/>
          </a:bodyPr>
          <a:lstStyle/>
          <a:p>
            <a:pPr algn="l">
              <a:defRPr sz="1100" b="0">
                <a:solidFill>
                  <a:srgbClr val="909090"/>
                </a:solidFill>
                <a:latin typeface="Segoe UI"/>
              </a:defRPr>
            </a:pPr>
            <a:r>
              <a:t>D-RPI and Design Thinking integration are forward-looking extensions. Core four-phase RPI is the production workflow today.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Real Results with HVE-Core</a:t>
            </a:r>
          </a:p>
        </p:txBody>
      </p:sp>
      <p:sp>
        <p:nvSpPr>
          <p:cNvPr id="3" name="Rectangle 2"/>
          <p:cNvSpPr/>
          <p:nvPr/>
        </p:nvSpPr>
        <p:spPr>
          <a:xfrm>
            <a:off x="731520" y="1005840"/>
            <a:ext cx="731520" cy="508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463040"/>
            <a:ext cx="2103120" cy="9144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FFFFFF"/>
                </a:solidFill>
                <a:latin typeface="Segoe UI"/>
              </a:defRPr>
            </a:pPr>
            <a:r>
              <a:t>50%</a:t>
            </a:r>
          </a:p>
        </p:txBody>
      </p:sp>
      <p:sp>
        <p:nvSpPr>
          <p:cNvPr id="5" name="Rounded Rectangle 4"/>
          <p:cNvSpPr/>
          <p:nvPr/>
        </p:nvSpPr>
        <p:spPr>
          <a:xfrm>
            <a:off x="457200" y="2377440"/>
            <a:ext cx="210312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0E0E0"/>
                </a:solidFill>
                <a:latin typeface="Segoe UI"/>
              </a:defRPr>
            </a:pPr>
            <a:r>
              <a:t>Faster</a:t>
            </a:r>
            <a:br/>
            <a:r>
              <a:t>Deployments</a:t>
            </a:r>
          </a:p>
        </p:txBody>
      </p:sp>
      <p:sp>
        <p:nvSpPr>
          <p:cNvPr id="6" name="TextBox 5"/>
          <p:cNvSpPr txBox="1"/>
          <p:nvPr/>
        </p:nvSpPr>
        <p:spPr>
          <a:xfrm>
            <a:off x="548640" y="3291840"/>
            <a:ext cx="1920240" cy="1371600"/>
          </a:xfrm>
          <a:prstGeom prst="rect">
            <a:avLst/>
          </a:prstGeom>
          <a:noFill/>
        </p:spPr>
        <p:txBody>
          <a:bodyPr wrap="square">
            <a:spAutoFit/>
          </a:bodyPr>
          <a:lstStyle/>
          <a:p>
            <a:pPr>
              <a:spcAft>
                <a:spcPts val="400"/>
              </a:spcAft>
              <a:defRPr sz="1000" b="0">
                <a:solidFill>
                  <a:srgbClr val="909090"/>
                </a:solidFill>
                <a:latin typeface="Segoe UI"/>
              </a:defRPr>
            </a:pPr>
            <a:r>
              <a:t>Global telecom:</a:t>
            </a:r>
            <a:br/>
            <a:r>
              <a:t>AI-driven IaC</a:t>
            </a:r>
          </a:p>
        </p:txBody>
      </p:sp>
      <p:sp>
        <p:nvSpPr>
          <p:cNvPr id="7" name="Rounded Rectangle 6"/>
          <p:cNvSpPr/>
          <p:nvPr/>
        </p:nvSpPr>
        <p:spPr>
          <a:xfrm>
            <a:off x="2743200" y="1463040"/>
            <a:ext cx="2103120" cy="9144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FFFFFF"/>
                </a:solidFill>
                <a:latin typeface="Segoe UI"/>
              </a:defRPr>
            </a:pPr>
            <a:r>
              <a:t>90%</a:t>
            </a:r>
          </a:p>
        </p:txBody>
      </p:sp>
      <p:sp>
        <p:nvSpPr>
          <p:cNvPr id="8" name="Rounded Rectangle 7"/>
          <p:cNvSpPr/>
          <p:nvPr/>
        </p:nvSpPr>
        <p:spPr>
          <a:xfrm>
            <a:off x="2743200" y="2377440"/>
            <a:ext cx="210312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0E0E0"/>
                </a:solidFill>
                <a:latin typeface="Segoe UI"/>
              </a:defRPr>
            </a:pPr>
            <a:r>
              <a:t>Faster</a:t>
            </a:r>
            <a:br/>
            <a:r>
              <a:t>Docs</a:t>
            </a:r>
          </a:p>
        </p:txBody>
      </p:sp>
      <p:sp>
        <p:nvSpPr>
          <p:cNvPr id="9" name="TextBox 8"/>
          <p:cNvSpPr txBox="1"/>
          <p:nvPr/>
        </p:nvSpPr>
        <p:spPr>
          <a:xfrm>
            <a:off x="2834640" y="3291840"/>
            <a:ext cx="1920240" cy="1371600"/>
          </a:xfrm>
          <a:prstGeom prst="rect">
            <a:avLst/>
          </a:prstGeom>
          <a:noFill/>
        </p:spPr>
        <p:txBody>
          <a:bodyPr wrap="square">
            <a:spAutoFit/>
          </a:bodyPr>
          <a:lstStyle/>
          <a:p>
            <a:pPr>
              <a:spcAft>
                <a:spcPts val="400"/>
              </a:spcAft>
              <a:defRPr sz="1000" b="0">
                <a:solidFill>
                  <a:srgbClr val="909090"/>
                </a:solidFill>
                <a:latin typeface="Segoe UI"/>
              </a:defRPr>
            </a:pPr>
            <a:r>
              <a:t>Architecture docs</a:t>
            </a:r>
            <a:br/>
            <a:r>
              <a:t>and security plans:</a:t>
            </a:r>
            <a:br/>
            <a:r>
              <a:t>days → hours</a:t>
            </a:r>
          </a:p>
        </p:txBody>
      </p:sp>
      <p:sp>
        <p:nvSpPr>
          <p:cNvPr id="10" name="Rounded Rectangle 9"/>
          <p:cNvSpPr/>
          <p:nvPr/>
        </p:nvSpPr>
        <p:spPr>
          <a:xfrm>
            <a:off x="5029200" y="1463040"/>
            <a:ext cx="2103120" cy="9144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FFFFFF"/>
                </a:solidFill>
                <a:latin typeface="Segoe UI"/>
              </a:defRPr>
            </a:pPr>
            <a:r>
              <a:t>2 Days</a:t>
            </a:r>
          </a:p>
        </p:txBody>
      </p:sp>
      <p:sp>
        <p:nvSpPr>
          <p:cNvPr id="11" name="Rounded Rectangle 10"/>
          <p:cNvSpPr/>
          <p:nvPr/>
        </p:nvSpPr>
        <p:spPr>
          <a:xfrm>
            <a:off x="5029200" y="2377440"/>
            <a:ext cx="210312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0E0E0"/>
                </a:solidFill>
                <a:latin typeface="Segoe UI"/>
              </a:defRPr>
            </a:pPr>
            <a:r>
              <a:t>vs 8 Weeks</a:t>
            </a:r>
          </a:p>
        </p:txBody>
      </p:sp>
      <p:sp>
        <p:nvSpPr>
          <p:cNvPr id="12" name="TextBox 11"/>
          <p:cNvSpPr txBox="1"/>
          <p:nvPr/>
        </p:nvSpPr>
        <p:spPr>
          <a:xfrm>
            <a:off x="5120640" y="3291840"/>
            <a:ext cx="1920240" cy="1371600"/>
          </a:xfrm>
          <a:prstGeom prst="rect">
            <a:avLst/>
          </a:prstGeom>
          <a:noFill/>
        </p:spPr>
        <p:txBody>
          <a:bodyPr wrap="square">
            <a:spAutoFit/>
          </a:bodyPr>
          <a:lstStyle/>
          <a:p>
            <a:pPr>
              <a:spcAft>
                <a:spcPts val="400"/>
              </a:spcAft>
              <a:defRPr sz="1000" b="0">
                <a:solidFill>
                  <a:srgbClr val="909090"/>
                </a:solidFill>
                <a:latin typeface="Segoe UI"/>
              </a:defRPr>
            </a:pPr>
            <a:r>
              <a:t>Internal hackathon:</a:t>
            </a:r>
            <a:br/>
            <a:r>
              <a:t>RPI + Copilot</a:t>
            </a:r>
            <a:br/>
            <a:r>
              <a:t>prototype</a:t>
            </a:r>
          </a:p>
        </p:txBody>
      </p:sp>
      <p:sp>
        <p:nvSpPr>
          <p:cNvPr id="13" name="Rounded Rectangle 12"/>
          <p:cNvSpPr/>
          <p:nvPr/>
        </p:nvSpPr>
        <p:spPr>
          <a:xfrm>
            <a:off x="7315200" y="1463040"/>
            <a:ext cx="2103120" cy="9144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FFFFFF"/>
                </a:solidFill>
                <a:latin typeface="Segoe UI"/>
              </a:defRPr>
            </a:pPr>
            <a:r>
              <a:t>Quality</a:t>
            </a:r>
          </a:p>
        </p:txBody>
      </p:sp>
      <p:sp>
        <p:nvSpPr>
          <p:cNvPr id="14" name="Rounded Rectangle 13"/>
          <p:cNvSpPr/>
          <p:nvPr/>
        </p:nvSpPr>
        <p:spPr>
          <a:xfrm>
            <a:off x="7315200" y="2377440"/>
            <a:ext cx="210312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0E0E0"/>
                </a:solidFill>
                <a:latin typeface="Segoe UI"/>
              </a:defRPr>
            </a:pPr>
            <a:r>
              <a:t>Improved</a:t>
            </a:r>
          </a:p>
        </p:txBody>
      </p:sp>
      <p:sp>
        <p:nvSpPr>
          <p:cNvPr id="15" name="TextBox 14"/>
          <p:cNvSpPr txBox="1"/>
          <p:nvPr/>
        </p:nvSpPr>
        <p:spPr>
          <a:xfrm>
            <a:off x="7406640" y="3291840"/>
            <a:ext cx="1920240" cy="1371600"/>
          </a:xfrm>
          <a:prstGeom prst="rect">
            <a:avLst/>
          </a:prstGeom>
          <a:noFill/>
        </p:spPr>
        <p:txBody>
          <a:bodyPr wrap="square">
            <a:spAutoFit/>
          </a:bodyPr>
          <a:lstStyle/>
          <a:p>
            <a:pPr>
              <a:spcAft>
                <a:spcPts val="400"/>
              </a:spcAft>
              <a:defRPr sz="1000" b="0">
                <a:solidFill>
                  <a:srgbClr val="909090"/>
                </a:solidFill>
                <a:latin typeface="Segoe UI"/>
              </a:defRPr>
            </a:pPr>
            <a:r>
              <a:t>AI PR reviews</a:t>
            </a:r>
            <a:br/>
            <a:r>
              <a:t>catch subtle bugs</a:t>
            </a:r>
            <a:br/>
            <a:r>
              <a:t>pre-merge</a:t>
            </a:r>
          </a:p>
        </p:txBody>
      </p:sp>
      <p:sp>
        <p:nvSpPr>
          <p:cNvPr id="16" name="Rounded Rectangle 15"/>
          <p:cNvSpPr/>
          <p:nvPr/>
        </p:nvSpPr>
        <p:spPr>
          <a:xfrm>
            <a:off x="9601200" y="1463040"/>
            <a:ext cx="2103120" cy="914400"/>
          </a:xfrm>
          <a:prstGeom prst="round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FFFFFF"/>
                </a:solidFill>
                <a:latin typeface="Segoe UI"/>
              </a:defRPr>
            </a:pPr>
            <a:r>
              <a:t>Dev</a:t>
            </a:r>
            <a:br/>
            <a:r>
              <a:t>Experience</a:t>
            </a:r>
          </a:p>
        </p:txBody>
      </p:sp>
      <p:sp>
        <p:nvSpPr>
          <p:cNvPr id="17" name="Rounded Rectangle 16"/>
          <p:cNvSpPr/>
          <p:nvPr/>
        </p:nvSpPr>
        <p:spPr>
          <a:xfrm>
            <a:off x="9601200" y="2377440"/>
            <a:ext cx="210312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0E0E0"/>
                </a:solidFill>
                <a:latin typeface="Segoe UI"/>
              </a:defRPr>
            </a:pPr>
            <a:r>
              <a:t>Better</a:t>
            </a:r>
          </a:p>
        </p:txBody>
      </p:sp>
      <p:sp>
        <p:nvSpPr>
          <p:cNvPr id="18" name="TextBox 17"/>
          <p:cNvSpPr txBox="1"/>
          <p:nvPr/>
        </p:nvSpPr>
        <p:spPr>
          <a:xfrm>
            <a:off x="9692640" y="3291840"/>
            <a:ext cx="1920240" cy="1371600"/>
          </a:xfrm>
          <a:prstGeom prst="rect">
            <a:avLst/>
          </a:prstGeom>
          <a:noFill/>
        </p:spPr>
        <p:txBody>
          <a:bodyPr wrap="square">
            <a:spAutoFit/>
          </a:bodyPr>
          <a:lstStyle/>
          <a:p>
            <a:pPr>
              <a:spcAft>
                <a:spcPts val="400"/>
              </a:spcAft>
              <a:defRPr sz="1000" b="0">
                <a:solidFill>
                  <a:srgbClr val="909090"/>
                </a:solidFill>
                <a:latin typeface="Segoe UI"/>
              </a:defRPr>
            </a:pPr>
            <a:r>
              <a:t>Less rework,</a:t>
            </a:r>
            <a:br/>
            <a:r>
              <a:t>less context-switching,</a:t>
            </a:r>
            <a:br/>
            <a:r>
              <a:t>higher satisfaction</a:t>
            </a:r>
          </a:p>
        </p:txBody>
      </p:sp>
      <p:sp>
        <p:nvSpPr>
          <p:cNvPr id="19" name="TextBox 18"/>
          <p:cNvSpPr txBox="1"/>
          <p:nvPr/>
        </p:nvSpPr>
        <p:spPr>
          <a:xfrm>
            <a:off x="731520" y="5029200"/>
            <a:ext cx="10058400" cy="457200"/>
          </a:xfrm>
          <a:prstGeom prst="rect">
            <a:avLst/>
          </a:prstGeom>
          <a:noFill/>
        </p:spPr>
        <p:txBody>
          <a:bodyPr wrap="square">
            <a:spAutoFit/>
          </a:bodyPr>
          <a:lstStyle/>
          <a:p>
            <a:pPr algn="ctr">
              <a:defRPr sz="1600" b="1">
                <a:solidFill>
                  <a:srgbClr val="E0E0E0"/>
                </a:solidFill>
                <a:latin typeface="Segoe UI"/>
              </a:defRPr>
            </a:pPr>
            <a:r>
              <a:t>Real teams.  Real metrics.  Real improvements.</a:t>
            </a:r>
          </a:p>
        </p:txBody>
      </p:sp>
      <p:sp>
        <p:nvSpPr>
          <p:cNvPr id="20" name="Rounded Rectangle 19"/>
          <p:cNvSpPr/>
          <p:nvPr/>
        </p:nvSpPr>
        <p:spPr>
          <a:xfrm>
            <a:off x="2743200" y="5669280"/>
            <a:ext cx="640080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Segoe UI"/>
              </a:defRPr>
            </a:pPr>
            <a:r>
              <a:t>Internal trials: up to 88% faster task completion with RPI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Built by HVE-Core, Validated by HVE-Core</a:t>
            </a:r>
          </a:p>
        </p:txBody>
      </p:sp>
      <p:sp>
        <p:nvSpPr>
          <p:cNvPr id="3" name="Rectangle 2"/>
          <p:cNvSpPr/>
          <p:nvPr/>
        </p:nvSpPr>
        <p:spPr>
          <a:xfrm>
            <a:off x="731520" y="1005840"/>
            <a:ext cx="731520" cy="50800"/>
          </a:xfrm>
          <a:prstGeom prst="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029200" cy="4572000"/>
          </a:xfrm>
          <a:prstGeom prst="rect">
            <a:avLst/>
          </a:prstGeom>
          <a:noFill/>
        </p:spPr>
        <p:txBody>
          <a:bodyPr wrap="square">
            <a:spAutoFit/>
          </a:bodyPr>
          <a:lstStyle/>
          <a:p>
            <a:pPr>
              <a:spcAft>
                <a:spcPts val="400"/>
              </a:spcAft>
              <a:defRPr sz="1800" b="1">
                <a:solidFill>
                  <a:srgbClr val="038E8E"/>
                </a:solidFill>
                <a:latin typeface="Segoe UI"/>
              </a:defRPr>
            </a:pPr>
            <a:r>
              <a:t>Self-Referential Credibility</a:t>
            </a:r>
          </a:p>
          <a:p>
            <a:pPr>
              <a:spcAft>
                <a:spcPts val="400"/>
              </a:spcAft>
              <a:defRPr sz="800" b="0">
                <a:solidFill>
                  <a:srgbClr val="FFFFFF"/>
                </a:solidFill>
                <a:latin typeface="Segoe UI"/>
              </a:defRPr>
            </a:pPr>
          </a:p>
          <a:p>
            <a:pPr>
              <a:spcAft>
                <a:spcPts val="400"/>
              </a:spcAft>
              <a:defRPr sz="1400" b="0">
                <a:solidFill>
                  <a:srgbClr val="E0E0E0"/>
                </a:solidFill>
                <a:latin typeface="Segoe UI"/>
              </a:defRPr>
            </a:pPr>
            <a:r>
              <a:t>• This presentation was planned using RPI</a:t>
            </a:r>
          </a:p>
          <a:p>
            <a:pPr>
              <a:spcAft>
                <a:spcPts val="400"/>
              </a:spcAft>
              <a:defRPr sz="1400" b="0">
                <a:solidFill>
                  <a:srgbClr val="E0E0E0"/>
                </a:solidFill>
                <a:latin typeface="Segoe UI"/>
              </a:defRPr>
            </a:pPr>
            <a:r>
              <a:t>• Every agent was built by the Prompt Builder agent</a:t>
            </a:r>
          </a:p>
          <a:p>
            <a:pPr>
              <a:spcAft>
                <a:spcPts val="400"/>
              </a:spcAft>
              <a:defRPr sz="1400" b="0">
                <a:solidFill>
                  <a:srgbClr val="E0E0E0"/>
                </a:solidFill>
                <a:latin typeface="Segoe UI"/>
              </a:defRPr>
            </a:pPr>
            <a:r>
              <a:t>• Instructions files follow their own rules</a:t>
            </a:r>
          </a:p>
          <a:p>
            <a:pPr>
              <a:spcAft>
                <a:spcPts val="400"/>
              </a:spcAft>
              <a:defRPr sz="1400" b="0">
                <a:solidFill>
                  <a:srgbClr val="E0E0E0"/>
                </a:solidFill>
                <a:latin typeface="Segoe UI"/>
              </a:defRPr>
            </a:pPr>
            <a:r>
              <a:t>• Collection manifests are validated by their own CI</a:t>
            </a:r>
          </a:p>
          <a:p>
            <a:pPr>
              <a:spcAft>
                <a:spcPts val="400"/>
              </a:spcAft>
              <a:defRPr sz="1400" b="0">
                <a:solidFill>
                  <a:srgbClr val="E0E0E0"/>
                </a:solidFill>
                <a:latin typeface="Segoe UI"/>
              </a:defRPr>
            </a:pPr>
            <a:r>
              <a:t>• Documentation is generated from the same artifacts</a:t>
            </a:r>
          </a:p>
          <a:p>
            <a:pPr>
              <a:spcAft>
                <a:spcPts val="400"/>
              </a:spcAft>
              <a:defRPr sz="800" b="0">
                <a:solidFill>
                  <a:srgbClr val="FFFFFF"/>
                </a:solidFill>
                <a:latin typeface="Segoe UI"/>
              </a:defRPr>
            </a:pPr>
          </a:p>
          <a:p>
            <a:pPr>
              <a:spcAft>
                <a:spcPts val="400"/>
              </a:spcAft>
              <a:defRPr sz="1400" b="1">
                <a:solidFill>
                  <a:srgbClr val="909090"/>
                </a:solidFill>
                <a:latin typeface="Segoe UI"/>
              </a:defRPr>
            </a:pPr>
            <a:r>
              <a:t>If HVE-Core doesn't work on itself,</a:t>
            </a:r>
          </a:p>
          <a:p>
            <a:pPr>
              <a:spcAft>
                <a:spcPts val="400"/>
              </a:spcAft>
              <a:defRPr sz="1400" b="1">
                <a:solidFill>
                  <a:srgbClr val="909090"/>
                </a:solidFill>
                <a:latin typeface="Segoe UI"/>
              </a:defRPr>
            </a:pPr>
            <a:r>
              <a:t>why would it work on your project?</a:t>
            </a:r>
          </a:p>
        </p:txBody>
      </p:sp>
      <p:sp>
        <p:nvSpPr>
          <p:cNvPr id="5" name="TextBox 4"/>
          <p:cNvSpPr txBox="1"/>
          <p:nvPr/>
        </p:nvSpPr>
        <p:spPr>
          <a:xfrm>
            <a:off x="6400800" y="1371600"/>
            <a:ext cx="5029200" cy="4572000"/>
          </a:xfrm>
          <a:prstGeom prst="rect">
            <a:avLst/>
          </a:prstGeom>
          <a:noFill/>
        </p:spPr>
        <p:txBody>
          <a:bodyPr wrap="square">
            <a:spAutoFit/>
          </a:bodyPr>
          <a:lstStyle/>
          <a:p>
            <a:pPr>
              <a:spcAft>
                <a:spcPts val="400"/>
              </a:spcAft>
              <a:defRPr sz="1800" b="1">
                <a:solidFill>
                  <a:srgbClr val="FF8C00"/>
                </a:solidFill>
                <a:latin typeface="Segoe UI"/>
              </a:defRPr>
            </a:pPr>
            <a:r>
              <a:t>Validation Pipeline</a:t>
            </a:r>
          </a:p>
          <a:p>
            <a:pPr>
              <a:spcAft>
                <a:spcPts val="400"/>
              </a:spcAft>
              <a:defRPr sz="800" b="0">
                <a:solidFill>
                  <a:srgbClr val="FFFFFF"/>
                </a:solidFill>
                <a:latin typeface="Segoe UI"/>
              </a:defRPr>
            </a:pPr>
          </a:p>
          <a:p>
            <a:pPr>
              <a:spcAft>
                <a:spcPts val="400"/>
              </a:spcAft>
              <a:defRPr sz="1400" b="1">
                <a:solidFill>
                  <a:srgbClr val="0078D4"/>
                </a:solidFill>
                <a:latin typeface="Segoe UI"/>
              </a:defRPr>
            </a:pPr>
            <a:r>
              <a:t>Linting (7 jobs)</a:t>
            </a:r>
          </a:p>
          <a:p>
            <a:pPr>
              <a:spcAft>
                <a:spcPts val="400"/>
              </a:spcAft>
              <a:defRPr sz="1200" b="0">
                <a:solidFill>
                  <a:srgbClr val="909090"/>
                </a:solidFill>
                <a:latin typeface="Segoe UI"/>
              </a:defRPr>
            </a:pPr>
            <a:r>
              <a:t>  Markdown, YAML, frontmatter, links,</a:t>
            </a:r>
          </a:p>
          <a:p>
            <a:pPr>
              <a:spcAft>
                <a:spcPts val="400"/>
              </a:spcAft>
              <a:defRPr sz="1200" b="0">
                <a:solidFill>
                  <a:srgbClr val="909090"/>
                </a:solidFill>
                <a:latin typeface="Segoe UI"/>
              </a:defRPr>
            </a:pPr>
            <a:r>
              <a:t>  tables, collections metadata, version consistency</a:t>
            </a:r>
          </a:p>
          <a:p>
            <a:pPr>
              <a:spcAft>
                <a:spcPts val="400"/>
              </a:spcAft>
              <a:defRPr sz="600" b="0">
                <a:solidFill>
                  <a:srgbClr val="FFFFFF"/>
                </a:solidFill>
                <a:latin typeface="Segoe UI"/>
              </a:defRPr>
            </a:pPr>
          </a:p>
          <a:p>
            <a:pPr>
              <a:spcAft>
                <a:spcPts val="400"/>
              </a:spcAft>
              <a:defRPr sz="1400" b="1">
                <a:solidFill>
                  <a:srgbClr val="107C10"/>
                </a:solidFill>
                <a:latin typeface="Segoe UI"/>
              </a:defRPr>
            </a:pPr>
            <a:r>
              <a:t>Analysis (2 jobs)</a:t>
            </a:r>
          </a:p>
          <a:p>
            <a:pPr>
              <a:spcAft>
                <a:spcPts val="400"/>
              </a:spcAft>
              <a:defRPr sz="1200" b="0">
                <a:solidFill>
                  <a:srgbClr val="909090"/>
                </a:solidFill>
                <a:latin typeface="Segoe UI"/>
              </a:defRPr>
            </a:pPr>
            <a:r>
              <a:t>  PowerShell PSScriptAnalyzer, skill validation</a:t>
            </a:r>
          </a:p>
          <a:p>
            <a:pPr>
              <a:spcAft>
                <a:spcPts val="400"/>
              </a:spcAft>
              <a:defRPr sz="600" b="0">
                <a:solidFill>
                  <a:srgbClr val="FFFFFF"/>
                </a:solidFill>
                <a:latin typeface="Segoe UI"/>
              </a:defRPr>
            </a:pPr>
          </a:p>
          <a:p>
            <a:pPr>
              <a:spcAft>
                <a:spcPts val="400"/>
              </a:spcAft>
              <a:defRPr sz="1400" b="1">
                <a:solidFill>
                  <a:srgbClr val="D13438"/>
                </a:solidFill>
                <a:latin typeface="Segoe UI"/>
              </a:defRPr>
            </a:pPr>
            <a:r>
              <a:t>Security (3 jobs)</a:t>
            </a:r>
          </a:p>
          <a:p>
            <a:pPr>
              <a:spcAft>
                <a:spcPts val="400"/>
              </a:spcAft>
              <a:defRPr sz="1200" b="0">
                <a:solidFill>
                  <a:srgbClr val="909090"/>
                </a:solidFill>
                <a:latin typeface="Segoe UI"/>
              </a:defRPr>
            </a:pPr>
            <a:r>
              <a:t>  Dependency pinning, SHA staleness, copyright</a:t>
            </a:r>
          </a:p>
          <a:p>
            <a:pPr>
              <a:spcAft>
                <a:spcPts val="400"/>
              </a:spcAft>
              <a:defRPr sz="600" b="0">
                <a:solidFill>
                  <a:srgbClr val="FFFFFF"/>
                </a:solidFill>
                <a:latin typeface="Segoe UI"/>
              </a:defRPr>
            </a:pPr>
          </a:p>
          <a:p>
            <a:pPr>
              <a:spcAft>
                <a:spcPts val="400"/>
              </a:spcAft>
              <a:defRPr sz="1400" b="1">
                <a:solidFill>
                  <a:srgbClr val="8864D8"/>
                </a:solidFill>
                <a:latin typeface="Segoe UI"/>
              </a:defRPr>
            </a:pPr>
            <a:r>
              <a:t>Schema Validation</a:t>
            </a:r>
          </a:p>
          <a:p>
            <a:pPr>
              <a:spcAft>
                <a:spcPts val="400"/>
              </a:spcAft>
              <a:defRPr sz="1200" b="0">
                <a:solidFill>
                  <a:srgbClr val="909090"/>
                </a:solidFill>
                <a:latin typeface="Segoe UI"/>
              </a:defRPr>
            </a:pPr>
            <a:r>
              <a:t>  Collection YAML → plugin generation → extension packaging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Extension Ecosystem</a:t>
            </a:r>
          </a:p>
        </p:txBody>
      </p:sp>
      <p:sp>
        <p:nvSpPr>
          <p:cNvPr id="3" name="Rectangle 2"/>
          <p:cNvSpPr/>
          <p:nvPr/>
        </p:nvSpPr>
        <p:spPr>
          <a:xfrm>
            <a:off x="731520" y="1005840"/>
            <a:ext cx="731520" cy="50800"/>
          </a:xfrm>
          <a:prstGeom prst="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Extension</a:t>
            </a:r>
          </a:p>
        </p:txBody>
      </p:sp>
      <p:sp>
        <p:nvSpPr>
          <p:cNvPr id="5" name="Rounded Rectangle 4"/>
          <p:cNvSpPr/>
          <p:nvPr/>
        </p:nvSpPr>
        <p:spPr>
          <a:xfrm>
            <a:off x="3657600" y="1371600"/>
            <a:ext cx="109728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Agents</a:t>
            </a:r>
          </a:p>
        </p:txBody>
      </p:sp>
      <p:sp>
        <p:nvSpPr>
          <p:cNvPr id="6" name="Rounded Rectangle 5"/>
          <p:cNvSpPr/>
          <p:nvPr/>
        </p:nvSpPr>
        <p:spPr>
          <a:xfrm>
            <a:off x="4846320" y="1371600"/>
            <a:ext cx="109728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Prompts</a:t>
            </a:r>
          </a:p>
        </p:txBody>
      </p:sp>
      <p:sp>
        <p:nvSpPr>
          <p:cNvPr id="7" name="Rounded Rectangle 6"/>
          <p:cNvSpPr/>
          <p:nvPr/>
        </p:nvSpPr>
        <p:spPr>
          <a:xfrm>
            <a:off x="6035040" y="1371600"/>
            <a:ext cx="13716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Instructions</a:t>
            </a:r>
          </a:p>
        </p:txBody>
      </p:sp>
      <p:sp>
        <p:nvSpPr>
          <p:cNvPr id="8" name="Rounded Rectangle 7"/>
          <p:cNvSpPr/>
          <p:nvPr/>
        </p:nvSpPr>
        <p:spPr>
          <a:xfrm>
            <a:off x="7589520" y="1371600"/>
            <a:ext cx="36576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Focus</a:t>
            </a:r>
          </a:p>
        </p:txBody>
      </p:sp>
      <p:sp>
        <p:nvSpPr>
          <p:cNvPr id="9" name="Rounded Rectangle 8"/>
          <p:cNvSpPr/>
          <p:nvPr/>
        </p:nvSpPr>
        <p:spPr>
          <a:xfrm>
            <a:off x="731520" y="18288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hve-core</a:t>
            </a:r>
          </a:p>
        </p:txBody>
      </p:sp>
      <p:sp>
        <p:nvSpPr>
          <p:cNvPr id="10" name="TextBox 9"/>
          <p:cNvSpPr txBox="1"/>
          <p:nvPr/>
        </p:nvSpPr>
        <p:spPr>
          <a:xfrm>
            <a:off x="3657600" y="1828800"/>
            <a:ext cx="1097280" cy="365760"/>
          </a:xfrm>
          <a:prstGeom prst="rect">
            <a:avLst/>
          </a:prstGeom>
          <a:noFill/>
        </p:spPr>
        <p:txBody>
          <a:bodyPr wrap="square">
            <a:spAutoFit/>
          </a:bodyPr>
          <a:lstStyle/>
          <a:p>
            <a:pPr algn="ctr">
              <a:defRPr sz="1100" b="0">
                <a:solidFill>
                  <a:srgbClr val="FFFFFF"/>
                </a:solidFill>
                <a:latin typeface="Segoe UI"/>
              </a:defRPr>
            </a:pPr>
            <a:r>
              <a:t>21</a:t>
            </a:r>
          </a:p>
        </p:txBody>
      </p:sp>
      <p:sp>
        <p:nvSpPr>
          <p:cNvPr id="11" name="TextBox 10"/>
          <p:cNvSpPr txBox="1"/>
          <p:nvPr/>
        </p:nvSpPr>
        <p:spPr>
          <a:xfrm>
            <a:off x="4846320" y="1828800"/>
            <a:ext cx="1097280" cy="365760"/>
          </a:xfrm>
          <a:prstGeom prst="rect">
            <a:avLst/>
          </a:prstGeom>
          <a:noFill/>
        </p:spPr>
        <p:txBody>
          <a:bodyPr wrap="square">
            <a:spAutoFit/>
          </a:bodyPr>
          <a:lstStyle/>
          <a:p>
            <a:pPr algn="ctr">
              <a:defRPr sz="1100" b="0">
                <a:solidFill>
                  <a:srgbClr val="FFFFFF"/>
                </a:solidFill>
                <a:latin typeface="Segoe UI"/>
              </a:defRPr>
            </a:pPr>
            <a:r>
              <a:t>23</a:t>
            </a:r>
          </a:p>
        </p:txBody>
      </p:sp>
      <p:sp>
        <p:nvSpPr>
          <p:cNvPr id="12" name="TextBox 11"/>
          <p:cNvSpPr txBox="1"/>
          <p:nvPr/>
        </p:nvSpPr>
        <p:spPr>
          <a:xfrm>
            <a:off x="6035040" y="1828800"/>
            <a:ext cx="1371600" cy="365760"/>
          </a:xfrm>
          <a:prstGeom prst="rect">
            <a:avLst/>
          </a:prstGeom>
          <a:noFill/>
        </p:spPr>
        <p:txBody>
          <a:bodyPr wrap="square">
            <a:spAutoFit/>
          </a:bodyPr>
          <a:lstStyle/>
          <a:p>
            <a:pPr algn="ctr">
              <a:defRPr sz="1100" b="0">
                <a:solidFill>
                  <a:srgbClr val="FFFFFF"/>
                </a:solidFill>
                <a:latin typeface="Segoe UI"/>
              </a:defRPr>
            </a:pPr>
            <a:r>
              <a:t>18</a:t>
            </a:r>
          </a:p>
        </p:txBody>
      </p:sp>
      <p:sp>
        <p:nvSpPr>
          <p:cNvPr id="13" name="TextBox 12"/>
          <p:cNvSpPr txBox="1"/>
          <p:nvPr/>
        </p:nvSpPr>
        <p:spPr>
          <a:xfrm>
            <a:off x="7589520" y="1828800"/>
            <a:ext cx="3657600" cy="365760"/>
          </a:xfrm>
          <a:prstGeom prst="rect">
            <a:avLst/>
          </a:prstGeom>
          <a:noFill/>
        </p:spPr>
        <p:txBody>
          <a:bodyPr wrap="square">
            <a:spAutoFit/>
          </a:bodyPr>
          <a:lstStyle/>
          <a:p>
            <a:pPr algn="l">
              <a:defRPr sz="1100" b="0">
                <a:solidFill>
                  <a:srgbClr val="909090"/>
                </a:solidFill>
                <a:latin typeface="Segoe UI"/>
              </a:defRPr>
            </a:pPr>
            <a:r>
              <a:t>Core RPI + all foundations</a:t>
            </a:r>
          </a:p>
        </p:txBody>
      </p:sp>
      <p:sp>
        <p:nvSpPr>
          <p:cNvPr id="14" name="TextBox 13"/>
          <p:cNvSpPr txBox="1"/>
          <p:nvPr/>
        </p:nvSpPr>
        <p:spPr>
          <a:xfrm>
            <a:off x="731520" y="2286000"/>
            <a:ext cx="2743200" cy="365760"/>
          </a:xfrm>
          <a:prstGeom prst="rect">
            <a:avLst/>
          </a:prstGeom>
          <a:noFill/>
        </p:spPr>
        <p:txBody>
          <a:bodyPr wrap="square">
            <a:spAutoFit/>
          </a:bodyPr>
          <a:lstStyle/>
          <a:p>
            <a:pPr algn="l">
              <a:defRPr sz="1100" b="0">
                <a:solidFill>
                  <a:srgbClr val="E0E0E0"/>
                </a:solidFill>
                <a:latin typeface="Segoe UI"/>
              </a:defRPr>
            </a:pPr>
            <a:r>
              <a:t>hve-ado</a:t>
            </a:r>
          </a:p>
        </p:txBody>
      </p:sp>
      <p:sp>
        <p:nvSpPr>
          <p:cNvPr id="15" name="TextBox 14"/>
          <p:cNvSpPr txBox="1"/>
          <p:nvPr/>
        </p:nvSpPr>
        <p:spPr>
          <a:xfrm>
            <a:off x="3657600" y="2286000"/>
            <a:ext cx="1097280" cy="365760"/>
          </a:xfrm>
          <a:prstGeom prst="rect">
            <a:avLst/>
          </a:prstGeom>
          <a:noFill/>
        </p:spPr>
        <p:txBody>
          <a:bodyPr wrap="square">
            <a:spAutoFit/>
          </a:bodyPr>
          <a:lstStyle/>
          <a:p>
            <a:pPr algn="ctr">
              <a:defRPr sz="1100" b="0">
                <a:solidFill>
                  <a:srgbClr val="FFFFFF"/>
                </a:solidFill>
                <a:latin typeface="Segoe UI"/>
              </a:defRPr>
            </a:pPr>
            <a:r>
              <a:t>9</a:t>
            </a:r>
          </a:p>
        </p:txBody>
      </p:sp>
      <p:sp>
        <p:nvSpPr>
          <p:cNvPr id="16" name="TextBox 15"/>
          <p:cNvSpPr txBox="1"/>
          <p:nvPr/>
        </p:nvSpPr>
        <p:spPr>
          <a:xfrm>
            <a:off x="4846320" y="2286000"/>
            <a:ext cx="1097280" cy="365760"/>
          </a:xfrm>
          <a:prstGeom prst="rect">
            <a:avLst/>
          </a:prstGeom>
          <a:noFill/>
        </p:spPr>
        <p:txBody>
          <a:bodyPr wrap="square">
            <a:spAutoFit/>
          </a:bodyPr>
          <a:lstStyle/>
          <a:p>
            <a:pPr algn="ctr">
              <a:defRPr sz="1100" b="0">
                <a:solidFill>
                  <a:srgbClr val="FFFFFF"/>
                </a:solidFill>
                <a:latin typeface="Segoe UI"/>
              </a:defRPr>
            </a:pPr>
            <a:r>
              <a:t>19</a:t>
            </a:r>
          </a:p>
        </p:txBody>
      </p:sp>
      <p:sp>
        <p:nvSpPr>
          <p:cNvPr id="17" name="TextBox 16"/>
          <p:cNvSpPr txBox="1"/>
          <p:nvPr/>
        </p:nvSpPr>
        <p:spPr>
          <a:xfrm>
            <a:off x="6035040" y="2286000"/>
            <a:ext cx="1371600" cy="365760"/>
          </a:xfrm>
          <a:prstGeom prst="rect">
            <a:avLst/>
          </a:prstGeom>
          <a:noFill/>
        </p:spPr>
        <p:txBody>
          <a:bodyPr wrap="square">
            <a:spAutoFit/>
          </a:bodyPr>
          <a:lstStyle/>
          <a:p>
            <a:pPr algn="ctr">
              <a:defRPr sz="1100" b="0">
                <a:solidFill>
                  <a:srgbClr val="FFFFFF"/>
                </a:solidFill>
                <a:latin typeface="Segoe UI"/>
              </a:defRPr>
            </a:pPr>
            <a:r>
              <a:t>10</a:t>
            </a:r>
          </a:p>
        </p:txBody>
      </p:sp>
      <p:sp>
        <p:nvSpPr>
          <p:cNvPr id="18" name="TextBox 17"/>
          <p:cNvSpPr txBox="1"/>
          <p:nvPr/>
        </p:nvSpPr>
        <p:spPr>
          <a:xfrm>
            <a:off x="7589520" y="2286000"/>
            <a:ext cx="3657600" cy="365760"/>
          </a:xfrm>
          <a:prstGeom prst="rect">
            <a:avLst/>
          </a:prstGeom>
          <a:noFill/>
        </p:spPr>
        <p:txBody>
          <a:bodyPr wrap="square">
            <a:spAutoFit/>
          </a:bodyPr>
          <a:lstStyle/>
          <a:p>
            <a:pPr algn="l">
              <a:defRPr sz="1100" b="0">
                <a:solidFill>
                  <a:srgbClr val="909090"/>
                </a:solidFill>
                <a:latin typeface="Segoe UI"/>
              </a:defRPr>
            </a:pPr>
            <a:r>
              <a:t>Azure DevOps integration</a:t>
            </a:r>
          </a:p>
        </p:txBody>
      </p:sp>
      <p:sp>
        <p:nvSpPr>
          <p:cNvPr id="19" name="TextBox 18"/>
          <p:cNvSpPr txBox="1"/>
          <p:nvPr/>
        </p:nvSpPr>
        <p:spPr>
          <a:xfrm>
            <a:off x="731520" y="2743200"/>
            <a:ext cx="2743200" cy="365760"/>
          </a:xfrm>
          <a:prstGeom prst="rect">
            <a:avLst/>
          </a:prstGeom>
          <a:noFill/>
        </p:spPr>
        <p:txBody>
          <a:bodyPr wrap="square">
            <a:spAutoFit/>
          </a:bodyPr>
          <a:lstStyle/>
          <a:p>
            <a:pPr algn="l">
              <a:defRPr sz="1100" b="0">
                <a:solidFill>
                  <a:srgbClr val="E0E0E0"/>
                </a:solidFill>
                <a:latin typeface="Segoe UI"/>
              </a:defRPr>
            </a:pPr>
            <a:r>
              <a:t>hve-github</a:t>
            </a:r>
          </a:p>
        </p:txBody>
      </p:sp>
      <p:sp>
        <p:nvSpPr>
          <p:cNvPr id="20" name="TextBox 19"/>
          <p:cNvSpPr txBox="1"/>
          <p:nvPr/>
        </p:nvSpPr>
        <p:spPr>
          <a:xfrm>
            <a:off x="3657600" y="2743200"/>
            <a:ext cx="1097280" cy="365760"/>
          </a:xfrm>
          <a:prstGeom prst="rect">
            <a:avLst/>
          </a:prstGeom>
          <a:noFill/>
        </p:spPr>
        <p:txBody>
          <a:bodyPr wrap="square">
            <a:spAutoFit/>
          </a:bodyPr>
          <a:lstStyle/>
          <a:p>
            <a:pPr algn="ctr">
              <a:defRPr sz="1100" b="0">
                <a:solidFill>
                  <a:srgbClr val="FFFFFF"/>
                </a:solidFill>
                <a:latin typeface="Segoe UI"/>
              </a:defRPr>
            </a:pPr>
            <a:r>
              <a:t>9</a:t>
            </a:r>
          </a:p>
        </p:txBody>
      </p:sp>
      <p:sp>
        <p:nvSpPr>
          <p:cNvPr id="21" name="TextBox 20"/>
          <p:cNvSpPr txBox="1"/>
          <p:nvPr/>
        </p:nvSpPr>
        <p:spPr>
          <a:xfrm>
            <a:off x="4846320" y="2743200"/>
            <a:ext cx="1097280" cy="365760"/>
          </a:xfrm>
          <a:prstGeom prst="rect">
            <a:avLst/>
          </a:prstGeom>
          <a:noFill/>
        </p:spPr>
        <p:txBody>
          <a:bodyPr wrap="square">
            <a:spAutoFit/>
          </a:bodyPr>
          <a:lstStyle/>
          <a:p>
            <a:pPr algn="ctr">
              <a:defRPr sz="1100" b="0">
                <a:solidFill>
                  <a:srgbClr val="FFFFFF"/>
                </a:solidFill>
                <a:latin typeface="Segoe UI"/>
              </a:defRPr>
            </a:pPr>
            <a:r>
              <a:t>19</a:t>
            </a:r>
          </a:p>
        </p:txBody>
      </p:sp>
      <p:sp>
        <p:nvSpPr>
          <p:cNvPr id="22" name="TextBox 21"/>
          <p:cNvSpPr txBox="1"/>
          <p:nvPr/>
        </p:nvSpPr>
        <p:spPr>
          <a:xfrm>
            <a:off x="6035040" y="2743200"/>
            <a:ext cx="1371600" cy="365760"/>
          </a:xfrm>
          <a:prstGeom prst="rect">
            <a:avLst/>
          </a:prstGeom>
          <a:noFill/>
        </p:spPr>
        <p:txBody>
          <a:bodyPr wrap="square">
            <a:spAutoFit/>
          </a:bodyPr>
          <a:lstStyle/>
          <a:p>
            <a:pPr algn="ctr">
              <a:defRPr sz="1100" b="0">
                <a:solidFill>
                  <a:srgbClr val="FFFFFF"/>
                </a:solidFill>
                <a:latin typeface="Segoe UI"/>
              </a:defRPr>
            </a:pPr>
            <a:r>
              <a:t>10</a:t>
            </a:r>
          </a:p>
        </p:txBody>
      </p:sp>
      <p:sp>
        <p:nvSpPr>
          <p:cNvPr id="23" name="TextBox 22"/>
          <p:cNvSpPr txBox="1"/>
          <p:nvPr/>
        </p:nvSpPr>
        <p:spPr>
          <a:xfrm>
            <a:off x="7589520" y="2743200"/>
            <a:ext cx="3657600" cy="365760"/>
          </a:xfrm>
          <a:prstGeom prst="rect">
            <a:avLst/>
          </a:prstGeom>
          <a:noFill/>
        </p:spPr>
        <p:txBody>
          <a:bodyPr wrap="square">
            <a:spAutoFit/>
          </a:bodyPr>
          <a:lstStyle/>
          <a:p>
            <a:pPr algn="l">
              <a:defRPr sz="1100" b="0">
                <a:solidFill>
                  <a:srgbClr val="909090"/>
                </a:solidFill>
                <a:latin typeface="Segoe UI"/>
              </a:defRPr>
            </a:pPr>
            <a:r>
              <a:t>GitHub backlog management</a:t>
            </a:r>
          </a:p>
        </p:txBody>
      </p:sp>
      <p:sp>
        <p:nvSpPr>
          <p:cNvPr id="24" name="TextBox 23"/>
          <p:cNvSpPr txBox="1"/>
          <p:nvPr/>
        </p:nvSpPr>
        <p:spPr>
          <a:xfrm>
            <a:off x="731520" y="3200400"/>
            <a:ext cx="2743200" cy="365760"/>
          </a:xfrm>
          <a:prstGeom prst="rect">
            <a:avLst/>
          </a:prstGeom>
          <a:noFill/>
        </p:spPr>
        <p:txBody>
          <a:bodyPr wrap="square">
            <a:spAutoFit/>
          </a:bodyPr>
          <a:lstStyle/>
          <a:p>
            <a:pPr algn="l">
              <a:defRPr sz="1100" b="0">
                <a:solidFill>
                  <a:srgbClr val="E0E0E0"/>
                </a:solidFill>
                <a:latin typeface="Segoe UI"/>
              </a:defRPr>
            </a:pPr>
            <a:r>
              <a:t>hve-project-planning</a:t>
            </a:r>
          </a:p>
        </p:txBody>
      </p:sp>
      <p:sp>
        <p:nvSpPr>
          <p:cNvPr id="25" name="TextBox 24"/>
          <p:cNvSpPr txBox="1"/>
          <p:nvPr/>
        </p:nvSpPr>
        <p:spPr>
          <a:xfrm>
            <a:off x="3657600" y="3200400"/>
            <a:ext cx="1097280" cy="365760"/>
          </a:xfrm>
          <a:prstGeom prst="rect">
            <a:avLst/>
          </a:prstGeom>
          <a:noFill/>
        </p:spPr>
        <p:txBody>
          <a:bodyPr wrap="square">
            <a:spAutoFit/>
          </a:bodyPr>
          <a:lstStyle/>
          <a:p>
            <a:pPr algn="ctr">
              <a:defRPr sz="1100" b="0">
                <a:solidFill>
                  <a:srgbClr val="FFFFFF"/>
                </a:solidFill>
                <a:latin typeface="Segoe UI"/>
              </a:defRPr>
            </a:pPr>
            <a:r>
              <a:t>13</a:t>
            </a:r>
          </a:p>
        </p:txBody>
      </p:sp>
      <p:sp>
        <p:nvSpPr>
          <p:cNvPr id="26" name="TextBox 25"/>
          <p:cNvSpPr txBox="1"/>
          <p:nvPr/>
        </p:nvSpPr>
        <p:spPr>
          <a:xfrm>
            <a:off x="4846320" y="3200400"/>
            <a:ext cx="1097280" cy="365760"/>
          </a:xfrm>
          <a:prstGeom prst="rect">
            <a:avLst/>
          </a:prstGeom>
          <a:noFill/>
        </p:spPr>
        <p:txBody>
          <a:bodyPr wrap="square">
            <a:spAutoFit/>
          </a:bodyPr>
          <a:lstStyle/>
          <a:p>
            <a:pPr algn="ctr">
              <a:defRPr sz="1100" b="0">
                <a:solidFill>
                  <a:srgbClr val="FFFFFF"/>
                </a:solidFill>
                <a:latin typeface="Segoe UI"/>
              </a:defRPr>
            </a:pPr>
            <a:r>
              <a:t>15</a:t>
            </a:r>
          </a:p>
        </p:txBody>
      </p:sp>
      <p:sp>
        <p:nvSpPr>
          <p:cNvPr id="27" name="TextBox 26"/>
          <p:cNvSpPr txBox="1"/>
          <p:nvPr/>
        </p:nvSpPr>
        <p:spPr>
          <a:xfrm>
            <a:off x="6035040" y="3200400"/>
            <a:ext cx="1371600" cy="365760"/>
          </a:xfrm>
          <a:prstGeom prst="rect">
            <a:avLst/>
          </a:prstGeom>
          <a:noFill/>
        </p:spPr>
        <p:txBody>
          <a:bodyPr wrap="square">
            <a:spAutoFit/>
          </a:bodyPr>
          <a:lstStyle/>
          <a:p>
            <a:pPr algn="ctr">
              <a:defRPr sz="1100" b="0">
                <a:solidFill>
                  <a:srgbClr val="FFFFFF"/>
                </a:solidFill>
                <a:latin typeface="Segoe UI"/>
              </a:defRPr>
            </a:pPr>
            <a:r>
              <a:t>5</a:t>
            </a:r>
          </a:p>
        </p:txBody>
      </p:sp>
      <p:sp>
        <p:nvSpPr>
          <p:cNvPr id="28" name="TextBox 27"/>
          <p:cNvSpPr txBox="1"/>
          <p:nvPr/>
        </p:nvSpPr>
        <p:spPr>
          <a:xfrm>
            <a:off x="7589520" y="3200400"/>
            <a:ext cx="3657600" cy="365760"/>
          </a:xfrm>
          <a:prstGeom prst="rect">
            <a:avLst/>
          </a:prstGeom>
          <a:noFill/>
        </p:spPr>
        <p:txBody>
          <a:bodyPr wrap="square">
            <a:spAutoFit/>
          </a:bodyPr>
          <a:lstStyle/>
          <a:p>
            <a:pPr algn="l">
              <a:defRPr sz="1100" b="0">
                <a:solidFill>
                  <a:srgbClr val="909090"/>
                </a:solidFill>
                <a:latin typeface="Segoe UI"/>
              </a:defRPr>
            </a:pPr>
            <a:r>
              <a:t>PRD / BRD / ADR workflows</a:t>
            </a:r>
          </a:p>
        </p:txBody>
      </p:sp>
      <p:sp>
        <p:nvSpPr>
          <p:cNvPr id="29" name="TextBox 28"/>
          <p:cNvSpPr txBox="1"/>
          <p:nvPr/>
        </p:nvSpPr>
        <p:spPr>
          <a:xfrm>
            <a:off x="731520" y="3657600"/>
            <a:ext cx="2743200" cy="365760"/>
          </a:xfrm>
          <a:prstGeom prst="rect">
            <a:avLst/>
          </a:prstGeom>
          <a:noFill/>
        </p:spPr>
        <p:txBody>
          <a:bodyPr wrap="square">
            <a:spAutoFit/>
          </a:bodyPr>
          <a:lstStyle/>
          <a:p>
            <a:pPr algn="l">
              <a:defRPr sz="1100" b="0">
                <a:solidFill>
                  <a:srgbClr val="E0E0E0"/>
                </a:solidFill>
                <a:latin typeface="Segoe UI"/>
              </a:defRPr>
            </a:pPr>
            <a:r>
              <a:t>hve-security-planning</a:t>
            </a:r>
          </a:p>
        </p:txBody>
      </p:sp>
      <p:sp>
        <p:nvSpPr>
          <p:cNvPr id="30" name="TextBox 29"/>
          <p:cNvSpPr txBox="1"/>
          <p:nvPr/>
        </p:nvSpPr>
        <p:spPr>
          <a:xfrm>
            <a:off x="3657600" y="3657600"/>
            <a:ext cx="1097280" cy="365760"/>
          </a:xfrm>
          <a:prstGeom prst="rect">
            <a:avLst/>
          </a:prstGeom>
          <a:noFill/>
        </p:spPr>
        <p:txBody>
          <a:bodyPr wrap="square">
            <a:spAutoFit/>
          </a:bodyPr>
          <a:lstStyle/>
          <a:p>
            <a:pPr algn="ctr">
              <a:defRPr sz="1100" b="0">
                <a:solidFill>
                  <a:srgbClr val="FFFFFF"/>
                </a:solidFill>
                <a:latin typeface="Segoe UI"/>
              </a:defRPr>
            </a:pPr>
            <a:r>
              <a:t>9</a:t>
            </a:r>
          </a:p>
        </p:txBody>
      </p:sp>
      <p:sp>
        <p:nvSpPr>
          <p:cNvPr id="31" name="TextBox 30"/>
          <p:cNvSpPr txBox="1"/>
          <p:nvPr/>
        </p:nvSpPr>
        <p:spPr>
          <a:xfrm>
            <a:off x="4846320" y="3657600"/>
            <a:ext cx="1097280" cy="365760"/>
          </a:xfrm>
          <a:prstGeom prst="rect">
            <a:avLst/>
          </a:prstGeom>
          <a:noFill/>
        </p:spPr>
        <p:txBody>
          <a:bodyPr wrap="square">
            <a:spAutoFit/>
          </a:bodyPr>
          <a:lstStyle/>
          <a:p>
            <a:pPr algn="ctr">
              <a:defRPr sz="1100" b="0">
                <a:solidFill>
                  <a:srgbClr val="FFFFFF"/>
                </a:solidFill>
                <a:latin typeface="Segoe UI"/>
              </a:defRPr>
            </a:pPr>
            <a:r>
              <a:t>16</a:t>
            </a:r>
          </a:p>
        </p:txBody>
      </p:sp>
      <p:sp>
        <p:nvSpPr>
          <p:cNvPr id="32" name="TextBox 31"/>
          <p:cNvSpPr txBox="1"/>
          <p:nvPr/>
        </p:nvSpPr>
        <p:spPr>
          <a:xfrm>
            <a:off x="6035040" y="3657600"/>
            <a:ext cx="1371600" cy="365760"/>
          </a:xfrm>
          <a:prstGeom prst="rect">
            <a:avLst/>
          </a:prstGeom>
          <a:noFill/>
        </p:spPr>
        <p:txBody>
          <a:bodyPr wrap="square">
            <a:spAutoFit/>
          </a:bodyPr>
          <a:lstStyle/>
          <a:p>
            <a:pPr algn="ctr">
              <a:defRPr sz="1100" b="0">
                <a:solidFill>
                  <a:srgbClr val="FFFFFF"/>
                </a:solidFill>
                <a:latin typeface="Segoe UI"/>
              </a:defRPr>
            </a:pPr>
            <a:r>
              <a:t>5</a:t>
            </a:r>
          </a:p>
        </p:txBody>
      </p:sp>
      <p:sp>
        <p:nvSpPr>
          <p:cNvPr id="33" name="TextBox 32"/>
          <p:cNvSpPr txBox="1"/>
          <p:nvPr/>
        </p:nvSpPr>
        <p:spPr>
          <a:xfrm>
            <a:off x="7589520" y="3657600"/>
            <a:ext cx="3657600" cy="365760"/>
          </a:xfrm>
          <a:prstGeom prst="rect">
            <a:avLst/>
          </a:prstGeom>
          <a:noFill/>
        </p:spPr>
        <p:txBody>
          <a:bodyPr wrap="square">
            <a:spAutoFit/>
          </a:bodyPr>
          <a:lstStyle/>
          <a:p>
            <a:pPr algn="l">
              <a:defRPr sz="1100" b="0">
                <a:solidFill>
                  <a:srgbClr val="909090"/>
                </a:solidFill>
                <a:latin typeface="Segoe UI"/>
              </a:defRPr>
            </a:pPr>
            <a:r>
              <a:t>Threat modeling</a:t>
            </a:r>
          </a:p>
        </p:txBody>
      </p:sp>
      <p:sp>
        <p:nvSpPr>
          <p:cNvPr id="34" name="TextBox 33"/>
          <p:cNvSpPr txBox="1"/>
          <p:nvPr/>
        </p:nvSpPr>
        <p:spPr>
          <a:xfrm>
            <a:off x="731520" y="4114800"/>
            <a:ext cx="2743200" cy="365760"/>
          </a:xfrm>
          <a:prstGeom prst="rect">
            <a:avLst/>
          </a:prstGeom>
          <a:noFill/>
        </p:spPr>
        <p:txBody>
          <a:bodyPr wrap="square">
            <a:spAutoFit/>
          </a:bodyPr>
          <a:lstStyle/>
          <a:p>
            <a:pPr algn="l">
              <a:defRPr sz="1100" b="0">
                <a:solidFill>
                  <a:srgbClr val="E0E0E0"/>
                </a:solidFill>
                <a:latin typeface="Segoe UI"/>
              </a:defRPr>
            </a:pPr>
            <a:r>
              <a:t>hve-rpi</a:t>
            </a:r>
          </a:p>
        </p:txBody>
      </p:sp>
      <p:sp>
        <p:nvSpPr>
          <p:cNvPr id="35" name="TextBox 34"/>
          <p:cNvSpPr txBox="1"/>
          <p:nvPr/>
        </p:nvSpPr>
        <p:spPr>
          <a:xfrm>
            <a:off x="3657600" y="4114800"/>
            <a:ext cx="1097280" cy="365760"/>
          </a:xfrm>
          <a:prstGeom prst="rect">
            <a:avLst/>
          </a:prstGeom>
          <a:noFill/>
        </p:spPr>
        <p:txBody>
          <a:bodyPr wrap="square">
            <a:spAutoFit/>
          </a:bodyPr>
          <a:lstStyle/>
          <a:p>
            <a:pPr algn="ctr">
              <a:defRPr sz="1100" b="0">
                <a:solidFill>
                  <a:srgbClr val="FFFFFF"/>
                </a:solidFill>
                <a:latin typeface="Segoe UI"/>
              </a:defRPr>
            </a:pPr>
            <a:r>
              <a:t>8</a:t>
            </a:r>
          </a:p>
        </p:txBody>
      </p:sp>
      <p:sp>
        <p:nvSpPr>
          <p:cNvPr id="36" name="TextBox 35"/>
          <p:cNvSpPr txBox="1"/>
          <p:nvPr/>
        </p:nvSpPr>
        <p:spPr>
          <a:xfrm>
            <a:off x="4846320" y="4114800"/>
            <a:ext cx="1097280" cy="365760"/>
          </a:xfrm>
          <a:prstGeom prst="rect">
            <a:avLst/>
          </a:prstGeom>
          <a:noFill/>
        </p:spPr>
        <p:txBody>
          <a:bodyPr wrap="square">
            <a:spAutoFit/>
          </a:bodyPr>
          <a:lstStyle/>
          <a:p>
            <a:pPr algn="ctr">
              <a:defRPr sz="1100" b="0">
                <a:solidFill>
                  <a:srgbClr val="FFFFFF"/>
                </a:solidFill>
                <a:latin typeface="Segoe UI"/>
              </a:defRPr>
            </a:pPr>
            <a:r>
              <a:t>14</a:t>
            </a:r>
          </a:p>
        </p:txBody>
      </p:sp>
      <p:sp>
        <p:nvSpPr>
          <p:cNvPr id="37" name="TextBox 36"/>
          <p:cNvSpPr txBox="1"/>
          <p:nvPr/>
        </p:nvSpPr>
        <p:spPr>
          <a:xfrm>
            <a:off x="6035040" y="4114800"/>
            <a:ext cx="1371600" cy="365760"/>
          </a:xfrm>
          <a:prstGeom prst="rect">
            <a:avLst/>
          </a:prstGeom>
          <a:noFill/>
        </p:spPr>
        <p:txBody>
          <a:bodyPr wrap="square">
            <a:spAutoFit/>
          </a:bodyPr>
          <a:lstStyle/>
          <a:p>
            <a:pPr algn="ctr">
              <a:defRPr sz="1100" b="0">
                <a:solidFill>
                  <a:srgbClr val="FFFFFF"/>
                </a:solidFill>
                <a:latin typeface="Segoe UI"/>
              </a:defRPr>
            </a:pPr>
            <a:r>
              <a:t>5</a:t>
            </a:r>
          </a:p>
        </p:txBody>
      </p:sp>
      <p:sp>
        <p:nvSpPr>
          <p:cNvPr id="38" name="TextBox 37"/>
          <p:cNvSpPr txBox="1"/>
          <p:nvPr/>
        </p:nvSpPr>
        <p:spPr>
          <a:xfrm>
            <a:off x="7589520" y="4114800"/>
            <a:ext cx="3657600" cy="365760"/>
          </a:xfrm>
          <a:prstGeom prst="rect">
            <a:avLst/>
          </a:prstGeom>
          <a:noFill/>
        </p:spPr>
        <p:txBody>
          <a:bodyPr wrap="square">
            <a:spAutoFit/>
          </a:bodyPr>
          <a:lstStyle/>
          <a:p>
            <a:pPr algn="l">
              <a:defRPr sz="1100" b="0">
                <a:solidFill>
                  <a:srgbClr val="909090"/>
                </a:solidFill>
                <a:latin typeface="Segoe UI"/>
              </a:defRPr>
            </a:pPr>
            <a:r>
              <a:t>Standalone RPI cycle</a:t>
            </a:r>
          </a:p>
        </p:txBody>
      </p:sp>
      <p:sp>
        <p:nvSpPr>
          <p:cNvPr id="39" name="TextBox 38"/>
          <p:cNvSpPr txBox="1"/>
          <p:nvPr/>
        </p:nvSpPr>
        <p:spPr>
          <a:xfrm>
            <a:off x="731520" y="4572000"/>
            <a:ext cx="2743200" cy="365760"/>
          </a:xfrm>
          <a:prstGeom prst="rect">
            <a:avLst/>
          </a:prstGeom>
          <a:noFill/>
        </p:spPr>
        <p:txBody>
          <a:bodyPr wrap="square">
            <a:spAutoFit/>
          </a:bodyPr>
          <a:lstStyle/>
          <a:p>
            <a:pPr algn="l">
              <a:defRPr sz="1100" b="0">
                <a:solidFill>
                  <a:srgbClr val="E0E0E0"/>
                </a:solidFill>
                <a:latin typeface="Segoe UI"/>
              </a:defRPr>
            </a:pPr>
            <a:r>
              <a:t>hve-prompt-engineering</a:t>
            </a:r>
          </a:p>
        </p:txBody>
      </p:sp>
      <p:sp>
        <p:nvSpPr>
          <p:cNvPr id="40" name="TextBox 39"/>
          <p:cNvSpPr txBox="1"/>
          <p:nvPr/>
        </p:nvSpPr>
        <p:spPr>
          <a:xfrm>
            <a:off x="3657600" y="4572000"/>
            <a:ext cx="1097280" cy="365760"/>
          </a:xfrm>
          <a:prstGeom prst="rect">
            <a:avLst/>
          </a:prstGeom>
          <a:noFill/>
        </p:spPr>
        <p:txBody>
          <a:bodyPr wrap="square">
            <a:spAutoFit/>
          </a:bodyPr>
          <a:lstStyle/>
          <a:p>
            <a:pPr algn="ctr">
              <a:defRPr sz="1100" b="0">
                <a:solidFill>
                  <a:srgbClr val="FFFFFF"/>
                </a:solidFill>
                <a:latin typeface="Segoe UI"/>
              </a:defRPr>
            </a:pPr>
            <a:r>
              <a:t>8</a:t>
            </a:r>
          </a:p>
        </p:txBody>
      </p:sp>
      <p:sp>
        <p:nvSpPr>
          <p:cNvPr id="41" name="TextBox 40"/>
          <p:cNvSpPr txBox="1"/>
          <p:nvPr/>
        </p:nvSpPr>
        <p:spPr>
          <a:xfrm>
            <a:off x="4846320" y="4572000"/>
            <a:ext cx="1097280" cy="365760"/>
          </a:xfrm>
          <a:prstGeom prst="rect">
            <a:avLst/>
          </a:prstGeom>
          <a:noFill/>
        </p:spPr>
        <p:txBody>
          <a:bodyPr wrap="square">
            <a:spAutoFit/>
          </a:bodyPr>
          <a:lstStyle/>
          <a:p>
            <a:pPr algn="ctr">
              <a:defRPr sz="1100" b="0">
                <a:solidFill>
                  <a:srgbClr val="FFFFFF"/>
                </a:solidFill>
                <a:latin typeface="Segoe UI"/>
              </a:defRPr>
            </a:pPr>
            <a:r>
              <a:t>14</a:t>
            </a:r>
          </a:p>
        </p:txBody>
      </p:sp>
      <p:sp>
        <p:nvSpPr>
          <p:cNvPr id="42" name="TextBox 41"/>
          <p:cNvSpPr txBox="1"/>
          <p:nvPr/>
        </p:nvSpPr>
        <p:spPr>
          <a:xfrm>
            <a:off x="6035040" y="4572000"/>
            <a:ext cx="1371600" cy="365760"/>
          </a:xfrm>
          <a:prstGeom prst="rect">
            <a:avLst/>
          </a:prstGeom>
          <a:noFill/>
        </p:spPr>
        <p:txBody>
          <a:bodyPr wrap="square">
            <a:spAutoFit/>
          </a:bodyPr>
          <a:lstStyle/>
          <a:p>
            <a:pPr algn="ctr">
              <a:defRPr sz="1100" b="0">
                <a:solidFill>
                  <a:srgbClr val="FFFFFF"/>
                </a:solidFill>
                <a:latin typeface="Segoe UI"/>
              </a:defRPr>
            </a:pPr>
            <a:r>
              <a:t>5</a:t>
            </a:r>
          </a:p>
        </p:txBody>
      </p:sp>
      <p:sp>
        <p:nvSpPr>
          <p:cNvPr id="43" name="TextBox 42"/>
          <p:cNvSpPr txBox="1"/>
          <p:nvPr/>
        </p:nvSpPr>
        <p:spPr>
          <a:xfrm>
            <a:off x="7589520" y="4572000"/>
            <a:ext cx="3657600" cy="365760"/>
          </a:xfrm>
          <a:prstGeom prst="rect">
            <a:avLst/>
          </a:prstGeom>
          <a:noFill/>
        </p:spPr>
        <p:txBody>
          <a:bodyPr wrap="square">
            <a:spAutoFit/>
          </a:bodyPr>
          <a:lstStyle/>
          <a:p>
            <a:pPr algn="l">
              <a:defRPr sz="1100" b="0">
                <a:solidFill>
                  <a:srgbClr val="909090"/>
                </a:solidFill>
                <a:latin typeface="Segoe UI"/>
              </a:defRPr>
            </a:pPr>
            <a:r>
              <a:t>Artifact authoring</a:t>
            </a:r>
          </a:p>
        </p:txBody>
      </p:sp>
      <p:sp>
        <p:nvSpPr>
          <p:cNvPr id="44" name="TextBox 43"/>
          <p:cNvSpPr txBox="1"/>
          <p:nvPr/>
        </p:nvSpPr>
        <p:spPr>
          <a:xfrm>
            <a:off x="731520" y="5029200"/>
            <a:ext cx="2743200" cy="365760"/>
          </a:xfrm>
          <a:prstGeom prst="rect">
            <a:avLst/>
          </a:prstGeom>
          <a:noFill/>
        </p:spPr>
        <p:txBody>
          <a:bodyPr wrap="square">
            <a:spAutoFit/>
          </a:bodyPr>
          <a:lstStyle/>
          <a:p>
            <a:pPr algn="l">
              <a:defRPr sz="1100" b="0">
                <a:solidFill>
                  <a:srgbClr val="E0E0E0"/>
                </a:solidFill>
                <a:latin typeface="Segoe UI"/>
              </a:defRPr>
            </a:pPr>
            <a:r>
              <a:t>hve-data-science</a:t>
            </a:r>
          </a:p>
        </p:txBody>
      </p:sp>
      <p:sp>
        <p:nvSpPr>
          <p:cNvPr id="45" name="TextBox 44"/>
          <p:cNvSpPr txBox="1"/>
          <p:nvPr/>
        </p:nvSpPr>
        <p:spPr>
          <a:xfrm>
            <a:off x="3657600" y="5029200"/>
            <a:ext cx="1097280" cy="365760"/>
          </a:xfrm>
          <a:prstGeom prst="rect">
            <a:avLst/>
          </a:prstGeom>
          <a:noFill/>
        </p:spPr>
        <p:txBody>
          <a:bodyPr wrap="square">
            <a:spAutoFit/>
          </a:bodyPr>
          <a:lstStyle/>
          <a:p>
            <a:pPr algn="ctr">
              <a:defRPr sz="1100" b="0">
                <a:solidFill>
                  <a:srgbClr val="FFFFFF"/>
                </a:solidFill>
                <a:latin typeface="Segoe UI"/>
              </a:defRPr>
            </a:pPr>
            <a:r>
              <a:t>1</a:t>
            </a:r>
          </a:p>
        </p:txBody>
      </p:sp>
      <p:sp>
        <p:nvSpPr>
          <p:cNvPr id="46" name="TextBox 45"/>
          <p:cNvSpPr txBox="1"/>
          <p:nvPr/>
        </p:nvSpPr>
        <p:spPr>
          <a:xfrm>
            <a:off x="4846320" y="5029200"/>
            <a:ext cx="1097280" cy="365760"/>
          </a:xfrm>
          <a:prstGeom prst="rect">
            <a:avLst/>
          </a:prstGeom>
          <a:noFill/>
        </p:spPr>
        <p:txBody>
          <a:bodyPr wrap="square">
            <a:spAutoFit/>
          </a:bodyPr>
          <a:lstStyle/>
          <a:p>
            <a:pPr algn="ctr">
              <a:defRPr sz="1100" b="0">
                <a:solidFill>
                  <a:srgbClr val="FFFFFF"/>
                </a:solidFill>
                <a:latin typeface="Segoe UI"/>
              </a:defRPr>
            </a:pPr>
            <a:r>
              <a:t>1</a:t>
            </a:r>
          </a:p>
        </p:txBody>
      </p:sp>
      <p:sp>
        <p:nvSpPr>
          <p:cNvPr id="47" name="TextBox 46"/>
          <p:cNvSpPr txBox="1"/>
          <p:nvPr/>
        </p:nvSpPr>
        <p:spPr>
          <a:xfrm>
            <a:off x="6035040" y="5029200"/>
            <a:ext cx="1371600" cy="365760"/>
          </a:xfrm>
          <a:prstGeom prst="rect">
            <a:avLst/>
          </a:prstGeom>
          <a:noFill/>
        </p:spPr>
        <p:txBody>
          <a:bodyPr wrap="square">
            <a:spAutoFit/>
          </a:bodyPr>
          <a:lstStyle/>
          <a:p>
            <a:pPr algn="ctr">
              <a:defRPr sz="1100" b="0">
                <a:solidFill>
                  <a:srgbClr val="FFFFFF"/>
                </a:solidFill>
                <a:latin typeface="Segoe UI"/>
              </a:defRPr>
            </a:pPr>
            <a:r>
              <a:t>0</a:t>
            </a:r>
          </a:p>
        </p:txBody>
      </p:sp>
      <p:sp>
        <p:nvSpPr>
          <p:cNvPr id="48" name="TextBox 47"/>
          <p:cNvSpPr txBox="1"/>
          <p:nvPr/>
        </p:nvSpPr>
        <p:spPr>
          <a:xfrm>
            <a:off x="7589520" y="5029200"/>
            <a:ext cx="3657600" cy="365760"/>
          </a:xfrm>
          <a:prstGeom prst="rect">
            <a:avLst/>
          </a:prstGeom>
          <a:noFill/>
        </p:spPr>
        <p:txBody>
          <a:bodyPr wrap="square">
            <a:spAutoFit/>
          </a:bodyPr>
          <a:lstStyle/>
          <a:p>
            <a:pPr algn="l">
              <a:defRPr sz="1100" b="0">
                <a:solidFill>
                  <a:srgbClr val="909090"/>
                </a:solidFill>
                <a:latin typeface="Segoe UI"/>
              </a:defRPr>
            </a:pPr>
            <a:r>
              <a:t>Data science workflows</a:t>
            </a:r>
          </a:p>
        </p:txBody>
      </p:sp>
      <p:sp>
        <p:nvSpPr>
          <p:cNvPr id="49" name="TextBox 48"/>
          <p:cNvSpPr txBox="1"/>
          <p:nvPr/>
        </p:nvSpPr>
        <p:spPr>
          <a:xfrm>
            <a:off x="731520" y="5669280"/>
            <a:ext cx="10058400" cy="457200"/>
          </a:xfrm>
          <a:prstGeom prst="rect">
            <a:avLst/>
          </a:prstGeom>
          <a:noFill/>
        </p:spPr>
        <p:txBody>
          <a:bodyPr wrap="square">
            <a:spAutoFit/>
          </a:bodyPr>
          <a:lstStyle/>
          <a:p>
            <a:pPr algn="l">
              <a:defRPr sz="1300" b="1">
                <a:solidFill>
                  <a:srgbClr val="038E8E"/>
                </a:solidFill>
                <a:latin typeface="Segoe UI"/>
              </a:defRPr>
            </a:pPr>
            <a:r>
              <a:t>Common base: 8 core agents + 5 core instructions shared across all extensions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Learning Curve &amp; Compounding Value</a:t>
            </a:r>
          </a:p>
        </p:txBody>
      </p:sp>
      <p:sp>
        <p:nvSpPr>
          <p:cNvPr id="3" name="Rectangle 2"/>
          <p:cNvSpPr/>
          <p:nvPr/>
        </p:nvSpPr>
        <p:spPr>
          <a:xfrm>
            <a:off x="731520" y="1005840"/>
            <a:ext cx="731520" cy="508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02920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The Honest Truth</a:t>
            </a:r>
          </a:p>
        </p:txBody>
      </p:sp>
      <p:sp>
        <p:nvSpPr>
          <p:cNvPr id="5" name="TextBox 4"/>
          <p:cNvSpPr txBox="1"/>
          <p:nvPr/>
        </p:nvSpPr>
        <p:spPr>
          <a:xfrm>
            <a:off x="731520" y="2011680"/>
            <a:ext cx="5029200" cy="2286000"/>
          </a:xfrm>
          <a:prstGeom prst="rect">
            <a:avLst/>
          </a:prstGeom>
          <a:noFill/>
        </p:spPr>
        <p:txBody>
          <a:bodyPr wrap="square">
            <a:spAutoFit/>
          </a:bodyPr>
          <a:lstStyle/>
          <a:p>
            <a:pPr>
              <a:spcAft>
                <a:spcPts val="400"/>
              </a:spcAft>
              <a:defRPr sz="1800" b="1">
                <a:solidFill>
                  <a:srgbClr val="FF8C00"/>
                </a:solidFill>
                <a:latin typeface="Segoe UI"/>
              </a:defRPr>
            </a:pPr>
            <a:r>
              <a:t>Your first RPI workflow will feel slower.</a:t>
            </a:r>
          </a:p>
          <a:p>
            <a:pPr>
              <a:spcAft>
                <a:spcPts val="400"/>
              </a:spcAft>
              <a:defRPr sz="800" b="0">
                <a:solidFill>
                  <a:srgbClr val="FFFFFF"/>
                </a:solidFill>
                <a:latin typeface="Segoe UI"/>
              </a:defRPr>
            </a:pPr>
          </a:p>
          <a:p>
            <a:pPr>
              <a:spcAft>
                <a:spcPts val="400"/>
              </a:spcAft>
              <a:defRPr sz="1400" b="0">
                <a:solidFill>
                  <a:srgbClr val="E0E0E0"/>
                </a:solidFill>
                <a:latin typeface="Segoe UI"/>
              </a:defRPr>
            </a:pPr>
            <a:r>
              <a:t>You'll wonder why you can't just ask AI to code it.</a:t>
            </a:r>
          </a:p>
          <a:p>
            <a:pPr>
              <a:spcAft>
                <a:spcPts val="400"/>
              </a:spcAft>
              <a:defRPr sz="1400" b="0">
                <a:solidFill>
                  <a:srgbClr val="E0E0E0"/>
                </a:solidFill>
                <a:latin typeface="Segoe UI"/>
              </a:defRPr>
            </a:pPr>
            <a:r>
              <a:t>You'll feel like the constraints are slowing you down.</a:t>
            </a:r>
          </a:p>
          <a:p>
            <a:pPr>
              <a:spcAft>
                <a:spcPts val="400"/>
              </a:spcAft>
              <a:defRPr sz="1400" b="0">
                <a:solidFill>
                  <a:srgbClr val="E0E0E0"/>
                </a:solidFill>
                <a:latin typeface="Segoe UI"/>
              </a:defRPr>
            </a:pPr>
            <a:r>
              <a:t>You'll want to skip the research phase.</a:t>
            </a:r>
          </a:p>
          <a:p>
            <a:pPr>
              <a:spcAft>
                <a:spcPts val="400"/>
              </a:spcAft>
              <a:defRPr sz="800" b="0">
                <a:solidFill>
                  <a:srgbClr val="FFFFFF"/>
                </a:solidFill>
                <a:latin typeface="Segoe UI"/>
              </a:defRPr>
            </a:pPr>
          </a:p>
          <a:p>
            <a:pPr>
              <a:spcAft>
                <a:spcPts val="400"/>
              </a:spcAft>
              <a:defRPr sz="1400" b="1">
                <a:solidFill>
                  <a:srgbClr val="909090"/>
                </a:solidFill>
                <a:latin typeface="Segoe UI"/>
              </a:defRPr>
            </a:pPr>
            <a:r>
              <a:t>That's normal. Stay with it.</a:t>
            </a:r>
          </a:p>
        </p:txBody>
      </p:sp>
      <p:sp>
        <p:nvSpPr>
          <p:cNvPr id="6" name="Rounded Rectangle 5"/>
          <p:cNvSpPr/>
          <p:nvPr/>
        </p:nvSpPr>
        <p:spPr>
          <a:xfrm>
            <a:off x="6400800" y="1371600"/>
            <a:ext cx="502920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The Payoff</a:t>
            </a:r>
          </a:p>
        </p:txBody>
      </p:sp>
      <p:sp>
        <p:nvSpPr>
          <p:cNvPr id="7" name="TextBox 6"/>
          <p:cNvSpPr txBox="1"/>
          <p:nvPr/>
        </p:nvSpPr>
        <p:spPr>
          <a:xfrm>
            <a:off x="6400800" y="2011680"/>
            <a:ext cx="5029200" cy="2286000"/>
          </a:xfrm>
          <a:prstGeom prst="rect">
            <a:avLst/>
          </a:prstGeom>
          <a:noFill/>
        </p:spPr>
        <p:txBody>
          <a:bodyPr wrap="square">
            <a:spAutoFit/>
          </a:bodyPr>
          <a:lstStyle/>
          <a:p>
            <a:pPr>
              <a:spcAft>
                <a:spcPts val="400"/>
              </a:spcAft>
              <a:defRPr sz="1800" b="1">
                <a:solidFill>
                  <a:srgbClr val="107C10"/>
                </a:solidFill>
                <a:latin typeface="Segoe UI"/>
              </a:defRPr>
            </a:pPr>
            <a:r>
              <a:t>By your third feature, the workflow</a:t>
            </a:r>
          </a:p>
          <a:p>
            <a:pPr>
              <a:spcAft>
                <a:spcPts val="400"/>
              </a:spcAft>
              <a:defRPr sz="1800" b="1">
                <a:solidFill>
                  <a:srgbClr val="107C10"/>
                </a:solidFill>
                <a:latin typeface="Segoe UI"/>
              </a:defRPr>
            </a:pPr>
            <a:r>
              <a:t>feels natural.</a:t>
            </a:r>
          </a:p>
          <a:p>
            <a:pPr>
              <a:spcAft>
                <a:spcPts val="400"/>
              </a:spcAft>
              <a:defRPr sz="800" b="0">
                <a:solidFill>
                  <a:srgbClr val="FFFFFF"/>
                </a:solidFill>
                <a:latin typeface="Segoe UI"/>
              </a:defRPr>
            </a:pPr>
          </a:p>
          <a:p>
            <a:pPr>
              <a:spcAft>
                <a:spcPts val="400"/>
              </a:spcAft>
              <a:defRPr sz="1400" b="0">
                <a:solidFill>
                  <a:srgbClr val="E0E0E0"/>
                </a:solidFill>
                <a:latin typeface="Segoe UI"/>
              </a:defRPr>
            </a:pPr>
            <a:r>
              <a:t>Research artifacts compound across features.</a:t>
            </a:r>
          </a:p>
          <a:p>
            <a:pPr>
              <a:spcAft>
                <a:spcPts val="400"/>
              </a:spcAft>
              <a:defRPr sz="1400" b="0">
                <a:solidFill>
                  <a:srgbClr val="E0E0E0"/>
                </a:solidFill>
                <a:latin typeface="Segoe UI"/>
              </a:defRPr>
            </a:pPr>
            <a:r>
              <a:t>Plans reference previous research findings.</a:t>
            </a:r>
          </a:p>
          <a:p>
            <a:pPr>
              <a:spcAft>
                <a:spcPts val="400"/>
              </a:spcAft>
              <a:defRPr sz="1400" b="0">
                <a:solidFill>
                  <a:srgbClr val="E0E0E0"/>
                </a:solidFill>
                <a:latin typeface="Segoe UI"/>
              </a:defRPr>
            </a:pPr>
            <a:r>
              <a:t>Rework drops below 10%.</a:t>
            </a:r>
          </a:p>
          <a:p>
            <a:pPr>
              <a:spcAft>
                <a:spcPts val="400"/>
              </a:spcAft>
              <a:defRPr sz="800" b="0">
                <a:solidFill>
                  <a:srgbClr val="FFFFFF"/>
                </a:solidFill>
                <a:latin typeface="Segoe UI"/>
              </a:defRPr>
            </a:pPr>
          </a:p>
          <a:p>
            <a:pPr>
              <a:spcAft>
                <a:spcPts val="400"/>
              </a:spcAft>
              <a:defRPr sz="1400" b="1">
                <a:solidFill>
                  <a:srgbClr val="909090"/>
                </a:solidFill>
                <a:latin typeface="Segoe UI"/>
              </a:defRPr>
            </a:pPr>
            <a:r>
              <a:t>The framework pays for itself.</a:t>
            </a:r>
          </a:p>
        </p:txBody>
      </p:sp>
      <p:sp>
        <p:nvSpPr>
          <p:cNvPr id="8" name="TextBox 7"/>
          <p:cNvSpPr txBox="1"/>
          <p:nvPr/>
        </p:nvSpPr>
        <p:spPr>
          <a:xfrm>
            <a:off x="731520" y="4754880"/>
            <a:ext cx="10058400" cy="914400"/>
          </a:xfrm>
          <a:prstGeom prst="rect">
            <a:avLst/>
          </a:prstGeom>
          <a:noFill/>
        </p:spPr>
        <p:txBody>
          <a:bodyPr wrap="square">
            <a:spAutoFit/>
          </a:bodyPr>
          <a:lstStyle/>
          <a:p>
            <a:pPr>
              <a:spcAft>
                <a:spcPts val="400"/>
              </a:spcAft>
              <a:defRPr sz="1500" b="1">
                <a:solidFill>
                  <a:srgbClr val="FFFFFF"/>
                </a:solidFill>
                <a:latin typeface="Segoe UI"/>
              </a:defRPr>
            </a:pPr>
            <a:r>
              <a:t>Research documents accumulate into institutional memory.</a:t>
            </a:r>
          </a:p>
          <a:p>
            <a:pPr>
              <a:spcAft>
                <a:spcPts val="400"/>
              </a:spcAft>
              <a:defRPr sz="1200" b="0">
                <a:solidFill>
                  <a:srgbClr val="E0E0E0"/>
                </a:solidFill>
                <a:latin typeface="Segoe UI"/>
              </a:defRPr>
            </a:pPr>
            <a:r>
              <a:t>New team members can read how past decisions were made. You're not just solving </a:t>
            </a:r>
          </a:p>
          <a:p>
            <a:pPr>
              <a:spcAft>
                <a:spcPts val="400"/>
              </a:spcAft>
              <a:defRPr sz="1200" b="0">
                <a:solidFill>
                  <a:srgbClr val="E0E0E0"/>
                </a:solidFill>
                <a:latin typeface="Segoe UI"/>
              </a:defRPr>
            </a:pPr>
            <a:r>
              <a:t>today's problem — you're building the knowledge base that accelerates tomorrow's.</a:t>
            </a:r>
          </a:p>
        </p:txBody>
      </p:sp>
      <p:sp>
        <p:nvSpPr>
          <p:cNvPr id="9" name="TextBox 8"/>
          <p:cNvSpPr txBox="1"/>
          <p:nvPr/>
        </p:nvSpPr>
        <p:spPr>
          <a:xfrm>
            <a:off x="731520" y="5669280"/>
            <a:ext cx="10058400" cy="365760"/>
          </a:xfrm>
          <a:prstGeom prst="rect">
            <a:avLst/>
          </a:prstGeom>
          <a:noFill/>
        </p:spPr>
        <p:txBody>
          <a:bodyPr wrap="square">
            <a:spAutoFit/>
          </a:bodyPr>
          <a:lstStyle/>
          <a:p>
            <a:pPr algn="l">
              <a:defRPr sz="1400" b="1">
                <a:solidFill>
                  <a:srgbClr val="FFFFFF"/>
                </a:solidFill>
                <a:latin typeface="Segoe UI"/>
              </a:defRPr>
            </a:pPr>
            <a:r>
              <a:t>Evolution Timeline</a:t>
            </a:r>
          </a:p>
        </p:txBody>
      </p:sp>
      <p:sp>
        <p:nvSpPr>
          <p:cNvPr id="10" name="Rounded Rectangle 9"/>
          <p:cNvSpPr/>
          <p:nvPr/>
        </p:nvSpPr>
        <p:spPr>
          <a:xfrm>
            <a:off x="914400" y="6035040"/>
            <a:ext cx="109728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v1.1.0</a:t>
            </a:r>
          </a:p>
        </p:txBody>
      </p:sp>
      <p:sp>
        <p:nvSpPr>
          <p:cNvPr id="11" name="TextBox 10"/>
          <p:cNvSpPr txBox="1"/>
          <p:nvPr/>
        </p:nvSpPr>
        <p:spPr>
          <a:xfrm>
            <a:off x="2194560" y="6035040"/>
            <a:ext cx="2011680" cy="365760"/>
          </a:xfrm>
          <a:prstGeom prst="rect">
            <a:avLst/>
          </a:prstGeom>
          <a:noFill/>
        </p:spPr>
        <p:txBody>
          <a:bodyPr wrap="square">
            <a:spAutoFit/>
          </a:bodyPr>
          <a:lstStyle/>
          <a:p>
            <a:pPr algn="l">
              <a:defRPr sz="1000" b="0">
                <a:solidFill>
                  <a:srgbClr val="909090"/>
                </a:solidFill>
                <a:latin typeface="Segoe UI"/>
              </a:defRPr>
            </a:pPr>
            <a:r>
              <a:t>Jan 19 — Initial release</a:t>
            </a:r>
          </a:p>
        </p:txBody>
      </p:sp>
      <p:cxnSp>
        <p:nvCxnSpPr>
          <p:cNvPr id="12" name="Connector 11"/>
          <p:cNvCxnSpPr/>
          <p:nvPr/>
        </p:nvCxnSpPr>
        <p:spPr>
          <a:xfrm>
            <a:off x="4114800" y="6217920"/>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9120" y="6035040"/>
            <a:ext cx="1097280" cy="36576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v2.0.0</a:t>
            </a:r>
          </a:p>
        </p:txBody>
      </p:sp>
      <p:sp>
        <p:nvSpPr>
          <p:cNvPr id="14" name="TextBox 13"/>
          <p:cNvSpPr txBox="1"/>
          <p:nvPr/>
        </p:nvSpPr>
        <p:spPr>
          <a:xfrm>
            <a:off x="5669280" y="6035040"/>
            <a:ext cx="2011680" cy="365760"/>
          </a:xfrm>
          <a:prstGeom prst="rect">
            <a:avLst/>
          </a:prstGeom>
          <a:noFill/>
        </p:spPr>
        <p:txBody>
          <a:bodyPr wrap="square">
            <a:spAutoFit/>
          </a:bodyPr>
          <a:lstStyle/>
          <a:p>
            <a:pPr algn="l">
              <a:defRPr sz="1000" b="0">
                <a:solidFill>
                  <a:srgbClr val="909090"/>
                </a:solidFill>
                <a:latin typeface="Segoe UI"/>
              </a:defRPr>
            </a:pPr>
            <a:r>
              <a:t>Jan 28 — Breaking: agent restructure</a:t>
            </a:r>
          </a:p>
        </p:txBody>
      </p:sp>
      <p:cxnSp>
        <p:nvCxnSpPr>
          <p:cNvPr id="15" name="Connector 14"/>
          <p:cNvCxnSpPr/>
          <p:nvPr/>
        </p:nvCxnSpPr>
        <p:spPr>
          <a:xfrm>
            <a:off x="7589520" y="6217920"/>
            <a:ext cx="18288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863840" y="6035040"/>
            <a:ext cx="1097280" cy="36576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v2.3.4</a:t>
            </a:r>
          </a:p>
        </p:txBody>
      </p:sp>
      <p:sp>
        <p:nvSpPr>
          <p:cNvPr id="17" name="TextBox 16"/>
          <p:cNvSpPr txBox="1"/>
          <p:nvPr/>
        </p:nvSpPr>
        <p:spPr>
          <a:xfrm>
            <a:off x="9144000" y="6035040"/>
            <a:ext cx="2011680" cy="365760"/>
          </a:xfrm>
          <a:prstGeom prst="rect">
            <a:avLst/>
          </a:prstGeom>
          <a:noFill/>
        </p:spPr>
        <p:txBody>
          <a:bodyPr wrap="square">
            <a:spAutoFit/>
          </a:bodyPr>
          <a:lstStyle/>
          <a:p>
            <a:pPr algn="l">
              <a:defRPr sz="1000" b="0">
                <a:solidFill>
                  <a:srgbClr val="909090"/>
                </a:solidFill>
                <a:latin typeface="Segoe UI"/>
              </a:defRPr>
            </a:pPr>
            <a:r>
              <a:t>Feb 13 — Stable + extensions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Three Paths to Start + Learn More</a:t>
            </a:r>
          </a:p>
        </p:txBody>
      </p:sp>
      <p:sp>
        <p:nvSpPr>
          <p:cNvPr id="3" name="Rectangle 2"/>
          <p:cNvSpPr/>
          <p:nvPr/>
        </p:nvSpPr>
        <p:spPr>
          <a:xfrm>
            <a:off x="731520" y="1005840"/>
            <a:ext cx="731520" cy="508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32004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Segoe UI"/>
              </a:defRPr>
            </a:pPr>
            <a:r>
              <a:t>VS Code Extension ⭐  •  10 seconds</a:t>
            </a:r>
          </a:p>
        </p:txBody>
      </p:sp>
      <p:sp>
        <p:nvSpPr>
          <p:cNvPr id="5" name="TextBox 4"/>
          <p:cNvSpPr txBox="1"/>
          <p:nvPr/>
        </p:nvSpPr>
        <p:spPr>
          <a:xfrm>
            <a:off x="914400" y="2011680"/>
            <a:ext cx="2926080" cy="914400"/>
          </a:xfrm>
          <a:prstGeom prst="rect">
            <a:avLst/>
          </a:prstGeom>
          <a:noFill/>
        </p:spPr>
        <p:txBody>
          <a:bodyPr wrap="square">
            <a:spAutoFit/>
          </a:bodyPr>
          <a:lstStyle/>
          <a:p>
            <a:pPr>
              <a:spcAft>
                <a:spcPts val="400"/>
              </a:spcAft>
              <a:defRPr sz="1200" b="0">
                <a:solidFill>
                  <a:srgbClr val="E0E0E0"/>
                </a:solidFill>
                <a:latin typeface="Segoe UI"/>
              </a:defRPr>
            </a:pPr>
            <a:r>
              <a:t>Individual users, TPMs,</a:t>
            </a:r>
            <a:br/>
            <a:r>
              <a:t>immediate access</a:t>
            </a:r>
          </a:p>
        </p:txBody>
      </p:sp>
      <p:sp>
        <p:nvSpPr>
          <p:cNvPr id="6" name="Rounded Rectangle 5"/>
          <p:cNvSpPr/>
          <p:nvPr/>
        </p:nvSpPr>
        <p:spPr>
          <a:xfrm>
            <a:off x="4389120" y="1371600"/>
            <a:ext cx="320040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Segoe UI"/>
              </a:defRPr>
            </a:pPr>
            <a:r>
              <a:t>Peer Clone  •  2 minutes</a:t>
            </a:r>
          </a:p>
        </p:txBody>
      </p:sp>
      <p:sp>
        <p:nvSpPr>
          <p:cNvPr id="7" name="TextBox 6"/>
          <p:cNvSpPr txBox="1"/>
          <p:nvPr/>
        </p:nvSpPr>
        <p:spPr>
          <a:xfrm>
            <a:off x="4572000" y="2011680"/>
            <a:ext cx="2926080" cy="914400"/>
          </a:xfrm>
          <a:prstGeom prst="rect">
            <a:avLst/>
          </a:prstGeom>
          <a:noFill/>
        </p:spPr>
        <p:txBody>
          <a:bodyPr wrap="square">
            <a:spAutoFit/>
          </a:bodyPr>
          <a:lstStyle/>
          <a:p>
            <a:pPr>
              <a:spcAft>
                <a:spcPts val="400"/>
              </a:spcAft>
              <a:defRPr sz="1200" b="0">
                <a:solidFill>
                  <a:srgbClr val="E0E0E0"/>
                </a:solidFill>
                <a:latin typeface="Segoe UI"/>
              </a:defRPr>
            </a:pPr>
            <a:r>
              <a:t>Developers needing</a:t>
            </a:r>
            <a:br/>
            <a:r>
              <a:t>customization</a:t>
            </a:r>
          </a:p>
        </p:txBody>
      </p:sp>
      <p:sp>
        <p:nvSpPr>
          <p:cNvPr id="8" name="Rounded Rectangle 7"/>
          <p:cNvSpPr/>
          <p:nvPr/>
        </p:nvSpPr>
        <p:spPr>
          <a:xfrm>
            <a:off x="8046720" y="1371600"/>
            <a:ext cx="320040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Segoe UI"/>
              </a:defRPr>
            </a:pPr>
            <a:r>
              <a:t>Codespaces  •  1 click</a:t>
            </a:r>
          </a:p>
        </p:txBody>
      </p:sp>
      <p:sp>
        <p:nvSpPr>
          <p:cNvPr id="9" name="TextBox 8"/>
          <p:cNvSpPr txBox="1"/>
          <p:nvPr/>
        </p:nvSpPr>
        <p:spPr>
          <a:xfrm>
            <a:off x="8229600" y="2011680"/>
            <a:ext cx="2926080" cy="914400"/>
          </a:xfrm>
          <a:prstGeom prst="rect">
            <a:avLst/>
          </a:prstGeom>
          <a:noFill/>
        </p:spPr>
        <p:txBody>
          <a:bodyPr wrap="square">
            <a:spAutoFit/>
          </a:bodyPr>
          <a:lstStyle/>
          <a:p>
            <a:pPr>
              <a:spcAft>
                <a:spcPts val="400"/>
              </a:spcAft>
              <a:defRPr sz="1200" b="0">
                <a:solidFill>
                  <a:srgbClr val="E0E0E0"/>
                </a:solidFill>
                <a:latin typeface="Segoe UI"/>
              </a:defRPr>
            </a:pPr>
            <a:r>
              <a:t>Contributors wanting</a:t>
            </a:r>
            <a:br/>
            <a:r>
              <a:t>zero-config</a:t>
            </a:r>
          </a:p>
        </p:txBody>
      </p:sp>
      <p:sp>
        <p:nvSpPr>
          <p:cNvPr id="10" name="TextBox 9"/>
          <p:cNvSpPr txBox="1"/>
          <p:nvPr/>
        </p:nvSpPr>
        <p:spPr>
          <a:xfrm>
            <a:off x="731520" y="3108960"/>
            <a:ext cx="10058400" cy="365760"/>
          </a:xfrm>
          <a:prstGeom prst="rect">
            <a:avLst/>
          </a:prstGeom>
          <a:noFill/>
        </p:spPr>
        <p:txBody>
          <a:bodyPr wrap="square">
            <a:spAutoFit/>
          </a:bodyPr>
          <a:lstStyle/>
          <a:p>
            <a:pPr algn="l">
              <a:defRPr sz="1800" b="1">
                <a:solidFill>
                  <a:srgbClr val="FFFFFF"/>
                </a:solidFill>
                <a:latin typeface="Segoe UI"/>
              </a:defRPr>
            </a:pPr>
            <a:r>
              <a:t>Learning Resources</a:t>
            </a:r>
          </a:p>
        </p:txBody>
      </p:sp>
      <p:sp>
        <p:nvSpPr>
          <p:cNvPr id="11" name="Oval 10"/>
          <p:cNvSpPr/>
          <p:nvPr/>
        </p:nvSpPr>
        <p:spPr>
          <a:xfrm>
            <a:off x="731520" y="3566160"/>
            <a:ext cx="274320" cy="27432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a:t>
            </a:r>
          </a:p>
        </p:txBody>
      </p:sp>
      <p:sp>
        <p:nvSpPr>
          <p:cNvPr id="12" name="TextBox 11"/>
          <p:cNvSpPr txBox="1"/>
          <p:nvPr/>
        </p:nvSpPr>
        <p:spPr>
          <a:xfrm>
            <a:off x="1188720" y="3566160"/>
            <a:ext cx="4572000" cy="457200"/>
          </a:xfrm>
          <a:prstGeom prst="rect">
            <a:avLst/>
          </a:prstGeom>
          <a:noFill/>
        </p:spPr>
        <p:txBody>
          <a:bodyPr wrap="square">
            <a:spAutoFit/>
          </a:bodyPr>
          <a:lstStyle/>
          <a:p>
            <a:pPr>
              <a:spcAft>
                <a:spcPts val="400"/>
              </a:spcAft>
              <a:defRPr sz="1300" b="1">
                <a:solidFill>
                  <a:srgbClr val="FFFFFF"/>
                </a:solidFill>
                <a:latin typeface="Segoe UI"/>
              </a:defRPr>
            </a:pPr>
            <a:r>
              <a:t>HVE-Learning Repository</a:t>
            </a:r>
          </a:p>
          <a:p>
            <a:pPr>
              <a:spcAft>
                <a:spcPts val="400"/>
              </a:spcAft>
              <a:defRPr sz="1100" b="0">
                <a:solidFill>
                  <a:srgbClr val="909090"/>
                </a:solidFill>
                <a:latin typeface="Segoe UI"/>
              </a:defRPr>
            </a:pPr>
            <a:r>
              <a:t>Self-paced modules on prompt engineering, RPI, backlog management</a:t>
            </a:r>
          </a:p>
        </p:txBody>
      </p:sp>
      <p:sp>
        <p:nvSpPr>
          <p:cNvPr id="13" name="Oval 12"/>
          <p:cNvSpPr/>
          <p:nvPr/>
        </p:nvSpPr>
        <p:spPr>
          <a:xfrm>
            <a:off x="731520" y="4114800"/>
            <a:ext cx="274320" cy="27432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a:t>
            </a:r>
          </a:p>
        </p:txBody>
      </p:sp>
      <p:sp>
        <p:nvSpPr>
          <p:cNvPr id="14" name="TextBox 13"/>
          <p:cNvSpPr txBox="1"/>
          <p:nvPr/>
        </p:nvSpPr>
        <p:spPr>
          <a:xfrm>
            <a:off x="1188720" y="4114800"/>
            <a:ext cx="4572000" cy="457200"/>
          </a:xfrm>
          <a:prstGeom prst="rect">
            <a:avLst/>
          </a:prstGeom>
          <a:noFill/>
        </p:spPr>
        <p:txBody>
          <a:bodyPr wrap="square">
            <a:spAutoFit/>
          </a:bodyPr>
          <a:lstStyle/>
          <a:p>
            <a:pPr>
              <a:spcAft>
                <a:spcPts val="400"/>
              </a:spcAft>
              <a:defRPr sz="1300" b="1">
                <a:solidFill>
                  <a:srgbClr val="FFFFFF"/>
                </a:solidFill>
                <a:latin typeface="Segoe UI"/>
              </a:defRPr>
            </a:pPr>
            <a:r>
              <a:t>Customer Zero Katas</a:t>
            </a:r>
          </a:p>
          <a:p>
            <a:pPr>
              <a:spcAft>
                <a:spcPts val="400"/>
              </a:spcAft>
              <a:defRPr sz="1100" b="0">
                <a:solidFill>
                  <a:srgbClr val="909090"/>
                </a:solidFill>
                <a:latin typeface="Segoe UI"/>
              </a:defRPr>
            </a:pPr>
            <a:r>
              <a:t>Hands-on practice exercises for real-world scenarios</a:t>
            </a:r>
          </a:p>
        </p:txBody>
      </p:sp>
      <p:sp>
        <p:nvSpPr>
          <p:cNvPr id="15" name="Oval 14"/>
          <p:cNvSpPr/>
          <p:nvPr/>
        </p:nvSpPr>
        <p:spPr>
          <a:xfrm>
            <a:off x="6400800" y="3566160"/>
            <a:ext cx="274320" cy="27432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a:t>
            </a:r>
          </a:p>
        </p:txBody>
      </p:sp>
      <p:sp>
        <p:nvSpPr>
          <p:cNvPr id="16" name="TextBox 15"/>
          <p:cNvSpPr txBox="1"/>
          <p:nvPr/>
        </p:nvSpPr>
        <p:spPr>
          <a:xfrm>
            <a:off x="6858000" y="3566160"/>
            <a:ext cx="4572000" cy="457200"/>
          </a:xfrm>
          <a:prstGeom prst="rect">
            <a:avLst/>
          </a:prstGeom>
          <a:noFill/>
        </p:spPr>
        <p:txBody>
          <a:bodyPr wrap="square">
            <a:spAutoFit/>
          </a:bodyPr>
          <a:lstStyle/>
          <a:p>
            <a:pPr>
              <a:spcAft>
                <a:spcPts val="400"/>
              </a:spcAft>
              <a:defRPr sz="1300" b="1">
                <a:solidFill>
                  <a:srgbClr val="FFFFFF"/>
                </a:solidFill>
                <a:latin typeface="Segoe UI"/>
              </a:defRPr>
            </a:pPr>
            <a:r>
              <a:t>First Workflow Tutorial</a:t>
            </a:r>
          </a:p>
          <a:p>
            <a:pPr>
              <a:spcAft>
                <a:spcPts val="400"/>
              </a:spcAft>
              <a:defRPr sz="1100" b="0">
                <a:solidFill>
                  <a:srgbClr val="909090"/>
                </a:solidFill>
                <a:latin typeface="Segoe UI"/>
              </a:defRPr>
            </a:pPr>
            <a:r>
              <a:t>15-minute guided RPI exercise</a:t>
            </a:r>
          </a:p>
        </p:txBody>
      </p:sp>
      <p:sp>
        <p:nvSpPr>
          <p:cNvPr id="17" name="Oval 16"/>
          <p:cNvSpPr/>
          <p:nvPr/>
        </p:nvSpPr>
        <p:spPr>
          <a:xfrm>
            <a:off x="6400800" y="4114800"/>
            <a:ext cx="274320" cy="27432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a:t>
            </a:r>
          </a:p>
        </p:txBody>
      </p:sp>
      <p:sp>
        <p:nvSpPr>
          <p:cNvPr id="18" name="TextBox 17"/>
          <p:cNvSpPr txBox="1"/>
          <p:nvPr/>
        </p:nvSpPr>
        <p:spPr>
          <a:xfrm>
            <a:off x="6858000" y="4114800"/>
            <a:ext cx="4572000" cy="457200"/>
          </a:xfrm>
          <a:prstGeom prst="rect">
            <a:avLst/>
          </a:prstGeom>
          <a:noFill/>
        </p:spPr>
        <p:txBody>
          <a:bodyPr wrap="square">
            <a:spAutoFit/>
          </a:bodyPr>
          <a:lstStyle/>
          <a:p>
            <a:pPr>
              <a:spcAft>
                <a:spcPts val="400"/>
              </a:spcAft>
              <a:defRPr sz="1300" b="1">
                <a:solidFill>
                  <a:srgbClr val="FFFFFF"/>
                </a:solidFill>
                <a:latin typeface="Segoe UI"/>
              </a:defRPr>
            </a:pPr>
            <a:r>
              <a:t>Documentation</a:t>
            </a:r>
          </a:p>
          <a:p>
            <a:pPr>
              <a:spcAft>
                <a:spcPts val="400"/>
              </a:spcAft>
              <a:defRPr sz="1100" b="0">
                <a:solidFill>
                  <a:srgbClr val="909090"/>
                </a:solidFill>
                <a:latin typeface="Segoe UI"/>
              </a:defRPr>
            </a:pPr>
            <a:r>
              <a:t>aka.ms/hve-core — install, usage, FAQs</a:t>
            </a:r>
          </a:p>
        </p:txBody>
      </p:sp>
      <p:sp>
        <p:nvSpPr>
          <p:cNvPr id="19" name="Rounded Rectangle 18"/>
          <p:cNvSpPr/>
          <p:nvPr/>
        </p:nvSpPr>
        <p:spPr>
          <a:xfrm>
            <a:off x="731520" y="4937760"/>
            <a:ext cx="105156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Segoe UI"/>
              </a:defRPr>
            </a:pPr>
            <a:r>
              <a:t>microsoft/hve-learning  •  aka.ms/cz-repo-katas  •  aka.ms/hve-core</a:t>
            </a:r>
          </a:p>
        </p:txBody>
      </p:sp>
      <p:sp>
        <p:nvSpPr>
          <p:cNvPr id="20" name="TextBox 19"/>
          <p:cNvSpPr txBox="1"/>
          <p:nvPr/>
        </p:nvSpPr>
        <p:spPr>
          <a:xfrm>
            <a:off x="731520" y="5669280"/>
            <a:ext cx="10058400" cy="457200"/>
          </a:xfrm>
          <a:prstGeom prst="rect">
            <a:avLst/>
          </a:prstGeom>
          <a:noFill/>
        </p:spPr>
        <p:txBody>
          <a:bodyPr wrap="square">
            <a:spAutoFit/>
          </a:bodyPr>
          <a:lstStyle/>
          <a:p>
            <a:pPr algn="ctr">
              <a:defRPr sz="1300" b="0">
                <a:solidFill>
                  <a:srgbClr val="909090"/>
                </a:solidFill>
                <a:latin typeface="Segoe UI"/>
              </a:defRPr>
            </a:pPr>
            <a:r>
              <a:t>Start with one RPI workflow. The research artifacts compound from there.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Join the Community</a:t>
            </a:r>
          </a:p>
        </p:txBody>
      </p:sp>
      <p:sp>
        <p:nvSpPr>
          <p:cNvPr id="3" name="Rectangle 2"/>
          <p:cNvSpPr/>
          <p:nvPr/>
        </p:nvSpPr>
        <p:spPr>
          <a:xfrm>
            <a:off x="731520" y="1005840"/>
            <a:ext cx="731520" cy="50800"/>
          </a:xfrm>
          <a:prstGeom prst="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0292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Bi-Weekly Syncs</a:t>
            </a:r>
          </a:p>
        </p:txBody>
      </p:sp>
      <p:sp>
        <p:nvSpPr>
          <p:cNvPr id="5" name="TextBox 4"/>
          <p:cNvSpPr txBox="1"/>
          <p:nvPr/>
        </p:nvSpPr>
        <p:spPr>
          <a:xfrm>
            <a:off x="914400" y="1920240"/>
            <a:ext cx="4754880" cy="914400"/>
          </a:xfrm>
          <a:prstGeom prst="rect">
            <a:avLst/>
          </a:prstGeom>
          <a:noFill/>
        </p:spPr>
        <p:txBody>
          <a:bodyPr wrap="square">
            <a:spAutoFit/>
          </a:bodyPr>
          <a:lstStyle/>
          <a:p>
            <a:pPr>
              <a:spcAft>
                <a:spcPts val="400"/>
              </a:spcAft>
              <a:defRPr sz="1200" b="0">
                <a:solidFill>
                  <a:srgbClr val="E0E0E0"/>
                </a:solidFill>
                <a:latin typeface="Segoe UI"/>
              </a:defRPr>
            </a:pPr>
            <a:r>
              <a:t>HVE Community Syncs — live demos,</a:t>
            </a:r>
            <a:br/>
            <a:r>
              <a:t>Q&amp;A, roadmap updates,</a:t>
            </a:r>
            <a:br/>
            <a:r>
              <a:t>and best practice sharing</a:t>
            </a:r>
          </a:p>
        </p:txBody>
      </p:sp>
      <p:sp>
        <p:nvSpPr>
          <p:cNvPr id="6" name="Rounded Rectangle 5"/>
          <p:cNvSpPr/>
          <p:nvPr/>
        </p:nvSpPr>
        <p:spPr>
          <a:xfrm>
            <a:off x="6400800" y="1371600"/>
            <a:ext cx="5029200" cy="457200"/>
          </a:xfrm>
          <a:prstGeom prst="roundRect">
            <a:avLst/>
          </a:prstGeom>
          <a:solidFill>
            <a:srgbClr val="038E8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Teams Channels</a:t>
            </a:r>
          </a:p>
        </p:txBody>
      </p:sp>
      <p:sp>
        <p:nvSpPr>
          <p:cNvPr id="7" name="TextBox 6"/>
          <p:cNvSpPr txBox="1"/>
          <p:nvPr/>
        </p:nvSpPr>
        <p:spPr>
          <a:xfrm>
            <a:off x="6583680" y="1920240"/>
            <a:ext cx="4754880" cy="914400"/>
          </a:xfrm>
          <a:prstGeom prst="rect">
            <a:avLst/>
          </a:prstGeom>
          <a:noFill/>
        </p:spPr>
        <p:txBody>
          <a:bodyPr wrap="square">
            <a:spAutoFit/>
          </a:bodyPr>
          <a:lstStyle/>
          <a:p>
            <a:pPr>
              <a:spcAft>
                <a:spcPts val="400"/>
              </a:spcAft>
              <a:defRPr sz="1200" b="0">
                <a:solidFill>
                  <a:srgbClr val="E0E0E0"/>
                </a:solidFill>
                <a:latin typeface="Segoe UI"/>
              </a:defRPr>
            </a:pPr>
            <a:r>
              <a:t>#Hypervelocity and #SeasonOfHVE</a:t>
            </a:r>
            <a:br/>
            <a:r>
              <a:t>— real-time discussions,</a:t>
            </a:r>
            <a:br/>
            <a:r>
              <a:t>tips, troubleshooting</a:t>
            </a:r>
          </a:p>
        </p:txBody>
      </p:sp>
      <p:sp>
        <p:nvSpPr>
          <p:cNvPr id="8" name="Rounded Rectangle 7"/>
          <p:cNvSpPr/>
          <p:nvPr/>
        </p:nvSpPr>
        <p:spPr>
          <a:xfrm>
            <a:off x="731520" y="3017520"/>
            <a:ext cx="502920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Good First Issues</a:t>
            </a:r>
          </a:p>
        </p:txBody>
      </p:sp>
      <p:sp>
        <p:nvSpPr>
          <p:cNvPr id="9" name="TextBox 8"/>
          <p:cNvSpPr txBox="1"/>
          <p:nvPr/>
        </p:nvSpPr>
        <p:spPr>
          <a:xfrm>
            <a:off x="914400" y="3566160"/>
            <a:ext cx="4754880" cy="914400"/>
          </a:xfrm>
          <a:prstGeom prst="rect">
            <a:avLst/>
          </a:prstGeom>
          <a:noFill/>
        </p:spPr>
        <p:txBody>
          <a:bodyPr wrap="square">
            <a:spAutoFit/>
          </a:bodyPr>
          <a:lstStyle/>
          <a:p>
            <a:pPr>
              <a:spcAft>
                <a:spcPts val="400"/>
              </a:spcAft>
              <a:defRPr sz="1200" b="0">
                <a:solidFill>
                  <a:srgbClr val="E0E0E0"/>
                </a:solidFill>
                <a:latin typeface="Segoe UI"/>
              </a:defRPr>
            </a:pPr>
            <a:r>
              <a:t>Look for "good first issue" tags</a:t>
            </a:r>
            <a:br/>
            <a:r>
              <a:t>on HVE-Core and accelerator</a:t>
            </a:r>
            <a:br/>
            <a:r>
              <a:t>repos (Edge AI, Robotics)</a:t>
            </a:r>
          </a:p>
        </p:txBody>
      </p:sp>
      <p:sp>
        <p:nvSpPr>
          <p:cNvPr id="10" name="Rounded Rectangle 9"/>
          <p:cNvSpPr/>
          <p:nvPr/>
        </p:nvSpPr>
        <p:spPr>
          <a:xfrm>
            <a:off x="6400800" y="3017520"/>
            <a:ext cx="502920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Contribution Types</a:t>
            </a:r>
          </a:p>
        </p:txBody>
      </p:sp>
      <p:sp>
        <p:nvSpPr>
          <p:cNvPr id="11" name="TextBox 10"/>
          <p:cNvSpPr txBox="1"/>
          <p:nvPr/>
        </p:nvSpPr>
        <p:spPr>
          <a:xfrm>
            <a:off x="6583680" y="3566160"/>
            <a:ext cx="4754880" cy="914400"/>
          </a:xfrm>
          <a:prstGeom prst="rect">
            <a:avLst/>
          </a:prstGeom>
          <a:noFill/>
        </p:spPr>
        <p:txBody>
          <a:bodyPr wrap="square">
            <a:spAutoFit/>
          </a:bodyPr>
          <a:lstStyle/>
          <a:p>
            <a:pPr>
              <a:spcAft>
                <a:spcPts val="400"/>
              </a:spcAft>
              <a:defRPr sz="1200" b="0">
                <a:solidFill>
                  <a:srgbClr val="E0E0E0"/>
                </a:solidFill>
                <a:latin typeface="Segoe UI"/>
              </a:defRPr>
            </a:pPr>
            <a:r>
              <a:t>Code • Prompts • Instructions</a:t>
            </a:r>
            <a:br/>
            <a:r>
              <a:t>• Skills • Docs • Bug reports</a:t>
            </a:r>
            <a:br/>
            <a:r>
              <a:t>• Feature requests</a:t>
            </a:r>
          </a:p>
        </p:txBody>
      </p:sp>
      <p:sp>
        <p:nvSpPr>
          <p:cNvPr id="12" name="Rounded Rectangle 11"/>
          <p:cNvSpPr/>
          <p:nvPr/>
        </p:nvSpPr>
        <p:spPr>
          <a:xfrm>
            <a:off x="914400" y="4846320"/>
            <a:ext cx="201168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Find Issue</a:t>
            </a:r>
          </a:p>
        </p:txBody>
      </p:sp>
      <p:cxnSp>
        <p:nvCxnSpPr>
          <p:cNvPr id="13" name="Connector 12"/>
          <p:cNvCxnSpPr/>
          <p:nvPr/>
        </p:nvCxnSpPr>
        <p:spPr>
          <a:xfrm>
            <a:off x="3017520" y="5074920"/>
            <a:ext cx="36576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74720" y="4846320"/>
            <a:ext cx="201168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Use RPI to Research</a:t>
            </a:r>
          </a:p>
        </p:txBody>
      </p:sp>
      <p:cxnSp>
        <p:nvCxnSpPr>
          <p:cNvPr id="15" name="Connector 14"/>
          <p:cNvCxnSpPr/>
          <p:nvPr/>
        </p:nvCxnSpPr>
        <p:spPr>
          <a:xfrm>
            <a:off x="5577840" y="5074920"/>
            <a:ext cx="36576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035040" y="4846320"/>
            <a:ext cx="201168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Submit PR</a:t>
            </a:r>
          </a:p>
        </p:txBody>
      </p:sp>
      <p:cxnSp>
        <p:nvCxnSpPr>
          <p:cNvPr id="17" name="Connector 16"/>
          <p:cNvCxnSpPr/>
          <p:nvPr/>
        </p:nvCxnSpPr>
        <p:spPr>
          <a:xfrm>
            <a:off x="8138160" y="5074920"/>
            <a:ext cx="36576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595359" y="4846320"/>
            <a:ext cx="2011680" cy="45720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Segoe UI"/>
              </a:defRPr>
            </a:pPr>
            <a:r>
              <a:t>Get Review</a:t>
            </a:r>
          </a:p>
        </p:txBody>
      </p:sp>
      <p:sp>
        <p:nvSpPr>
          <p:cNvPr id="19" name="TextBox 18"/>
          <p:cNvSpPr txBox="1"/>
          <p:nvPr/>
        </p:nvSpPr>
        <p:spPr>
          <a:xfrm>
            <a:off x="731520" y="5669280"/>
            <a:ext cx="10058400" cy="457200"/>
          </a:xfrm>
          <a:prstGeom prst="rect">
            <a:avLst/>
          </a:prstGeom>
          <a:noFill/>
        </p:spPr>
        <p:txBody>
          <a:bodyPr wrap="square">
            <a:spAutoFit/>
          </a:bodyPr>
          <a:lstStyle/>
          <a:p>
            <a:pPr algn="ctr">
              <a:defRPr sz="1300" b="0">
                <a:solidFill>
                  <a:srgbClr val="909090"/>
                </a:solidFill>
                <a:latin typeface="Segoe UI"/>
              </a:defRPr>
            </a:pPr>
            <a:r>
              <a:t>Use RPI to learn the repo and make your first PR — the agents keep you on track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Getting Started</a:t>
            </a:r>
          </a:p>
        </p:txBody>
      </p:sp>
      <p:sp>
        <p:nvSpPr>
          <p:cNvPr id="3" name="Rectangle 2"/>
          <p:cNvSpPr/>
          <p:nvPr/>
        </p:nvSpPr>
        <p:spPr>
          <a:xfrm>
            <a:off x="731520" y="1005840"/>
            <a:ext cx="731520" cy="508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46304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1</a:t>
            </a:r>
          </a:p>
        </p:txBody>
      </p:sp>
      <p:sp>
        <p:nvSpPr>
          <p:cNvPr id="5" name="TextBox 4"/>
          <p:cNvSpPr txBox="1"/>
          <p:nvPr/>
        </p:nvSpPr>
        <p:spPr>
          <a:xfrm>
            <a:off x="1828800" y="1554480"/>
            <a:ext cx="9144000" cy="457200"/>
          </a:xfrm>
          <a:prstGeom prst="rect">
            <a:avLst/>
          </a:prstGeom>
          <a:noFill/>
        </p:spPr>
        <p:txBody>
          <a:bodyPr wrap="square">
            <a:spAutoFit/>
          </a:bodyPr>
          <a:lstStyle/>
          <a:p>
            <a:pPr algn="l">
              <a:defRPr sz="1600" b="0">
                <a:solidFill>
                  <a:srgbClr val="E0E0E0"/>
                </a:solidFill>
                <a:latin typeface="Segoe UI"/>
              </a:defRPr>
            </a:pPr>
            <a:r>
              <a:t>Install HVE-Core extension from VS Code Marketplace (10 seconds)</a:t>
            </a:r>
          </a:p>
        </p:txBody>
      </p:sp>
      <p:sp>
        <p:nvSpPr>
          <p:cNvPr id="6" name="Oval 5"/>
          <p:cNvSpPr/>
          <p:nvPr/>
        </p:nvSpPr>
        <p:spPr>
          <a:xfrm>
            <a:off x="914400" y="2194560"/>
            <a:ext cx="548640" cy="54864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2</a:t>
            </a:r>
          </a:p>
        </p:txBody>
      </p:sp>
      <p:sp>
        <p:nvSpPr>
          <p:cNvPr id="7" name="TextBox 6"/>
          <p:cNvSpPr txBox="1"/>
          <p:nvPr/>
        </p:nvSpPr>
        <p:spPr>
          <a:xfrm>
            <a:off x="1828800" y="2286000"/>
            <a:ext cx="9144000" cy="457200"/>
          </a:xfrm>
          <a:prstGeom prst="rect">
            <a:avLst/>
          </a:prstGeom>
          <a:noFill/>
        </p:spPr>
        <p:txBody>
          <a:bodyPr wrap="square">
            <a:spAutoFit/>
          </a:bodyPr>
          <a:lstStyle/>
          <a:p>
            <a:pPr algn="l">
              <a:defRPr sz="1600" b="0">
                <a:solidFill>
                  <a:srgbClr val="E0E0E0"/>
                </a:solidFill>
                <a:latin typeface="Segoe UI"/>
              </a:defRPr>
            </a:pPr>
            <a:r>
              <a:t>Open Copilot Chat and select a chat mode (e.g., Task Researcher)</a:t>
            </a:r>
          </a:p>
        </p:txBody>
      </p:sp>
      <p:sp>
        <p:nvSpPr>
          <p:cNvPr id="8" name="Oval 7"/>
          <p:cNvSpPr/>
          <p:nvPr/>
        </p:nvSpPr>
        <p:spPr>
          <a:xfrm>
            <a:off x="914400" y="2926080"/>
            <a:ext cx="548640" cy="54864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3</a:t>
            </a:r>
          </a:p>
        </p:txBody>
      </p:sp>
      <p:sp>
        <p:nvSpPr>
          <p:cNvPr id="9" name="TextBox 8"/>
          <p:cNvSpPr txBox="1"/>
          <p:nvPr/>
        </p:nvSpPr>
        <p:spPr>
          <a:xfrm>
            <a:off x="1828800" y="3017520"/>
            <a:ext cx="9144000" cy="457200"/>
          </a:xfrm>
          <a:prstGeom prst="rect">
            <a:avLst/>
          </a:prstGeom>
          <a:noFill/>
        </p:spPr>
        <p:txBody>
          <a:bodyPr wrap="square">
            <a:spAutoFit/>
          </a:bodyPr>
          <a:lstStyle/>
          <a:p>
            <a:pPr algn="l">
              <a:defRPr sz="1600" b="0">
                <a:solidFill>
                  <a:srgbClr val="E0E0E0"/>
                </a:solidFill>
                <a:latin typeface="Segoe UI"/>
              </a:defRPr>
            </a:pPr>
            <a:r>
              <a:t>Run /task-research on your next feature or bug</a:t>
            </a:r>
          </a:p>
        </p:txBody>
      </p:sp>
      <p:sp>
        <p:nvSpPr>
          <p:cNvPr id="10" name="Oval 9"/>
          <p:cNvSpPr/>
          <p:nvPr/>
        </p:nvSpPr>
        <p:spPr>
          <a:xfrm>
            <a:off x="914400" y="3657600"/>
            <a:ext cx="548640" cy="548640"/>
          </a:xfrm>
          <a:prstGeom prst="ellipse">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latin typeface="Segoe UI"/>
              </a:defRPr>
            </a:pPr>
            <a:r>
              <a:t>4</a:t>
            </a:r>
          </a:p>
        </p:txBody>
      </p:sp>
      <p:sp>
        <p:nvSpPr>
          <p:cNvPr id="11" name="TextBox 10"/>
          <p:cNvSpPr txBox="1"/>
          <p:nvPr/>
        </p:nvSpPr>
        <p:spPr>
          <a:xfrm>
            <a:off x="1828800" y="3749040"/>
            <a:ext cx="9144000" cy="457200"/>
          </a:xfrm>
          <a:prstGeom prst="rect">
            <a:avLst/>
          </a:prstGeom>
          <a:noFill/>
        </p:spPr>
        <p:txBody>
          <a:bodyPr wrap="square">
            <a:spAutoFit/>
          </a:bodyPr>
          <a:lstStyle/>
          <a:p>
            <a:pPr algn="l">
              <a:defRPr sz="1600" b="0">
                <a:solidFill>
                  <a:srgbClr val="E0E0E0"/>
                </a:solidFill>
                <a:latin typeface="Segoe UI"/>
              </a:defRPr>
            </a:pPr>
            <a:r>
              <a:t>Experience the difference — then try the full RPI cycle</a:t>
            </a:r>
          </a:p>
        </p:txBody>
      </p:sp>
      <p:sp>
        <p:nvSpPr>
          <p:cNvPr id="12" name="TextBox 11"/>
          <p:cNvSpPr txBox="1"/>
          <p:nvPr/>
        </p:nvSpPr>
        <p:spPr>
          <a:xfrm>
            <a:off x="731520" y="4572000"/>
            <a:ext cx="10058400" cy="457200"/>
          </a:xfrm>
          <a:prstGeom prst="rect">
            <a:avLst/>
          </a:prstGeom>
          <a:noFill/>
        </p:spPr>
        <p:txBody>
          <a:bodyPr wrap="square">
            <a:spAutoFit/>
          </a:bodyPr>
          <a:lstStyle/>
          <a:p>
            <a:pPr algn="ctr">
              <a:defRPr sz="2200" b="1">
                <a:solidFill>
                  <a:srgbClr val="0078D4"/>
                </a:solidFill>
                <a:latin typeface="Segoe UI"/>
              </a:defRPr>
            </a:pPr>
            <a:r>
              <a:t>github.com/microsoft/hve-core</a:t>
            </a:r>
          </a:p>
        </p:txBody>
      </p:sp>
      <p:sp>
        <p:nvSpPr>
          <p:cNvPr id="13" name="Rounded Rectangle 12"/>
          <p:cNvSpPr/>
          <p:nvPr/>
        </p:nvSpPr>
        <p:spPr>
          <a:xfrm>
            <a:off x="2743200" y="5303520"/>
            <a:ext cx="6400800" cy="54864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Try /task-research on your next feature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B1B"/>
        </a:solidFill>
        <a:effectLst/>
      </p:bgPr>
    </p:bg>
    <p:spTree>
      <p:nvGrpSpPr>
        <p:cNvPr id="1" name=""/>
        <p:cNvGrpSpPr/>
        <p:nvPr/>
      </p:nvGrpSpPr>
      <p:grpSpPr/>
      <p:sp>
        <p:nvSpPr>
          <p:cNvPr id="2" name="TextBox 1"/>
          <p:cNvSpPr txBox="1"/>
          <p:nvPr/>
        </p:nvSpPr>
        <p:spPr>
          <a:xfrm>
            <a:off x="731520" y="457200"/>
            <a:ext cx="9144000" cy="640080"/>
          </a:xfrm>
          <a:prstGeom prst="rect">
            <a:avLst/>
          </a:prstGeom>
          <a:noFill/>
        </p:spPr>
        <p:txBody>
          <a:bodyPr wrap="square">
            <a:spAutoFit/>
          </a:bodyPr>
          <a:lstStyle/>
          <a:p>
            <a:pPr algn="l">
              <a:defRPr sz="3200" b="1">
                <a:solidFill>
                  <a:srgbClr val="FFFFFF"/>
                </a:solidFill>
                <a:latin typeface="Segoe UI"/>
              </a:defRPr>
            </a:pPr>
            <a:r>
              <a:t>Key Takeaways</a:t>
            </a:r>
          </a:p>
        </p:txBody>
      </p:sp>
      <p:sp>
        <p:nvSpPr>
          <p:cNvPr id="3" name="Rectangle 2"/>
          <p:cNvSpPr/>
          <p:nvPr/>
        </p:nvSpPr>
        <p:spPr>
          <a:xfrm>
            <a:off x="731520" y="1005840"/>
            <a:ext cx="731520" cy="50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37160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1</a:t>
            </a:r>
          </a:p>
        </p:txBody>
      </p:sp>
      <p:sp>
        <p:nvSpPr>
          <p:cNvPr id="5" name="TextBox 4"/>
          <p:cNvSpPr txBox="1"/>
          <p:nvPr/>
        </p:nvSpPr>
        <p:spPr>
          <a:xfrm>
            <a:off x="1371600" y="1371600"/>
            <a:ext cx="9601200" cy="640080"/>
          </a:xfrm>
          <a:prstGeom prst="rect">
            <a:avLst/>
          </a:prstGeom>
          <a:noFill/>
        </p:spPr>
        <p:txBody>
          <a:bodyPr wrap="square">
            <a:spAutoFit/>
          </a:bodyPr>
          <a:lstStyle/>
          <a:p>
            <a:pPr>
              <a:spcAft>
                <a:spcPts val="400"/>
              </a:spcAft>
              <a:defRPr sz="1500" b="1">
                <a:solidFill>
                  <a:srgbClr val="FFFFFF"/>
                </a:solidFill>
                <a:latin typeface="Segoe UI"/>
              </a:defRPr>
            </a:pPr>
            <a:r>
              <a:t>Accelerate delivery and quality</a:t>
            </a:r>
          </a:p>
          <a:p>
            <a:pPr>
              <a:spcAft>
                <a:spcPts val="400"/>
              </a:spcAft>
              <a:defRPr sz="1200" b="0">
                <a:solidFill>
                  <a:srgbClr val="E0E0E0"/>
                </a:solidFill>
                <a:latin typeface="Segoe UI"/>
              </a:defRPr>
            </a:pPr>
            <a:r>
              <a:t>HVE-Core combines AI tools with structured practices — tasks up to 88% faster without sacrificing quality or security</a:t>
            </a:r>
          </a:p>
        </p:txBody>
      </p:sp>
      <p:sp>
        <p:nvSpPr>
          <p:cNvPr id="6" name="Oval 5"/>
          <p:cNvSpPr/>
          <p:nvPr/>
        </p:nvSpPr>
        <p:spPr>
          <a:xfrm>
            <a:off x="731520" y="2103120"/>
            <a:ext cx="457200" cy="457200"/>
          </a:xfrm>
          <a:prstGeom prst="ellipse">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2</a:t>
            </a:r>
          </a:p>
        </p:txBody>
      </p:sp>
      <p:sp>
        <p:nvSpPr>
          <p:cNvPr id="7" name="TextBox 6"/>
          <p:cNvSpPr txBox="1"/>
          <p:nvPr/>
        </p:nvSpPr>
        <p:spPr>
          <a:xfrm>
            <a:off x="1371600" y="2103120"/>
            <a:ext cx="9601200" cy="640080"/>
          </a:xfrm>
          <a:prstGeom prst="rect">
            <a:avLst/>
          </a:prstGeom>
          <a:noFill/>
        </p:spPr>
        <p:txBody>
          <a:bodyPr wrap="square">
            <a:spAutoFit/>
          </a:bodyPr>
          <a:lstStyle/>
          <a:p>
            <a:pPr>
              <a:spcAft>
                <a:spcPts val="400"/>
              </a:spcAft>
              <a:defRPr sz="1500" b="1">
                <a:solidFill>
                  <a:srgbClr val="FFFFFF"/>
                </a:solidFill>
                <a:latin typeface="Segoe UI"/>
              </a:defRPr>
            </a:pPr>
            <a:r>
              <a:t>RPI is the game-changer</a:t>
            </a:r>
          </a:p>
          <a:p>
            <a:pPr>
              <a:spcAft>
                <a:spcPts val="400"/>
              </a:spcAft>
              <a:defRPr sz="1200" b="0">
                <a:solidFill>
                  <a:srgbClr val="E0E0E0"/>
                </a:solidFill>
                <a:latin typeface="Segoe UI"/>
              </a:defRPr>
            </a:pPr>
            <a:r>
              <a:t>Research → Plan → Implement → Review turns Copilot from a nifty helper into a reliable partner. Structured phases kill the AI rework loop</a:t>
            </a:r>
          </a:p>
        </p:txBody>
      </p:sp>
      <p:sp>
        <p:nvSpPr>
          <p:cNvPr id="8" name="Oval 7"/>
          <p:cNvSpPr/>
          <p:nvPr/>
        </p:nvSpPr>
        <p:spPr>
          <a:xfrm>
            <a:off x="731520" y="2834640"/>
            <a:ext cx="457200" cy="457200"/>
          </a:xfrm>
          <a:prstGeom prst="ellipse">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3</a:t>
            </a:r>
          </a:p>
        </p:txBody>
      </p:sp>
      <p:sp>
        <p:nvSpPr>
          <p:cNvPr id="9" name="TextBox 8"/>
          <p:cNvSpPr txBox="1"/>
          <p:nvPr/>
        </p:nvSpPr>
        <p:spPr>
          <a:xfrm>
            <a:off x="1371600" y="2834640"/>
            <a:ext cx="9601200" cy="640080"/>
          </a:xfrm>
          <a:prstGeom prst="rect">
            <a:avLst/>
          </a:prstGeom>
          <a:noFill/>
        </p:spPr>
        <p:txBody>
          <a:bodyPr wrap="square">
            <a:spAutoFit/>
          </a:bodyPr>
          <a:lstStyle/>
          <a:p>
            <a:pPr>
              <a:spcAft>
                <a:spcPts val="400"/>
              </a:spcAft>
              <a:defRPr sz="1500" b="1">
                <a:solidFill>
                  <a:srgbClr val="FFFFFF"/>
                </a:solidFill>
                <a:latin typeface="Segoe UI"/>
              </a:defRPr>
            </a:pPr>
            <a:r>
              <a:t>Empower every role</a:t>
            </a:r>
          </a:p>
          <a:p>
            <a:pPr>
              <a:spcAft>
                <a:spcPts val="400"/>
              </a:spcAft>
              <a:defRPr sz="1200" b="0">
                <a:solidFill>
                  <a:srgbClr val="E0E0E0"/>
                </a:solidFill>
                <a:latin typeface="Segoe UI"/>
              </a:defRPr>
            </a:pPr>
            <a:r>
              <a:t>Not just for coders — PMs, TPMs, security engineers, data scientists, and OSS contributors each have dedicated workflows</a:t>
            </a:r>
          </a:p>
        </p:txBody>
      </p:sp>
      <p:sp>
        <p:nvSpPr>
          <p:cNvPr id="10" name="Oval 9"/>
          <p:cNvSpPr/>
          <p:nvPr/>
        </p:nvSpPr>
        <p:spPr>
          <a:xfrm>
            <a:off x="731520" y="3566160"/>
            <a:ext cx="457200" cy="457200"/>
          </a:xfrm>
          <a:prstGeom prst="ellipse">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Segoe UI"/>
              </a:defRPr>
            </a:pPr>
            <a:r>
              <a:t>4</a:t>
            </a:r>
          </a:p>
        </p:txBody>
      </p:sp>
      <p:sp>
        <p:nvSpPr>
          <p:cNvPr id="11" name="TextBox 10"/>
          <p:cNvSpPr txBox="1"/>
          <p:nvPr/>
        </p:nvSpPr>
        <p:spPr>
          <a:xfrm>
            <a:off x="1371600" y="3566160"/>
            <a:ext cx="9601200" cy="640080"/>
          </a:xfrm>
          <a:prstGeom prst="rect">
            <a:avLst/>
          </a:prstGeom>
          <a:noFill/>
        </p:spPr>
        <p:txBody>
          <a:bodyPr wrap="square">
            <a:spAutoFit/>
          </a:bodyPr>
          <a:lstStyle/>
          <a:p>
            <a:pPr>
              <a:spcAft>
                <a:spcPts val="400"/>
              </a:spcAft>
              <a:defRPr sz="1500" b="1">
                <a:solidFill>
                  <a:srgbClr val="FFFFFF"/>
                </a:solidFill>
                <a:latin typeface="Segoe UI"/>
              </a:defRPr>
            </a:pPr>
            <a:r>
              <a:t>Start your hypervelocity journey</a:t>
            </a:r>
          </a:p>
          <a:p>
            <a:pPr>
              <a:spcAft>
                <a:spcPts val="400"/>
              </a:spcAft>
              <a:defRPr sz="1200" b="0">
                <a:solidFill>
                  <a:srgbClr val="E0E0E0"/>
                </a:solidFill>
                <a:latin typeface="Segoe UI"/>
              </a:defRPr>
            </a:pPr>
            <a:r>
              <a:t>It only takes 10 seconds to install. Pick a small task, run it through RPI, and see the difference</a:t>
            </a:r>
          </a:p>
        </p:txBody>
      </p:sp>
      <p:sp>
        <p:nvSpPr>
          <p:cNvPr id="12" name="Rectangle 11"/>
          <p:cNvSpPr/>
          <p:nvPr/>
        </p:nvSpPr>
        <p:spPr>
          <a:xfrm>
            <a:off x="1371600" y="4389120"/>
            <a:ext cx="50800" cy="6400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5920" y="4389120"/>
            <a:ext cx="9144000" cy="640080"/>
          </a:xfrm>
          <a:prstGeom prst="rect">
            <a:avLst/>
          </a:prstGeom>
          <a:noFill/>
        </p:spPr>
        <p:txBody>
          <a:bodyPr wrap="square">
            <a:spAutoFit/>
          </a:bodyPr>
          <a:lstStyle/>
          <a:p>
            <a:pPr algn="l">
              <a:defRPr sz="1800" b="1">
                <a:solidFill>
                  <a:srgbClr val="FFFFFF"/>
                </a:solidFill>
                <a:latin typeface="Segoe UI"/>
              </a:defRPr>
            </a:pPr>
            <a:r>
              <a:t>"The code comes last, after the hard work of understanding is complete."</a:t>
            </a:r>
          </a:p>
        </p:txBody>
      </p:sp>
      <p:sp>
        <p:nvSpPr>
          <p:cNvPr id="14" name="Rounded Rectangle 13"/>
          <p:cNvSpPr/>
          <p:nvPr/>
        </p:nvSpPr>
        <p:spPr>
          <a:xfrm>
            <a:off x="2286000" y="5303520"/>
            <a:ext cx="228600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Install</a:t>
            </a:r>
          </a:p>
        </p:txBody>
      </p:sp>
      <p:cxnSp>
        <p:nvCxnSpPr>
          <p:cNvPr id="15" name="Connector 14"/>
          <p:cNvCxnSpPr/>
          <p:nvPr/>
        </p:nvCxnSpPr>
        <p:spPr>
          <a:xfrm>
            <a:off x="4663440" y="5532120"/>
            <a:ext cx="27432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29200" y="5303520"/>
            <a:ext cx="22860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Try RPI</a:t>
            </a:r>
          </a:p>
        </p:txBody>
      </p:sp>
      <p:cxnSp>
        <p:nvCxnSpPr>
          <p:cNvPr id="17" name="Connector 16"/>
          <p:cNvCxnSpPr/>
          <p:nvPr/>
        </p:nvCxnSpPr>
        <p:spPr>
          <a:xfrm>
            <a:off x="7406640" y="5532120"/>
            <a:ext cx="274320" cy="0"/>
          </a:xfrm>
          <a:prstGeom prst="line">
            <a:avLst/>
          </a:prstGeom>
          <a:ln w="25400">
            <a:solidFill>
              <a:srgbClr val="90909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772400" y="5303520"/>
            <a:ext cx="2286000" cy="457200"/>
          </a:xfrm>
          <a:prstGeom prst="roundRect">
            <a:avLst/>
          </a:prstGeom>
          <a:solidFill>
            <a:srgbClr val="8864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Segoe UI"/>
              </a:defRPr>
            </a:pPr>
            <a:r>
              <a:t>Join Community</a:t>
            </a:r>
          </a:p>
        </p:txBody>
      </p:sp>
      <p:sp>
        <p:nvSpPr>
          <p:cNvPr id="19" name="TextBox 18"/>
          <p:cNvSpPr txBox="1"/>
          <p:nvPr/>
        </p:nvSpPr>
        <p:spPr>
          <a:xfrm>
            <a:off x="731520" y="5943600"/>
            <a:ext cx="10058400" cy="731520"/>
          </a:xfrm>
          <a:prstGeom prst="rect">
            <a:avLst/>
          </a:prstGeom>
          <a:noFill/>
        </p:spPr>
        <p:txBody>
          <a:bodyPr wrap="square">
            <a:spAutoFit/>
          </a:bodyPr>
          <a:lstStyle/>
          <a:p>
            <a:pPr algn="ctr">
              <a:defRPr sz="3600" b="1">
                <a:solidFill>
                  <a:srgbClr val="FFFFFF"/>
                </a:solidFill>
                <a:latin typeface="Segoe UI"/>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