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Over the next 30 minutes I'll show you why the way most teams use AI coding assistants is fundamentally broken — and how a constraint-based framework called RPI fixes it. We'll cover the problem, the framework, a live demo, and how different roles use it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your hand if this has happened to you. The AI generates something that looks right. It compiles. Then you deploy and discover it used patterns from 3 years ago, missed your naming conventions, and broke two downstream services. This is the universal failure mode of AI-assisted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cause: AI treats every request as an implementation request. It never separates investigation from implementation. It pattern-matches from training data instead of searching your actual codebase. The output looks plausible — but plausible and correct aren't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philosophical foundation of HVE-Core. We don't try to make AI smarter. We constrain what it can do at each stage. A researcher that cannot write code will search instead of inventing. A planner that cannot implement will sequence instead of coding. Constraints force better behavior.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is an enterprise-ready prompt engineering framework. 22 custom agents, 27 prompts, 24 instruction files, 1 skill, and 10 collections. Agents define what AI can and cannot do. Instructions encode coding standards. Prompts are how users interact. Collections bundle artifacts for specific roles — a developer gets different tools than a TPM.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converts one form of understanding into the next. Uncertainty becomes knowledge. Knowledge becomes strategy. Strategy becomes working code. Working code becomes validated code. The /clear markers between phases prevent context contamination — the researcher's reasoning must not leak into the implementor.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constraints row is the key architectural element. The researcher cannot implement — so it searches instead of inventing. The planner cannot implement — so it sequences instead of coding. The implementor follows the plan — no creative decisions. The reviewer cannot modify code — only validate. Each constraint forces the AI into its correct mode of operation.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TPMs: the traceability row is your strongest argument for RPI adoption. Every line of code traces back through a plan to a research finding. For everyone: the /clear rule sounds counterintuitive — why throw away context? Because context contamination causes the researcher's reasoning patterns to leak into the implementor, creating mode confusion. Each phase needs a clean start with only its designated inputs.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modes form the RPI cycle. Two additional modes serve specialized functions. Prompt Builder creates the artifacts that configure the agents — it's meta-level. PR Review is an 8-dimension quality gate that complements Task Reviewer. Every mode has a constraint that prevents the AI from doing something specific. That's what makes the framework reliable.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going to run through Research and Plan live. Watch for three things: First, how the researcher searches the codebase instead of inventing code. Second, how it cites specific files and line numbers. Third, how the plan references the research artifacts. Demo flow: open VS Code, run /task-research, show output, /clear, run /task-plan with research file, show plan and details output.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isn't just for developers. TPMs use project-planning for Requirements → PRD → ADO work items. Platform engineers use coding-standards for artifact authoring. Security engineers use security-planning for threat models. Data scientists have their own Spec → Notebook → Dashboard workflow. Roles don't share workflows — collections make that separation automatic.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uses its own tools to build itself. This presentation was planned using the RPI workflow. Every agent was built by the Prompt Builder agent. The validation pipeline runs 12+ automated checks on every PR. If it doesn't work on itself, why would it work on your project? Self-referential credibility is the strongest argument for adoption.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VS Code extensions organized by role. hve-core is the full package with 21 agents, 23 prompts, and 18 instruction files. Specialized extensions like hve-ado and hve-github focus on specific workflows. All share a common base of 8 core agents and 5 core instructions. Pick the extension that matches your role.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with your team: the first RPI workflow feels slower. That's by design. You're building research artifacts that compound across features. By the third feature, the workflow feels natural and you'll wonder how you worked without it. The version timeline shows rapid iteration — v1.1.0 in January, breaking restructure at v2.0.0 nine days later, stable at v2.3.4 two weeks after that.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get started. VS Code Extension is fastest — 10 seconds, zero config. Peer Clone gives you customization — clone our .github/ folder into your repo. Codespaces gives you a full pre-built environment in one click. The call to action: try /task-research on your next feature. Don't change your whole workflow — just use the researcher once and see what happens. Resources: getting-started guide, first-workflow tutorial, docs/rpi/ documentation.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0"/>
            <a:ext cx="10058400" cy="1371600"/>
          </a:xfrm>
          <a:prstGeom prst="rect">
            <a:avLst/>
          </a:prstGeom>
          <a:noFill/>
        </p:spPr>
        <p:txBody>
          <a:bodyPr wrap="square">
            <a:spAutoFit/>
          </a:bodyPr>
          <a:lstStyle/>
          <a:p>
            <a:pPr algn="l">
              <a:defRPr sz="4400" b="1">
                <a:solidFill>
                  <a:srgbClr val="242424"/>
                </a:solidFill>
                <a:latin typeface="Segoe UI"/>
              </a:defRPr>
            </a:pPr>
            <a:r>
              <a:t>HVE-Core and the RPI Framework</a:t>
            </a:r>
          </a:p>
        </p:txBody>
      </p:sp>
      <p:sp>
        <p:nvSpPr>
          <p:cNvPr id="3" name="Rectangle 2"/>
          <p:cNvSpPr/>
          <p:nvPr/>
        </p:nvSpPr>
        <p:spPr>
          <a:xfrm>
            <a:off x="731520" y="292608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0"/>
            <a:ext cx="10058400" cy="1828800"/>
          </a:xfrm>
          <a:prstGeom prst="rect">
            <a:avLst/>
          </a:prstGeom>
          <a:noFill/>
        </p:spPr>
        <p:txBody>
          <a:bodyPr wrap="square">
            <a:spAutoFit/>
          </a:bodyPr>
          <a:lstStyle/>
          <a:p>
            <a:pPr>
              <a:spcAft>
                <a:spcPts val="400"/>
              </a:spcAft>
              <a:defRPr sz="2000" b="0">
                <a:solidFill>
                  <a:srgbClr val="444444"/>
                </a:solidFill>
                <a:latin typeface="Segoe UI"/>
              </a:defRPr>
            </a:pPr>
            <a:r>
              <a:t>Turning AI from a Code Generator into a Research Partner</a:t>
            </a:r>
          </a:p>
          <a:p>
            <a:pPr>
              <a:spcAft>
                <a:spcPts val="400"/>
              </a:spcAft>
              <a:defRPr sz="1000" b="0">
                <a:solidFill>
                  <a:srgbClr val="242424"/>
                </a:solidFill>
                <a:latin typeface="Segoe UI"/>
              </a:defRPr>
            </a:pPr>
          </a:p>
          <a:p>
            <a:pPr>
              <a:spcAft>
                <a:spcPts val="400"/>
              </a:spcAft>
              <a:defRPr sz="1600" b="0">
                <a:solidFill>
                  <a:srgbClr val="666666"/>
                </a:solidFill>
                <a:latin typeface="Segoe UI"/>
              </a:defRPr>
            </a:pPr>
            <a:r>
              <a:t>A constraint-based framework for AI-assisted engineering</a:t>
            </a:r>
          </a:p>
        </p:txBody>
      </p:sp>
      <p:sp>
        <p:nvSpPr>
          <p:cNvPr id="5" name="Rounded Rectangle 4"/>
          <p:cNvSpPr/>
          <p:nvPr/>
        </p:nvSpPr>
        <p:spPr>
          <a:xfrm>
            <a:off x="731520" y="5486400"/>
            <a:ext cx="27432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30-Minute Overview  •  Two Parts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The Problem</a:t>
            </a:r>
          </a:p>
        </p:txBody>
      </p:sp>
      <p:sp>
        <p:nvSpPr>
          <p:cNvPr id="3" name="Rectangle 2"/>
          <p:cNvSpPr/>
          <p:nvPr/>
        </p:nvSpPr>
        <p:spPr>
          <a:xfrm>
            <a:off x="731520" y="1005840"/>
            <a:ext cx="731520" cy="508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058400" cy="4114800"/>
          </a:xfrm>
          <a:prstGeom prst="rect">
            <a:avLst/>
          </a:prstGeom>
          <a:noFill/>
        </p:spPr>
        <p:txBody>
          <a:bodyPr wrap="square">
            <a:spAutoFit/>
          </a:bodyPr>
          <a:lstStyle/>
          <a:p>
            <a:pPr>
              <a:spcAft>
                <a:spcPts val="400"/>
              </a:spcAft>
              <a:defRPr sz="800" b="0">
                <a:solidFill>
                  <a:srgbClr val="242424"/>
                </a:solidFill>
                <a:latin typeface="Segoe UI"/>
              </a:defRPr>
            </a:pPr>
          </a:p>
          <a:p>
            <a:pPr>
              <a:spcAft>
                <a:spcPts val="400"/>
              </a:spcAft>
              <a:defRPr sz="1800" b="0">
                <a:solidFill>
                  <a:srgbClr val="242424"/>
                </a:solidFill>
                <a:latin typeface="Segoe UI"/>
              </a:defRPr>
            </a:pPr>
            <a:r>
              <a:t>You: "Build me a Terraform module for Azure IoT"</a:t>
            </a:r>
          </a:p>
          <a:p>
            <a:pPr>
              <a:spcAft>
                <a:spcPts val="400"/>
              </a:spcAft>
              <a:defRPr sz="1200" b="0">
                <a:solidFill>
                  <a:srgbClr val="242424"/>
                </a:solidFill>
                <a:latin typeface="Segoe UI"/>
              </a:defRPr>
            </a:pPr>
          </a:p>
          <a:p>
            <a:pPr>
              <a:spcAft>
                <a:spcPts val="400"/>
              </a:spcAft>
              <a:defRPr sz="1800" b="0">
                <a:solidFill>
                  <a:srgbClr val="444444"/>
                </a:solidFill>
                <a:latin typeface="Segoe UI"/>
              </a:defRPr>
            </a:pPr>
            <a:r>
              <a:t>AI: *immediately generates 2,000 lines of code*</a:t>
            </a:r>
          </a:p>
          <a:p>
            <a:pPr>
              <a:spcAft>
                <a:spcPts val="400"/>
              </a:spcAft>
              <a:defRPr sz="1200" b="0">
                <a:solidFill>
                  <a:srgbClr val="242424"/>
                </a:solidFill>
                <a:latin typeface="Segoe UI"/>
              </a:defRPr>
            </a:pPr>
          </a:p>
          <a:p>
            <a:pPr>
              <a:spcAft>
                <a:spcPts val="400"/>
              </a:spcAft>
              <a:defRPr sz="2000" b="1">
                <a:solidFill>
                  <a:srgbClr val="D13438"/>
                </a:solidFill>
                <a:latin typeface="Segoe UI"/>
              </a:defRPr>
            </a:pPr>
            <a:r>
              <a:t>Reality:</a:t>
            </a:r>
          </a:p>
          <a:p>
            <a:pPr>
              <a:spcAft>
                <a:spcPts val="400"/>
              </a:spcAft>
              <a:defRPr sz="1600" b="0">
                <a:solidFill>
                  <a:srgbClr val="D13438"/>
                </a:solidFill>
                <a:latin typeface="Segoe UI"/>
              </a:defRPr>
            </a:pPr>
            <a:r>
              <a:t>  • Missing provider dependencies</a:t>
            </a:r>
          </a:p>
          <a:p>
            <a:pPr>
              <a:spcAft>
                <a:spcPts val="400"/>
              </a:spcAft>
              <a:defRPr sz="1600" b="0">
                <a:solidFill>
                  <a:srgbClr val="D13438"/>
                </a:solidFill>
                <a:latin typeface="Segoe UI"/>
              </a:defRPr>
            </a:pPr>
            <a:r>
              <a:t>  • Wrong variable naming conventions</a:t>
            </a:r>
          </a:p>
          <a:p>
            <a:pPr>
              <a:spcAft>
                <a:spcPts val="400"/>
              </a:spcAft>
              <a:defRPr sz="1600" b="0">
                <a:solidFill>
                  <a:srgbClr val="D13438"/>
                </a:solidFill>
                <a:latin typeface="Segoe UI"/>
              </a:defRPr>
            </a:pPr>
            <a:r>
              <a:t>  • Patterns from 3 years ago</a:t>
            </a:r>
          </a:p>
          <a:p>
            <a:pPr>
              <a:spcAft>
                <a:spcPts val="400"/>
              </a:spcAft>
              <a:defRPr sz="1600" b="0">
                <a:solidFill>
                  <a:srgbClr val="D13438"/>
                </a:solidFill>
                <a:latin typeface="Segoe UI"/>
              </a:defRPr>
            </a:pPr>
            <a:r>
              <a:t>  • Broke two downstream services</a:t>
            </a:r>
          </a:p>
          <a:p>
            <a:pPr>
              <a:spcAft>
                <a:spcPts val="400"/>
              </a:spcAft>
              <a:defRPr sz="1600" b="0">
                <a:solidFill>
                  <a:srgbClr val="D13438"/>
                </a:solidFill>
                <a:latin typeface="Segoe UI"/>
              </a:defRPr>
            </a:pPr>
            <a:r>
              <a:t>  • Used modules that don't exist in your registry</a:t>
            </a:r>
          </a:p>
          <a:p>
            <a:pPr>
              <a:spcAft>
                <a:spcPts val="400"/>
              </a:spcAft>
              <a:defRPr sz="1200" b="0">
                <a:solidFill>
                  <a:srgbClr val="242424"/>
                </a:solidFill>
                <a:latin typeface="Segoe UI"/>
              </a:defRPr>
            </a:pPr>
          </a:p>
          <a:p>
            <a:pPr>
              <a:spcAft>
                <a:spcPts val="400"/>
              </a:spcAft>
              <a:defRPr sz="1600" b="1">
                <a:solidFill>
                  <a:srgbClr val="666666"/>
                </a:solidFill>
                <a:latin typeface="Segoe UI"/>
              </a:defRPr>
            </a:pPr>
            <a:r>
              <a:t>It looked right. It compiled. Then you deployed.</a:t>
            </a:r>
          </a:p>
        </p:txBody>
      </p:sp>
      <p:sp>
        <p:nvSpPr>
          <p:cNvPr id="5" name="TextBox 4"/>
          <p:cNvSpPr txBox="1"/>
          <p:nvPr/>
        </p:nvSpPr>
        <p:spPr>
          <a:xfrm>
            <a:off x="914400" y="5943600"/>
            <a:ext cx="9144000" cy="457200"/>
          </a:xfrm>
          <a:prstGeom prst="rect">
            <a:avLst/>
          </a:prstGeom>
          <a:noFill/>
        </p:spPr>
        <p:txBody>
          <a:bodyPr wrap="square">
            <a:spAutoFit/>
          </a:bodyPr>
          <a:lstStyle/>
          <a:p>
            <a:pPr algn="l">
              <a:defRPr sz="1400" b="0">
                <a:solidFill>
                  <a:srgbClr val="666666"/>
                </a:solidFill>
                <a:latin typeface="Segoe UI"/>
              </a:defRPr>
            </a:pPr>
            <a:r>
              <a:t>Raise your hand if this has happened to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Why It Happens</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645920"/>
            <a:ext cx="3657600" cy="22860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78D4"/>
                </a:solidFill>
                <a:latin typeface="Segoe UI"/>
              </a:defRPr>
            </a:pPr>
            <a:r>
              <a:t>Investigate?</a:t>
            </a:r>
            <a:br/>
            <a:br/>
            <a:r>
              <a:t>🔍</a:t>
            </a:r>
            <a:br/>
            <a:br/>
            <a:r>
              <a:t>Search • Analyze • Understand</a:t>
            </a:r>
          </a:p>
        </p:txBody>
      </p:sp>
      <p:sp>
        <p:nvSpPr>
          <p:cNvPr id="5" name="Rounded Rectangle 4"/>
          <p:cNvSpPr/>
          <p:nvPr/>
        </p:nvSpPr>
        <p:spPr>
          <a:xfrm>
            <a:off x="6858000" y="1645920"/>
            <a:ext cx="3657600" cy="22860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8C00"/>
                </a:solidFill>
                <a:latin typeface="Segoe UI"/>
              </a:defRPr>
            </a:pPr>
            <a:r>
              <a:t>Implement!</a:t>
            </a:r>
            <a:br/>
            <a:br/>
            <a:r>
              <a:t>⌨️</a:t>
            </a:r>
            <a:br/>
            <a:br/>
            <a:r>
              <a:t>Generate • Write • Ship</a:t>
            </a:r>
          </a:p>
        </p:txBody>
      </p:sp>
      <p:cxnSp>
        <p:nvCxnSpPr>
          <p:cNvPr id="6" name="Connector 5"/>
          <p:cNvCxnSpPr/>
          <p:nvPr/>
        </p:nvCxnSpPr>
        <p:spPr>
          <a:xfrm>
            <a:off x="5212080" y="2743200"/>
            <a:ext cx="1463040" cy="0"/>
          </a:xfrm>
          <a:prstGeom prst="line">
            <a:avLst/>
          </a:prstGeom>
          <a:ln w="38100">
            <a:solidFill>
              <a:srgbClr val="D1343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828800" y="4389120"/>
            <a:ext cx="8229600" cy="731520"/>
          </a:xfrm>
          <a:prstGeom prst="rect">
            <a:avLst/>
          </a:prstGeom>
          <a:noFill/>
        </p:spPr>
        <p:txBody>
          <a:bodyPr wrap="square">
            <a:spAutoFit/>
          </a:bodyPr>
          <a:lstStyle/>
          <a:p>
            <a:pPr algn="ctr">
              <a:defRPr sz="2800" b="1">
                <a:solidFill>
                  <a:srgbClr val="242424"/>
                </a:solidFill>
                <a:latin typeface="Segoe UI"/>
              </a:defRPr>
            </a:pPr>
            <a:r>
              <a:t>AI Writes First and Thinks Never</a:t>
            </a:r>
          </a:p>
        </p:txBody>
      </p:sp>
      <p:sp>
        <p:nvSpPr>
          <p:cNvPr id="8" name="TextBox 7"/>
          <p:cNvSpPr txBox="1"/>
          <p:nvPr/>
        </p:nvSpPr>
        <p:spPr>
          <a:xfrm>
            <a:off x="1828800" y="5212080"/>
            <a:ext cx="8229600" cy="457200"/>
          </a:xfrm>
          <a:prstGeom prst="rect">
            <a:avLst/>
          </a:prstGeom>
          <a:noFill/>
        </p:spPr>
        <p:txBody>
          <a:bodyPr wrap="square">
            <a:spAutoFit/>
          </a:bodyPr>
          <a:lstStyle/>
          <a:p>
            <a:pPr algn="ctr">
              <a:defRPr sz="1600" b="0">
                <a:solidFill>
                  <a:srgbClr val="666666"/>
                </a:solidFill>
                <a:latin typeface="Segoe UI"/>
              </a:defRPr>
            </a:pPr>
            <a:r>
              <a:t>"Plausible" and "correct" aren't the same 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The Counterintuitive Insight</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2286000"/>
          </a:xfrm>
          <a:prstGeom prst="rect">
            <a:avLst/>
          </a:prstGeom>
          <a:noFill/>
        </p:spPr>
        <p:txBody>
          <a:bodyPr wrap="square">
            <a:spAutoFit/>
          </a:bodyPr>
          <a:lstStyle/>
          <a:p>
            <a:pPr>
              <a:spcAft>
                <a:spcPts val="400"/>
              </a:spcAft>
              <a:defRPr sz="2200" b="0">
                <a:solidFill>
                  <a:srgbClr val="242424"/>
                </a:solidFill>
                <a:latin typeface="Segoe UI"/>
              </a:defRPr>
            </a:pPr>
            <a:r>
              <a:t>"The solution isn't teaching AI to be smarter.</a:t>
            </a:r>
          </a:p>
          <a:p>
            <a:pPr>
              <a:spcAft>
                <a:spcPts val="400"/>
              </a:spcAft>
              <a:defRPr sz="800" b="0">
                <a:solidFill>
                  <a:srgbClr val="242424"/>
                </a:solidFill>
                <a:latin typeface="Segoe UI"/>
              </a:defRPr>
            </a:pPr>
          </a:p>
          <a:p>
            <a:pPr>
              <a:spcAft>
                <a:spcPts val="400"/>
              </a:spcAft>
              <a:defRPr sz="2200" b="0">
                <a:solidFill>
                  <a:srgbClr val="242424"/>
                </a:solidFill>
                <a:latin typeface="Segoe UI"/>
              </a:defRPr>
            </a:pPr>
            <a:r>
              <a:t>It's preventing AI from doing certain things</a:t>
            </a:r>
          </a:p>
          <a:p>
            <a:pPr>
              <a:spcAft>
                <a:spcPts val="400"/>
              </a:spcAft>
              <a:defRPr sz="2200" b="0">
                <a:solidFill>
                  <a:srgbClr val="242424"/>
                </a:solidFill>
                <a:latin typeface="Segoe UI"/>
              </a:defRPr>
            </a:pPr>
            <a:r>
              <a:t>at certain times."</a:t>
            </a:r>
          </a:p>
        </p:txBody>
      </p:sp>
      <p:sp>
        <p:nvSpPr>
          <p:cNvPr id="5" name="Rectangle 4"/>
          <p:cNvSpPr/>
          <p:nvPr/>
        </p:nvSpPr>
        <p:spPr>
          <a:xfrm>
            <a:off x="731520" y="347472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4389120"/>
            <a:ext cx="4114800" cy="64008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Optimizing for plausible code</a:t>
            </a:r>
          </a:p>
        </p:txBody>
      </p:sp>
      <p:cxnSp>
        <p:nvCxnSpPr>
          <p:cNvPr id="7" name="Connector 6"/>
          <p:cNvCxnSpPr/>
          <p:nvPr/>
        </p:nvCxnSpPr>
        <p:spPr>
          <a:xfrm>
            <a:off x="5669280" y="4709160"/>
            <a:ext cx="731520" cy="0"/>
          </a:xfrm>
          <a:prstGeom prst="line">
            <a:avLst/>
          </a:prstGeom>
          <a:ln w="38100">
            <a:solidFill>
              <a:srgbClr val="24242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0" y="4389120"/>
            <a:ext cx="4114800" cy="6400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Optimizing for verified truth</a:t>
            </a:r>
          </a:p>
        </p:txBody>
      </p:sp>
      <p:sp>
        <p:nvSpPr>
          <p:cNvPr id="9" name="TextBox 8"/>
          <p:cNvSpPr txBox="1"/>
          <p:nvPr/>
        </p:nvSpPr>
        <p:spPr>
          <a:xfrm>
            <a:off x="1371600" y="5486400"/>
            <a:ext cx="9144000" cy="457200"/>
          </a:xfrm>
          <a:prstGeom prst="rect">
            <a:avLst/>
          </a:prstGeom>
          <a:noFill/>
        </p:spPr>
        <p:txBody>
          <a:bodyPr wrap="square">
            <a:spAutoFit/>
          </a:bodyPr>
          <a:lstStyle/>
          <a:p>
            <a:pPr algn="ctr">
              <a:defRPr sz="1600" b="0">
                <a:solidFill>
                  <a:srgbClr val="666666"/>
                </a:solidFill>
                <a:latin typeface="Segoe UI"/>
              </a:defRPr>
            </a:pPr>
            <a:r>
              <a:t>Constraints are features, not limitations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What is HVE-Core?</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548640"/>
          </a:xfrm>
          <a:prstGeom prst="rect">
            <a:avLst/>
          </a:prstGeom>
          <a:noFill/>
        </p:spPr>
        <p:txBody>
          <a:bodyPr wrap="square">
            <a:spAutoFit/>
          </a:bodyPr>
          <a:lstStyle/>
          <a:p>
            <a:pPr algn="l">
              <a:defRPr sz="1500" b="0">
                <a:solidFill>
                  <a:srgbClr val="444444"/>
                </a:solidFill>
                <a:latin typeface="Segoe UI"/>
              </a:defRPr>
            </a:pPr>
            <a:r>
              <a:t>An enterprise-ready prompt engineering framework that transforms GitHub Copilot from a code-completion tool into a structured engineering partner.</a:t>
            </a:r>
          </a:p>
        </p:txBody>
      </p:sp>
      <p:sp>
        <p:nvSpPr>
          <p:cNvPr id="5" name="Rounded Rectangle 4"/>
          <p:cNvSpPr/>
          <p:nvPr/>
        </p:nvSpPr>
        <p:spPr>
          <a:xfrm>
            <a:off x="731520" y="2194560"/>
            <a:ext cx="1920240" cy="10972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Agents</a:t>
            </a:r>
            <a:br/>
            <a:r>
              <a:t>22</a:t>
            </a:r>
          </a:p>
        </p:txBody>
      </p:sp>
      <p:sp>
        <p:nvSpPr>
          <p:cNvPr id="6" name="Rounded Rectangle 5"/>
          <p:cNvSpPr/>
          <p:nvPr/>
        </p:nvSpPr>
        <p:spPr>
          <a:xfrm>
            <a:off x="2926080" y="2194560"/>
            <a:ext cx="1920240" cy="10972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Prompts</a:t>
            </a:r>
            <a:br/>
            <a:r>
              <a:t>27</a:t>
            </a:r>
          </a:p>
        </p:txBody>
      </p:sp>
      <p:sp>
        <p:nvSpPr>
          <p:cNvPr id="7" name="Rounded Rectangle 6"/>
          <p:cNvSpPr/>
          <p:nvPr/>
        </p:nvSpPr>
        <p:spPr>
          <a:xfrm>
            <a:off x="5120640" y="2194560"/>
            <a:ext cx="1920240" cy="10972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Instructions</a:t>
            </a:r>
            <a:br/>
            <a:r>
              <a:t>24</a:t>
            </a:r>
          </a:p>
        </p:txBody>
      </p:sp>
      <p:sp>
        <p:nvSpPr>
          <p:cNvPr id="8" name="Rounded Rectangle 7"/>
          <p:cNvSpPr/>
          <p:nvPr/>
        </p:nvSpPr>
        <p:spPr>
          <a:xfrm>
            <a:off x="7315199" y="2194560"/>
            <a:ext cx="1920240" cy="1097280"/>
          </a:xfrm>
          <a:prstGeom prst="round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Skills</a:t>
            </a:r>
            <a:br/>
            <a:r>
              <a:t>1</a:t>
            </a:r>
          </a:p>
        </p:txBody>
      </p:sp>
      <p:sp>
        <p:nvSpPr>
          <p:cNvPr id="9" name="Rounded Rectangle 8"/>
          <p:cNvSpPr/>
          <p:nvPr/>
        </p:nvSpPr>
        <p:spPr>
          <a:xfrm>
            <a:off x="9509760" y="2194560"/>
            <a:ext cx="1920240" cy="10972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Collections</a:t>
            </a:r>
            <a:br/>
            <a:r>
              <a:t>10</a:t>
            </a:r>
          </a:p>
        </p:txBody>
      </p:sp>
      <p:sp>
        <p:nvSpPr>
          <p:cNvPr id="10" name="TextBox 9"/>
          <p:cNvSpPr txBox="1"/>
          <p:nvPr/>
        </p:nvSpPr>
        <p:spPr>
          <a:xfrm>
            <a:off x="731520" y="3657600"/>
            <a:ext cx="10058400" cy="457200"/>
          </a:xfrm>
          <a:prstGeom prst="rect">
            <a:avLst/>
          </a:prstGeom>
          <a:noFill/>
        </p:spPr>
        <p:txBody>
          <a:bodyPr wrap="square">
            <a:spAutoFit/>
          </a:bodyPr>
          <a:lstStyle/>
          <a:p>
            <a:pPr algn="l">
              <a:defRPr sz="1800" b="1">
                <a:solidFill>
                  <a:srgbClr val="242424"/>
                </a:solidFill>
                <a:latin typeface="Segoe UI"/>
              </a:defRPr>
            </a:pPr>
            <a:r>
              <a:t>Delegation Flow</a:t>
            </a:r>
          </a:p>
        </p:txBody>
      </p:sp>
      <p:sp>
        <p:nvSpPr>
          <p:cNvPr id="11" name="Rounded Rectangle 10"/>
          <p:cNvSpPr/>
          <p:nvPr/>
        </p:nvSpPr>
        <p:spPr>
          <a:xfrm>
            <a:off x="914400" y="4206240"/>
            <a:ext cx="182880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666666"/>
                </a:solidFill>
                <a:latin typeface="Segoe UI"/>
              </a:defRPr>
            </a:pPr>
            <a:r>
              <a:t>User</a:t>
            </a:r>
          </a:p>
        </p:txBody>
      </p:sp>
      <p:cxnSp>
        <p:nvCxnSpPr>
          <p:cNvPr id="12" name="Connector 11"/>
          <p:cNvCxnSpPr/>
          <p:nvPr/>
        </p:nvCxnSpPr>
        <p:spPr>
          <a:xfrm>
            <a:off x="2834640" y="4480560"/>
            <a:ext cx="54864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74720" y="4206240"/>
            <a:ext cx="182880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7C10"/>
                </a:solidFill>
                <a:latin typeface="Segoe UI"/>
              </a:defRPr>
            </a:pPr>
            <a:r>
              <a:t>Prompt</a:t>
            </a:r>
          </a:p>
        </p:txBody>
      </p:sp>
      <p:cxnSp>
        <p:nvCxnSpPr>
          <p:cNvPr id="14" name="Connector 13"/>
          <p:cNvCxnSpPr/>
          <p:nvPr/>
        </p:nvCxnSpPr>
        <p:spPr>
          <a:xfrm>
            <a:off x="5394960" y="4480560"/>
            <a:ext cx="548640" cy="0"/>
          </a:xfrm>
          <a:prstGeom prst="line">
            <a:avLst/>
          </a:prstGeom>
          <a:ln w="25400">
            <a:solidFill>
              <a:srgbClr val="107C1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035040" y="4206240"/>
            <a:ext cx="182880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8D4"/>
                </a:solidFill>
                <a:latin typeface="Segoe UI"/>
              </a:defRPr>
            </a:pPr>
            <a:r>
              <a:t>Agent</a:t>
            </a:r>
          </a:p>
        </p:txBody>
      </p:sp>
      <p:cxnSp>
        <p:nvCxnSpPr>
          <p:cNvPr id="16" name="Connector 15"/>
          <p:cNvCxnSpPr/>
          <p:nvPr/>
        </p:nvCxnSpPr>
        <p:spPr>
          <a:xfrm>
            <a:off x="7955280" y="4480560"/>
            <a:ext cx="54864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595359" y="4206240"/>
            <a:ext cx="182880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8C00"/>
                </a:solidFill>
                <a:latin typeface="Segoe UI"/>
              </a:defRPr>
            </a:pPr>
            <a:r>
              <a:t>Instructions</a:t>
            </a:r>
          </a:p>
        </p:txBody>
      </p:sp>
      <p:sp>
        <p:nvSpPr>
          <p:cNvPr id="18" name="TextBox 17"/>
          <p:cNvSpPr txBox="1"/>
          <p:nvPr/>
        </p:nvSpPr>
        <p:spPr>
          <a:xfrm>
            <a:off x="731520" y="5120640"/>
            <a:ext cx="10058400" cy="1371600"/>
          </a:xfrm>
          <a:prstGeom prst="rect">
            <a:avLst/>
          </a:prstGeom>
          <a:noFill/>
        </p:spPr>
        <p:txBody>
          <a:bodyPr wrap="square">
            <a:spAutoFit/>
          </a:bodyPr>
          <a:lstStyle/>
          <a:p>
            <a:pPr>
              <a:spcAft>
                <a:spcPts val="400"/>
              </a:spcAft>
              <a:defRPr sz="1300" b="0">
                <a:solidFill>
                  <a:srgbClr val="666666"/>
                </a:solidFill>
                <a:latin typeface="Segoe UI"/>
              </a:defRPr>
            </a:pPr>
            <a:r>
              <a:t>Agents define behavior and constraints. Instructions encode standards.</a:t>
            </a:r>
          </a:p>
          <a:p>
            <a:pPr>
              <a:spcAft>
                <a:spcPts val="400"/>
              </a:spcAft>
              <a:defRPr sz="1300" b="0">
                <a:solidFill>
                  <a:srgbClr val="666666"/>
                </a:solidFill>
                <a:latin typeface="Segoe UI"/>
              </a:defRPr>
            </a:pPr>
            <a:r>
              <a:t>Prompts are user entry points. Skills package domain knowledge.</a:t>
            </a:r>
          </a:p>
          <a:p>
            <a:pPr>
              <a:spcAft>
                <a:spcPts val="400"/>
              </a:spcAft>
              <a:defRPr sz="1300" b="0">
                <a:solidFill>
                  <a:srgbClr val="666666"/>
                </a:solidFill>
                <a:latin typeface="Segoe UI"/>
              </a:defRPr>
            </a:pPr>
            <a:r>
              <a:t>Collections bundle everything for specific roles.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3200" b="1">
                <a:solidFill>
                  <a:srgbClr val="242424"/>
                </a:solidFill>
                <a:latin typeface="Segoe UI"/>
              </a:defRPr>
            </a:pPr>
            <a:r>
              <a:t>The RPI Pipeline</a:t>
            </a:r>
          </a:p>
        </p:txBody>
      </p:sp>
      <p:sp>
        <p:nvSpPr>
          <p:cNvPr id="3" name="Rectangle 2"/>
          <p:cNvSpPr/>
          <p:nvPr/>
        </p:nvSpPr>
        <p:spPr>
          <a:xfrm>
            <a:off x="731520" y="82296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ight-hve-rpi-pipeline.png"/>
          <p:cNvPicPr>
            <a:picLocks noChangeAspect="1"/>
          </p:cNvPicPr>
          <p:nvPr/>
        </p:nvPicPr>
        <p:blipFill>
          <a:blip r:embed="rId2"/>
          <a:stretch>
            <a:fillRect/>
          </a:stretch>
        </p:blipFill>
        <p:spPr>
          <a:xfrm>
            <a:off x="274320" y="1097280"/>
            <a:ext cx="11612880" cy="5303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Deep Dive: Each Phase</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265176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Research</a:t>
            </a:r>
          </a:p>
        </p:txBody>
      </p:sp>
      <p:sp>
        <p:nvSpPr>
          <p:cNvPr id="5" name="TextBox 4"/>
          <p:cNvSpPr txBox="1"/>
          <p:nvPr/>
        </p:nvSpPr>
        <p:spPr>
          <a:xfrm>
            <a:off x="548640" y="1920240"/>
            <a:ext cx="2468880" cy="4114800"/>
          </a:xfrm>
          <a:prstGeom prst="rect">
            <a:avLst/>
          </a:prstGeom>
          <a:noFill/>
        </p:spPr>
        <p:txBody>
          <a:bodyPr wrap="square">
            <a:spAutoFit/>
          </a:bodyPr>
          <a:lstStyle/>
          <a:p>
            <a:pPr>
              <a:spcAft>
                <a:spcPts val="400"/>
              </a:spcAft>
              <a:defRPr sz="1100" b="1">
                <a:solidFill>
                  <a:srgbClr val="0078D4"/>
                </a:solidFill>
                <a:latin typeface="Segoe UI"/>
              </a:defRPr>
            </a:pPr>
            <a:r>
              <a:t>Purpose</a:t>
            </a:r>
          </a:p>
          <a:p>
            <a:pPr>
              <a:spcAft>
                <a:spcPts val="400"/>
              </a:spcAft>
              <a:defRPr sz="1000" b="0">
                <a:solidFill>
                  <a:srgbClr val="444444"/>
                </a:solidFill>
                <a:latin typeface="Segoe UI"/>
              </a:defRPr>
            </a:pPr>
            <a:r>
              <a:t>Discover what exists</a:t>
            </a:r>
          </a:p>
          <a:p>
            <a:pPr>
              <a:spcAft>
                <a:spcPts val="400"/>
              </a:spcAft>
              <a:defRPr sz="600" b="0">
                <a:solidFill>
                  <a:srgbClr val="242424"/>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242424"/>
                </a:solidFill>
                <a:latin typeface="Segoe UI"/>
              </a:defRPr>
            </a:pPr>
            <a:r>
              <a:t>CANNOT implement or modify code</a:t>
            </a:r>
          </a:p>
          <a:p>
            <a:pPr>
              <a:spcAft>
                <a:spcPts val="400"/>
              </a:spcAft>
              <a:defRPr sz="600" b="0">
                <a:solidFill>
                  <a:srgbClr val="242424"/>
                </a:solidFill>
                <a:latin typeface="Segoe UI"/>
              </a:defRPr>
            </a:pPr>
          </a:p>
          <a:p>
            <a:pPr>
              <a:spcAft>
                <a:spcPts val="400"/>
              </a:spcAft>
              <a:defRPr sz="1100" b="1">
                <a:solidFill>
                  <a:srgbClr val="0078D4"/>
                </a:solidFill>
                <a:latin typeface="Segoe UI"/>
              </a:defRPr>
            </a:pPr>
            <a:r>
              <a:t>Key Output</a:t>
            </a:r>
          </a:p>
          <a:p>
            <a:pPr>
              <a:spcAft>
                <a:spcPts val="400"/>
              </a:spcAft>
              <a:defRPr sz="1000" b="0">
                <a:solidFill>
                  <a:srgbClr val="444444"/>
                </a:solidFill>
                <a:latin typeface="Segoe UI"/>
              </a:defRPr>
            </a:pPr>
            <a:r>
              <a:t>research.md with citations</a:t>
            </a:r>
          </a:p>
          <a:p>
            <a:pPr>
              <a:spcAft>
                <a:spcPts val="400"/>
              </a:spcAft>
              <a:defRPr sz="600" b="0">
                <a:solidFill>
                  <a:srgbClr val="242424"/>
                </a:solidFill>
                <a:latin typeface="Segoe UI"/>
              </a:defRPr>
            </a:pPr>
          </a:p>
          <a:p>
            <a:pPr>
              <a:spcAft>
                <a:spcPts val="400"/>
              </a:spcAft>
              <a:defRPr sz="1100" b="1">
                <a:solidFill>
                  <a:srgbClr val="0078D4"/>
                </a:solidFill>
                <a:latin typeface="Segoe UI"/>
              </a:defRPr>
            </a:pPr>
            <a:r>
              <a:t>Invocation</a:t>
            </a:r>
          </a:p>
          <a:p>
            <a:pPr>
              <a:spcAft>
                <a:spcPts val="400"/>
              </a:spcAft>
              <a:defRPr sz="1000" b="0">
                <a:solidFill>
                  <a:srgbClr val="666666"/>
                </a:solidFill>
                <a:latin typeface="Segoe UI"/>
              </a:defRPr>
            </a:pPr>
            <a:r>
              <a:t>/task-research</a:t>
            </a:r>
          </a:p>
        </p:txBody>
      </p:sp>
      <p:sp>
        <p:nvSpPr>
          <p:cNvPr id="6" name="Rounded Rectangle 5"/>
          <p:cNvSpPr/>
          <p:nvPr/>
        </p:nvSpPr>
        <p:spPr>
          <a:xfrm>
            <a:off x="3291840" y="1371600"/>
            <a:ext cx="265176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Plan</a:t>
            </a:r>
          </a:p>
        </p:txBody>
      </p:sp>
      <p:sp>
        <p:nvSpPr>
          <p:cNvPr id="7" name="TextBox 6"/>
          <p:cNvSpPr txBox="1"/>
          <p:nvPr/>
        </p:nvSpPr>
        <p:spPr>
          <a:xfrm>
            <a:off x="3383280" y="1920240"/>
            <a:ext cx="2468880" cy="4114800"/>
          </a:xfrm>
          <a:prstGeom prst="rect">
            <a:avLst/>
          </a:prstGeom>
          <a:noFill/>
        </p:spPr>
        <p:txBody>
          <a:bodyPr wrap="square">
            <a:spAutoFit/>
          </a:bodyPr>
          <a:lstStyle/>
          <a:p>
            <a:pPr>
              <a:spcAft>
                <a:spcPts val="400"/>
              </a:spcAft>
              <a:defRPr sz="1100" b="1">
                <a:solidFill>
                  <a:srgbClr val="107C10"/>
                </a:solidFill>
                <a:latin typeface="Segoe UI"/>
              </a:defRPr>
            </a:pPr>
            <a:r>
              <a:t>Purpose</a:t>
            </a:r>
          </a:p>
          <a:p>
            <a:pPr>
              <a:spcAft>
                <a:spcPts val="400"/>
              </a:spcAft>
              <a:defRPr sz="1000" b="0">
                <a:solidFill>
                  <a:srgbClr val="444444"/>
                </a:solidFill>
                <a:latin typeface="Segoe UI"/>
              </a:defRPr>
            </a:pPr>
            <a:r>
              <a:t>Sequence the work</a:t>
            </a:r>
          </a:p>
          <a:p>
            <a:pPr>
              <a:spcAft>
                <a:spcPts val="400"/>
              </a:spcAft>
              <a:defRPr sz="600" b="0">
                <a:solidFill>
                  <a:srgbClr val="242424"/>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242424"/>
                </a:solidFill>
                <a:latin typeface="Segoe UI"/>
              </a:defRPr>
            </a:pPr>
            <a:r>
              <a:t>CANNOT implement or modify code</a:t>
            </a:r>
          </a:p>
          <a:p>
            <a:pPr>
              <a:spcAft>
                <a:spcPts val="400"/>
              </a:spcAft>
              <a:defRPr sz="600" b="0">
                <a:solidFill>
                  <a:srgbClr val="242424"/>
                </a:solidFill>
                <a:latin typeface="Segoe UI"/>
              </a:defRPr>
            </a:pPr>
          </a:p>
          <a:p>
            <a:pPr>
              <a:spcAft>
                <a:spcPts val="400"/>
              </a:spcAft>
              <a:defRPr sz="1100" b="1">
                <a:solidFill>
                  <a:srgbClr val="107C10"/>
                </a:solidFill>
                <a:latin typeface="Segoe UI"/>
              </a:defRPr>
            </a:pPr>
            <a:r>
              <a:t>Key Output</a:t>
            </a:r>
          </a:p>
          <a:p>
            <a:pPr>
              <a:spcAft>
                <a:spcPts val="400"/>
              </a:spcAft>
              <a:defRPr sz="1000" b="0">
                <a:solidFill>
                  <a:srgbClr val="444444"/>
                </a:solidFill>
                <a:latin typeface="Segoe UI"/>
              </a:defRPr>
            </a:pPr>
            <a:r>
              <a:t>plan.instructions.md + details.md</a:t>
            </a:r>
          </a:p>
          <a:p>
            <a:pPr>
              <a:spcAft>
                <a:spcPts val="400"/>
              </a:spcAft>
              <a:defRPr sz="600" b="0">
                <a:solidFill>
                  <a:srgbClr val="242424"/>
                </a:solidFill>
                <a:latin typeface="Segoe UI"/>
              </a:defRPr>
            </a:pPr>
          </a:p>
          <a:p>
            <a:pPr>
              <a:spcAft>
                <a:spcPts val="400"/>
              </a:spcAft>
              <a:defRPr sz="1100" b="1">
                <a:solidFill>
                  <a:srgbClr val="107C10"/>
                </a:solidFill>
                <a:latin typeface="Segoe UI"/>
              </a:defRPr>
            </a:pPr>
            <a:r>
              <a:t>Invocation</a:t>
            </a:r>
          </a:p>
          <a:p>
            <a:pPr>
              <a:spcAft>
                <a:spcPts val="400"/>
              </a:spcAft>
              <a:defRPr sz="1000" b="0">
                <a:solidFill>
                  <a:srgbClr val="666666"/>
                </a:solidFill>
                <a:latin typeface="Segoe UI"/>
              </a:defRPr>
            </a:pPr>
            <a:r>
              <a:t>/task-plan</a:t>
            </a:r>
          </a:p>
        </p:txBody>
      </p:sp>
      <p:sp>
        <p:nvSpPr>
          <p:cNvPr id="8" name="Rounded Rectangle 7"/>
          <p:cNvSpPr/>
          <p:nvPr/>
        </p:nvSpPr>
        <p:spPr>
          <a:xfrm>
            <a:off x="6126480" y="1371600"/>
            <a:ext cx="265176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Implement</a:t>
            </a:r>
          </a:p>
        </p:txBody>
      </p:sp>
      <p:sp>
        <p:nvSpPr>
          <p:cNvPr id="9" name="TextBox 8"/>
          <p:cNvSpPr txBox="1"/>
          <p:nvPr/>
        </p:nvSpPr>
        <p:spPr>
          <a:xfrm>
            <a:off x="6217920" y="1920240"/>
            <a:ext cx="2468880" cy="4114800"/>
          </a:xfrm>
          <a:prstGeom prst="rect">
            <a:avLst/>
          </a:prstGeom>
          <a:noFill/>
        </p:spPr>
        <p:txBody>
          <a:bodyPr wrap="square">
            <a:spAutoFit/>
          </a:bodyPr>
          <a:lstStyle/>
          <a:p>
            <a:pPr>
              <a:spcAft>
                <a:spcPts val="400"/>
              </a:spcAft>
              <a:defRPr sz="1100" b="1">
                <a:solidFill>
                  <a:srgbClr val="FF8C00"/>
                </a:solidFill>
                <a:latin typeface="Segoe UI"/>
              </a:defRPr>
            </a:pPr>
            <a:r>
              <a:t>Purpose</a:t>
            </a:r>
          </a:p>
          <a:p>
            <a:pPr>
              <a:spcAft>
                <a:spcPts val="400"/>
              </a:spcAft>
              <a:defRPr sz="1000" b="0">
                <a:solidFill>
                  <a:srgbClr val="444444"/>
                </a:solidFill>
                <a:latin typeface="Segoe UI"/>
              </a:defRPr>
            </a:pPr>
            <a:r>
              <a:t>Execute the plan</a:t>
            </a:r>
          </a:p>
          <a:p>
            <a:pPr>
              <a:spcAft>
                <a:spcPts val="400"/>
              </a:spcAft>
              <a:defRPr sz="600" b="0">
                <a:solidFill>
                  <a:srgbClr val="242424"/>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242424"/>
                </a:solidFill>
                <a:latin typeface="Segoe UI"/>
              </a:defRPr>
            </a:pPr>
            <a:r>
              <a:t>MUST follow plan — no creative decisions</a:t>
            </a:r>
          </a:p>
          <a:p>
            <a:pPr>
              <a:spcAft>
                <a:spcPts val="400"/>
              </a:spcAft>
              <a:defRPr sz="600" b="0">
                <a:solidFill>
                  <a:srgbClr val="242424"/>
                </a:solidFill>
                <a:latin typeface="Segoe UI"/>
              </a:defRPr>
            </a:pPr>
          </a:p>
          <a:p>
            <a:pPr>
              <a:spcAft>
                <a:spcPts val="400"/>
              </a:spcAft>
              <a:defRPr sz="1100" b="1">
                <a:solidFill>
                  <a:srgbClr val="FF8C00"/>
                </a:solidFill>
                <a:latin typeface="Segoe UI"/>
              </a:defRPr>
            </a:pPr>
            <a:r>
              <a:t>Key Output</a:t>
            </a:r>
          </a:p>
          <a:p>
            <a:pPr>
              <a:spcAft>
                <a:spcPts val="400"/>
              </a:spcAft>
              <a:defRPr sz="1000" b="0">
                <a:solidFill>
                  <a:srgbClr val="444444"/>
                </a:solidFill>
                <a:latin typeface="Segoe UI"/>
              </a:defRPr>
            </a:pPr>
            <a:r>
              <a:t>Working code matching plan</a:t>
            </a:r>
          </a:p>
          <a:p>
            <a:pPr>
              <a:spcAft>
                <a:spcPts val="400"/>
              </a:spcAft>
              <a:defRPr sz="600" b="0">
                <a:solidFill>
                  <a:srgbClr val="242424"/>
                </a:solidFill>
                <a:latin typeface="Segoe UI"/>
              </a:defRPr>
            </a:pPr>
          </a:p>
          <a:p>
            <a:pPr>
              <a:spcAft>
                <a:spcPts val="400"/>
              </a:spcAft>
              <a:defRPr sz="1100" b="1">
                <a:solidFill>
                  <a:srgbClr val="FF8C00"/>
                </a:solidFill>
                <a:latin typeface="Segoe UI"/>
              </a:defRPr>
            </a:pPr>
            <a:r>
              <a:t>Invocation</a:t>
            </a:r>
          </a:p>
          <a:p>
            <a:pPr>
              <a:spcAft>
                <a:spcPts val="400"/>
              </a:spcAft>
              <a:defRPr sz="1000" b="0">
                <a:solidFill>
                  <a:srgbClr val="666666"/>
                </a:solidFill>
                <a:latin typeface="Segoe UI"/>
              </a:defRPr>
            </a:pPr>
            <a:r>
              <a:t>/task-implement</a:t>
            </a:r>
          </a:p>
        </p:txBody>
      </p:sp>
      <p:sp>
        <p:nvSpPr>
          <p:cNvPr id="10" name="Rounded Rectangle 9"/>
          <p:cNvSpPr/>
          <p:nvPr/>
        </p:nvSpPr>
        <p:spPr>
          <a:xfrm>
            <a:off x="8961120" y="1371600"/>
            <a:ext cx="2651760" cy="45720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Review</a:t>
            </a:r>
          </a:p>
        </p:txBody>
      </p:sp>
      <p:sp>
        <p:nvSpPr>
          <p:cNvPr id="11" name="TextBox 10"/>
          <p:cNvSpPr txBox="1"/>
          <p:nvPr/>
        </p:nvSpPr>
        <p:spPr>
          <a:xfrm>
            <a:off x="9052560" y="1920240"/>
            <a:ext cx="2468880" cy="4114800"/>
          </a:xfrm>
          <a:prstGeom prst="rect">
            <a:avLst/>
          </a:prstGeom>
          <a:noFill/>
        </p:spPr>
        <p:txBody>
          <a:bodyPr wrap="square">
            <a:spAutoFit/>
          </a:bodyPr>
          <a:lstStyle/>
          <a:p>
            <a:pPr>
              <a:spcAft>
                <a:spcPts val="400"/>
              </a:spcAft>
              <a:defRPr sz="1100" b="1">
                <a:solidFill>
                  <a:srgbClr val="8864D8"/>
                </a:solidFill>
                <a:latin typeface="Segoe UI"/>
              </a:defRPr>
            </a:pPr>
            <a:r>
              <a:t>Purpose</a:t>
            </a:r>
          </a:p>
          <a:p>
            <a:pPr>
              <a:spcAft>
                <a:spcPts val="400"/>
              </a:spcAft>
              <a:defRPr sz="1000" b="0">
                <a:solidFill>
                  <a:srgbClr val="444444"/>
                </a:solidFill>
                <a:latin typeface="Segoe UI"/>
              </a:defRPr>
            </a:pPr>
            <a:r>
              <a:t>Validate the output</a:t>
            </a:r>
          </a:p>
          <a:p>
            <a:pPr>
              <a:spcAft>
                <a:spcPts val="400"/>
              </a:spcAft>
              <a:defRPr sz="600" b="0">
                <a:solidFill>
                  <a:srgbClr val="242424"/>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242424"/>
                </a:solidFill>
                <a:latin typeface="Segoe UI"/>
              </a:defRPr>
            </a:pPr>
            <a:r>
              <a:t>CANNOT modify code — only report findings</a:t>
            </a:r>
          </a:p>
          <a:p>
            <a:pPr>
              <a:spcAft>
                <a:spcPts val="400"/>
              </a:spcAft>
              <a:defRPr sz="600" b="0">
                <a:solidFill>
                  <a:srgbClr val="242424"/>
                </a:solidFill>
                <a:latin typeface="Segoe UI"/>
              </a:defRPr>
            </a:pPr>
          </a:p>
          <a:p>
            <a:pPr>
              <a:spcAft>
                <a:spcPts val="400"/>
              </a:spcAft>
              <a:defRPr sz="1100" b="1">
                <a:solidFill>
                  <a:srgbClr val="8864D8"/>
                </a:solidFill>
                <a:latin typeface="Segoe UI"/>
              </a:defRPr>
            </a:pPr>
            <a:r>
              <a:t>Key Output</a:t>
            </a:r>
          </a:p>
          <a:p>
            <a:pPr>
              <a:spcAft>
                <a:spcPts val="400"/>
              </a:spcAft>
              <a:defRPr sz="1000" b="0">
                <a:solidFill>
                  <a:srgbClr val="444444"/>
                </a:solidFill>
                <a:latin typeface="Segoe UI"/>
              </a:defRPr>
            </a:pPr>
            <a:r>
              <a:t>8-dimension review report</a:t>
            </a:r>
          </a:p>
          <a:p>
            <a:pPr>
              <a:spcAft>
                <a:spcPts val="400"/>
              </a:spcAft>
              <a:defRPr sz="600" b="0">
                <a:solidFill>
                  <a:srgbClr val="242424"/>
                </a:solidFill>
                <a:latin typeface="Segoe UI"/>
              </a:defRPr>
            </a:pPr>
          </a:p>
          <a:p>
            <a:pPr>
              <a:spcAft>
                <a:spcPts val="400"/>
              </a:spcAft>
              <a:defRPr sz="1100" b="1">
                <a:solidFill>
                  <a:srgbClr val="8864D8"/>
                </a:solidFill>
                <a:latin typeface="Segoe UI"/>
              </a:defRPr>
            </a:pPr>
            <a:r>
              <a:t>Invocation</a:t>
            </a:r>
          </a:p>
          <a:p>
            <a:pPr>
              <a:spcAft>
                <a:spcPts val="400"/>
              </a:spcAft>
              <a:defRPr sz="1000" b="0">
                <a:solidFill>
                  <a:srgbClr val="666666"/>
                </a:solidFill>
                <a:latin typeface="Segoe UI"/>
              </a:defRPr>
            </a:pPr>
            <a:r>
              <a:t>/task-review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2800" b="1">
                <a:solidFill>
                  <a:srgbClr val="242424"/>
                </a:solidFill>
                <a:latin typeface="Segoe UI"/>
              </a:defRPr>
            </a:pPr>
            <a:r>
              <a:t>Quality Comparison + The /clear Rule</a:t>
            </a:r>
          </a:p>
        </p:txBody>
      </p:sp>
      <p:sp>
        <p:nvSpPr>
          <p:cNvPr id="3" name="Rectangle 2"/>
          <p:cNvSpPr/>
          <p:nvPr/>
        </p:nvSpPr>
        <p:spPr>
          <a:xfrm>
            <a:off x="731520" y="7772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097280"/>
            <a:ext cx="2743200" cy="32004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Traditional AI</a:t>
            </a:r>
          </a:p>
        </p:txBody>
      </p:sp>
      <p:sp>
        <p:nvSpPr>
          <p:cNvPr id="5" name="Rounded Rectangle 4"/>
          <p:cNvSpPr/>
          <p:nvPr/>
        </p:nvSpPr>
        <p:spPr>
          <a:xfrm>
            <a:off x="4297680" y="1097280"/>
            <a:ext cx="2743200" cy="320040"/>
          </a:xfrm>
          <a:prstGeom prst="round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42424"/>
                </a:solidFill>
                <a:latin typeface="Segoe UI"/>
              </a:defRPr>
            </a:pPr>
            <a:r>
              <a:t>Dimension</a:t>
            </a:r>
          </a:p>
        </p:txBody>
      </p:sp>
      <p:sp>
        <p:nvSpPr>
          <p:cNvPr id="6" name="Rounded Rectangle 5"/>
          <p:cNvSpPr/>
          <p:nvPr/>
        </p:nvSpPr>
        <p:spPr>
          <a:xfrm>
            <a:off x="7223760" y="1097280"/>
            <a:ext cx="3200400" cy="3200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RPI Approach</a:t>
            </a:r>
          </a:p>
        </p:txBody>
      </p:sp>
      <p:sp>
        <p:nvSpPr>
          <p:cNvPr id="7" name="TextBox 6"/>
          <p:cNvSpPr txBox="1"/>
          <p:nvPr/>
        </p:nvSpPr>
        <p:spPr>
          <a:xfrm>
            <a:off x="1371600" y="1463040"/>
            <a:ext cx="2743200" cy="347472"/>
          </a:xfrm>
          <a:prstGeom prst="rect">
            <a:avLst/>
          </a:prstGeom>
          <a:noFill/>
        </p:spPr>
        <p:txBody>
          <a:bodyPr wrap="square">
            <a:spAutoFit/>
          </a:bodyPr>
          <a:lstStyle/>
          <a:p>
            <a:pPr algn="l">
              <a:defRPr sz="1000" b="0">
                <a:solidFill>
                  <a:srgbClr val="D13438"/>
                </a:solidFill>
                <a:latin typeface="Segoe UI"/>
              </a:defRPr>
            </a:pPr>
            <a:r>
              <a:t>Invents plausible patterns</a:t>
            </a:r>
          </a:p>
        </p:txBody>
      </p:sp>
      <p:sp>
        <p:nvSpPr>
          <p:cNvPr id="8" name="TextBox 7"/>
          <p:cNvSpPr txBox="1"/>
          <p:nvPr/>
        </p:nvSpPr>
        <p:spPr>
          <a:xfrm>
            <a:off x="4297680" y="1463040"/>
            <a:ext cx="2743200" cy="347472"/>
          </a:xfrm>
          <a:prstGeom prst="rect">
            <a:avLst/>
          </a:prstGeom>
          <a:noFill/>
        </p:spPr>
        <p:txBody>
          <a:bodyPr wrap="square">
            <a:spAutoFit/>
          </a:bodyPr>
          <a:lstStyle/>
          <a:p>
            <a:pPr algn="ctr">
              <a:defRPr sz="1000" b="1">
                <a:solidFill>
                  <a:srgbClr val="242424"/>
                </a:solidFill>
                <a:latin typeface="Segoe UI"/>
              </a:defRPr>
            </a:pPr>
            <a:r>
              <a:t>Pattern matching</a:t>
            </a:r>
          </a:p>
        </p:txBody>
      </p:sp>
      <p:sp>
        <p:nvSpPr>
          <p:cNvPr id="9" name="TextBox 8"/>
          <p:cNvSpPr txBox="1"/>
          <p:nvPr/>
        </p:nvSpPr>
        <p:spPr>
          <a:xfrm>
            <a:off x="7223760" y="1463040"/>
            <a:ext cx="3200400" cy="347472"/>
          </a:xfrm>
          <a:prstGeom prst="rect">
            <a:avLst/>
          </a:prstGeom>
          <a:noFill/>
        </p:spPr>
        <p:txBody>
          <a:bodyPr wrap="square">
            <a:spAutoFit/>
          </a:bodyPr>
          <a:lstStyle/>
          <a:p>
            <a:pPr algn="l">
              <a:defRPr sz="1000" b="0">
                <a:solidFill>
                  <a:srgbClr val="107C10"/>
                </a:solidFill>
                <a:latin typeface="Segoe UI"/>
              </a:defRPr>
            </a:pPr>
            <a:r>
              <a:t>Finds actual codebase patterns</a:t>
            </a:r>
          </a:p>
        </p:txBody>
      </p:sp>
      <p:sp>
        <p:nvSpPr>
          <p:cNvPr id="10" name="TextBox 9"/>
          <p:cNvSpPr txBox="1"/>
          <p:nvPr/>
        </p:nvSpPr>
        <p:spPr>
          <a:xfrm>
            <a:off x="1371600" y="1847088"/>
            <a:ext cx="2743200" cy="347472"/>
          </a:xfrm>
          <a:prstGeom prst="rect">
            <a:avLst/>
          </a:prstGeom>
          <a:noFill/>
        </p:spPr>
        <p:txBody>
          <a:bodyPr wrap="square">
            <a:spAutoFit/>
          </a:bodyPr>
          <a:lstStyle/>
          <a:p>
            <a:pPr algn="l">
              <a:defRPr sz="1000" b="0">
                <a:solidFill>
                  <a:srgbClr val="D13438"/>
                </a:solidFill>
                <a:latin typeface="Segoe UI"/>
              </a:defRPr>
            </a:pPr>
            <a:r>
              <a:t>No audit trail</a:t>
            </a:r>
          </a:p>
        </p:txBody>
      </p:sp>
      <p:sp>
        <p:nvSpPr>
          <p:cNvPr id="11" name="TextBox 10"/>
          <p:cNvSpPr txBox="1"/>
          <p:nvPr/>
        </p:nvSpPr>
        <p:spPr>
          <a:xfrm>
            <a:off x="4297680" y="1847088"/>
            <a:ext cx="2743200" cy="347472"/>
          </a:xfrm>
          <a:prstGeom prst="rect">
            <a:avLst/>
          </a:prstGeom>
          <a:noFill/>
        </p:spPr>
        <p:txBody>
          <a:bodyPr wrap="square">
            <a:spAutoFit/>
          </a:bodyPr>
          <a:lstStyle/>
          <a:p>
            <a:pPr algn="ctr">
              <a:defRPr sz="1000" b="1">
                <a:solidFill>
                  <a:srgbClr val="242424"/>
                </a:solidFill>
                <a:latin typeface="Segoe UI"/>
              </a:defRPr>
            </a:pPr>
            <a:r>
              <a:t>Traceability</a:t>
            </a:r>
          </a:p>
        </p:txBody>
      </p:sp>
      <p:sp>
        <p:nvSpPr>
          <p:cNvPr id="12" name="TextBox 11"/>
          <p:cNvSpPr txBox="1"/>
          <p:nvPr/>
        </p:nvSpPr>
        <p:spPr>
          <a:xfrm>
            <a:off x="7223760" y="1847088"/>
            <a:ext cx="3200400" cy="347472"/>
          </a:xfrm>
          <a:prstGeom prst="rect">
            <a:avLst/>
          </a:prstGeom>
          <a:noFill/>
        </p:spPr>
        <p:txBody>
          <a:bodyPr wrap="square">
            <a:spAutoFit/>
          </a:bodyPr>
          <a:lstStyle/>
          <a:p>
            <a:pPr algn="l">
              <a:defRPr sz="1000" b="0">
                <a:solidFill>
                  <a:srgbClr val="107C10"/>
                </a:solidFill>
                <a:latin typeface="Segoe UI"/>
              </a:defRPr>
            </a:pPr>
            <a:r>
              <a:t>Research → Plan → Code</a:t>
            </a:r>
          </a:p>
        </p:txBody>
      </p:sp>
      <p:sp>
        <p:nvSpPr>
          <p:cNvPr id="13" name="TextBox 12"/>
          <p:cNvSpPr txBox="1"/>
          <p:nvPr/>
        </p:nvSpPr>
        <p:spPr>
          <a:xfrm>
            <a:off x="1371600" y="2231136"/>
            <a:ext cx="2743200" cy="347472"/>
          </a:xfrm>
          <a:prstGeom prst="rect">
            <a:avLst/>
          </a:prstGeom>
          <a:noFill/>
        </p:spPr>
        <p:txBody>
          <a:bodyPr wrap="square">
            <a:spAutoFit/>
          </a:bodyPr>
          <a:lstStyle/>
          <a:p>
            <a:pPr algn="l">
              <a:defRPr sz="1000" b="0">
                <a:solidFill>
                  <a:srgbClr val="D13438"/>
                </a:solidFill>
                <a:latin typeface="Segoe UI"/>
              </a:defRPr>
            </a:pPr>
            <a:r>
              <a:t>Lost between sessions</a:t>
            </a:r>
          </a:p>
        </p:txBody>
      </p:sp>
      <p:sp>
        <p:nvSpPr>
          <p:cNvPr id="14" name="TextBox 13"/>
          <p:cNvSpPr txBox="1"/>
          <p:nvPr/>
        </p:nvSpPr>
        <p:spPr>
          <a:xfrm>
            <a:off x="4297680" y="2231136"/>
            <a:ext cx="2743200" cy="347472"/>
          </a:xfrm>
          <a:prstGeom prst="rect">
            <a:avLst/>
          </a:prstGeom>
          <a:noFill/>
        </p:spPr>
        <p:txBody>
          <a:bodyPr wrap="square">
            <a:spAutoFit/>
          </a:bodyPr>
          <a:lstStyle/>
          <a:p>
            <a:pPr algn="ctr">
              <a:defRPr sz="1000" b="1">
                <a:solidFill>
                  <a:srgbClr val="242424"/>
                </a:solidFill>
                <a:latin typeface="Segoe UI"/>
              </a:defRPr>
            </a:pPr>
            <a:r>
              <a:t>Knowledge transfer</a:t>
            </a:r>
          </a:p>
        </p:txBody>
      </p:sp>
      <p:sp>
        <p:nvSpPr>
          <p:cNvPr id="15" name="TextBox 14"/>
          <p:cNvSpPr txBox="1"/>
          <p:nvPr/>
        </p:nvSpPr>
        <p:spPr>
          <a:xfrm>
            <a:off x="7223760" y="2231136"/>
            <a:ext cx="3200400" cy="347472"/>
          </a:xfrm>
          <a:prstGeom prst="rect">
            <a:avLst/>
          </a:prstGeom>
          <a:noFill/>
        </p:spPr>
        <p:txBody>
          <a:bodyPr wrap="square">
            <a:spAutoFit/>
          </a:bodyPr>
          <a:lstStyle/>
          <a:p>
            <a:pPr algn="l">
              <a:defRPr sz="1000" b="0">
                <a:solidFill>
                  <a:srgbClr val="107C10"/>
                </a:solidFill>
                <a:latin typeface="Segoe UI"/>
              </a:defRPr>
            </a:pPr>
            <a:r>
              <a:t>Preserved in artifacts</a:t>
            </a:r>
          </a:p>
        </p:txBody>
      </p:sp>
      <p:sp>
        <p:nvSpPr>
          <p:cNvPr id="16" name="TextBox 15"/>
          <p:cNvSpPr txBox="1"/>
          <p:nvPr/>
        </p:nvSpPr>
        <p:spPr>
          <a:xfrm>
            <a:off x="1371600" y="2615184"/>
            <a:ext cx="2743200" cy="347472"/>
          </a:xfrm>
          <a:prstGeom prst="rect">
            <a:avLst/>
          </a:prstGeom>
          <a:noFill/>
        </p:spPr>
        <p:txBody>
          <a:bodyPr wrap="square">
            <a:spAutoFit/>
          </a:bodyPr>
          <a:lstStyle/>
          <a:p>
            <a:pPr algn="l">
              <a:defRPr sz="1000" b="0">
                <a:solidFill>
                  <a:srgbClr val="D13438"/>
                </a:solidFill>
                <a:latin typeface="Segoe UI"/>
              </a:defRPr>
            </a:pPr>
            <a:r>
              <a:t>30-50% discarded</a:t>
            </a:r>
          </a:p>
        </p:txBody>
      </p:sp>
      <p:sp>
        <p:nvSpPr>
          <p:cNvPr id="17" name="TextBox 16"/>
          <p:cNvSpPr txBox="1"/>
          <p:nvPr/>
        </p:nvSpPr>
        <p:spPr>
          <a:xfrm>
            <a:off x="4297680" y="2615184"/>
            <a:ext cx="2743200" cy="347472"/>
          </a:xfrm>
          <a:prstGeom prst="rect">
            <a:avLst/>
          </a:prstGeom>
          <a:noFill/>
        </p:spPr>
        <p:txBody>
          <a:bodyPr wrap="square">
            <a:spAutoFit/>
          </a:bodyPr>
          <a:lstStyle/>
          <a:p>
            <a:pPr algn="ctr">
              <a:defRPr sz="1000" b="1">
                <a:solidFill>
                  <a:srgbClr val="242424"/>
                </a:solidFill>
                <a:latin typeface="Segoe UI"/>
              </a:defRPr>
            </a:pPr>
            <a:r>
              <a:t>Rework</a:t>
            </a:r>
          </a:p>
        </p:txBody>
      </p:sp>
      <p:sp>
        <p:nvSpPr>
          <p:cNvPr id="18" name="TextBox 17"/>
          <p:cNvSpPr txBox="1"/>
          <p:nvPr/>
        </p:nvSpPr>
        <p:spPr>
          <a:xfrm>
            <a:off x="7223760" y="2615184"/>
            <a:ext cx="3200400" cy="347472"/>
          </a:xfrm>
          <a:prstGeom prst="rect">
            <a:avLst/>
          </a:prstGeom>
          <a:noFill/>
        </p:spPr>
        <p:txBody>
          <a:bodyPr wrap="square">
            <a:spAutoFit/>
          </a:bodyPr>
          <a:lstStyle/>
          <a:p>
            <a:pPr algn="l">
              <a:defRPr sz="1000" b="0">
                <a:solidFill>
                  <a:srgbClr val="107C10"/>
                </a:solidFill>
                <a:latin typeface="Segoe UI"/>
              </a:defRPr>
            </a:pPr>
            <a:r>
              <a:t>&lt; 10% rework</a:t>
            </a:r>
          </a:p>
        </p:txBody>
      </p:sp>
      <p:sp>
        <p:nvSpPr>
          <p:cNvPr id="19" name="TextBox 18"/>
          <p:cNvSpPr txBox="1"/>
          <p:nvPr/>
        </p:nvSpPr>
        <p:spPr>
          <a:xfrm>
            <a:off x="1371600" y="2999232"/>
            <a:ext cx="2743200" cy="347472"/>
          </a:xfrm>
          <a:prstGeom prst="rect">
            <a:avLst/>
          </a:prstGeom>
          <a:noFill/>
        </p:spPr>
        <p:txBody>
          <a:bodyPr wrap="square">
            <a:spAutoFit/>
          </a:bodyPr>
          <a:lstStyle/>
          <a:p>
            <a:pPr algn="l">
              <a:defRPr sz="1000" b="0">
                <a:solidFill>
                  <a:srgbClr val="D13438"/>
                </a:solidFill>
                <a:latin typeface="Segoe UI"/>
              </a:defRPr>
            </a:pPr>
            <a:r>
              <a:t>Manual review only</a:t>
            </a:r>
          </a:p>
        </p:txBody>
      </p:sp>
      <p:sp>
        <p:nvSpPr>
          <p:cNvPr id="20" name="TextBox 19"/>
          <p:cNvSpPr txBox="1"/>
          <p:nvPr/>
        </p:nvSpPr>
        <p:spPr>
          <a:xfrm>
            <a:off x="4297680" y="2999232"/>
            <a:ext cx="2743200" cy="347472"/>
          </a:xfrm>
          <a:prstGeom prst="rect">
            <a:avLst/>
          </a:prstGeom>
          <a:noFill/>
        </p:spPr>
        <p:txBody>
          <a:bodyPr wrap="square">
            <a:spAutoFit/>
          </a:bodyPr>
          <a:lstStyle/>
          <a:p>
            <a:pPr algn="ctr">
              <a:defRPr sz="1000" b="1">
                <a:solidFill>
                  <a:srgbClr val="242424"/>
                </a:solidFill>
                <a:latin typeface="Segoe UI"/>
              </a:defRPr>
            </a:pPr>
            <a:r>
              <a:t>Validation</a:t>
            </a:r>
          </a:p>
        </p:txBody>
      </p:sp>
      <p:sp>
        <p:nvSpPr>
          <p:cNvPr id="21" name="TextBox 20"/>
          <p:cNvSpPr txBox="1"/>
          <p:nvPr/>
        </p:nvSpPr>
        <p:spPr>
          <a:xfrm>
            <a:off x="7223760" y="2999232"/>
            <a:ext cx="3200400" cy="347472"/>
          </a:xfrm>
          <a:prstGeom prst="rect">
            <a:avLst/>
          </a:prstGeom>
          <a:noFill/>
        </p:spPr>
        <p:txBody>
          <a:bodyPr wrap="square">
            <a:spAutoFit/>
          </a:bodyPr>
          <a:lstStyle/>
          <a:p>
            <a:pPr algn="l">
              <a:defRPr sz="1000" b="0">
                <a:solidFill>
                  <a:srgbClr val="107C10"/>
                </a:solidFill>
                <a:latin typeface="Segoe UI"/>
              </a:defRPr>
            </a:pPr>
            <a:r>
              <a:t>8-dimension structured review</a:t>
            </a:r>
          </a:p>
        </p:txBody>
      </p:sp>
      <p:sp>
        <p:nvSpPr>
          <p:cNvPr id="22" name="TextBox 21"/>
          <p:cNvSpPr txBox="1"/>
          <p:nvPr/>
        </p:nvSpPr>
        <p:spPr>
          <a:xfrm>
            <a:off x="731520" y="3840480"/>
            <a:ext cx="10058400" cy="457200"/>
          </a:xfrm>
          <a:prstGeom prst="rect">
            <a:avLst/>
          </a:prstGeom>
          <a:noFill/>
        </p:spPr>
        <p:txBody>
          <a:bodyPr wrap="square">
            <a:spAutoFit/>
          </a:bodyPr>
          <a:lstStyle/>
          <a:p>
            <a:pPr algn="l">
              <a:defRPr sz="1600" b="1">
                <a:solidFill>
                  <a:srgbClr val="242424"/>
                </a:solidFill>
                <a:latin typeface="Segoe UI"/>
              </a:defRPr>
            </a:pPr>
            <a:r>
              <a:t>The /clear Rule: Context Reset Between Phases</a:t>
            </a:r>
          </a:p>
        </p:txBody>
      </p:sp>
      <p:sp>
        <p:nvSpPr>
          <p:cNvPr id="23" name="Rounded Rectangle 22"/>
          <p:cNvSpPr/>
          <p:nvPr/>
        </p:nvSpPr>
        <p:spPr>
          <a:xfrm>
            <a:off x="731520" y="4480560"/>
            <a:ext cx="128016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Research</a:t>
            </a:r>
          </a:p>
        </p:txBody>
      </p:sp>
      <p:cxnSp>
        <p:nvCxnSpPr>
          <p:cNvPr id="24" name="Connector 23"/>
          <p:cNvCxnSpPr/>
          <p:nvPr/>
        </p:nvCxnSpPr>
        <p:spPr>
          <a:xfrm>
            <a:off x="2011680" y="4709160"/>
            <a:ext cx="18288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286000" y="4480560"/>
            <a:ext cx="914400" cy="45720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26" name="Connector 25"/>
          <p:cNvCxnSpPr/>
          <p:nvPr/>
        </p:nvCxnSpPr>
        <p:spPr>
          <a:xfrm>
            <a:off x="3200400" y="4709160"/>
            <a:ext cx="18288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840480" y="4480560"/>
            <a:ext cx="128016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Plan</a:t>
            </a:r>
          </a:p>
        </p:txBody>
      </p:sp>
      <p:cxnSp>
        <p:nvCxnSpPr>
          <p:cNvPr id="28" name="Connector 27"/>
          <p:cNvCxnSpPr/>
          <p:nvPr/>
        </p:nvCxnSpPr>
        <p:spPr>
          <a:xfrm>
            <a:off x="5120640" y="4709160"/>
            <a:ext cx="18288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394959" y="4480560"/>
            <a:ext cx="914400" cy="45720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30" name="Connector 29"/>
          <p:cNvCxnSpPr/>
          <p:nvPr/>
        </p:nvCxnSpPr>
        <p:spPr>
          <a:xfrm>
            <a:off x="6309359" y="4709160"/>
            <a:ext cx="18288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949440" y="4480560"/>
            <a:ext cx="128016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Implement</a:t>
            </a:r>
          </a:p>
        </p:txBody>
      </p:sp>
      <p:cxnSp>
        <p:nvCxnSpPr>
          <p:cNvPr id="32" name="Connector 31"/>
          <p:cNvCxnSpPr/>
          <p:nvPr/>
        </p:nvCxnSpPr>
        <p:spPr>
          <a:xfrm>
            <a:off x="8229600" y="4709160"/>
            <a:ext cx="18288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503920" y="4480560"/>
            <a:ext cx="914400" cy="45720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34" name="Connector 33"/>
          <p:cNvCxnSpPr/>
          <p:nvPr/>
        </p:nvCxnSpPr>
        <p:spPr>
          <a:xfrm>
            <a:off x="9418320" y="4709160"/>
            <a:ext cx="18288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058400" y="4480560"/>
            <a:ext cx="1280160" cy="45720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Review</a:t>
            </a:r>
          </a:p>
        </p:txBody>
      </p:sp>
      <p:sp>
        <p:nvSpPr>
          <p:cNvPr id="36" name="TextBox 35"/>
          <p:cNvSpPr txBox="1"/>
          <p:nvPr/>
        </p:nvSpPr>
        <p:spPr>
          <a:xfrm>
            <a:off x="1371600" y="5212080"/>
            <a:ext cx="9144000" cy="731520"/>
          </a:xfrm>
          <a:prstGeom prst="rect">
            <a:avLst/>
          </a:prstGeom>
          <a:noFill/>
        </p:spPr>
        <p:txBody>
          <a:bodyPr wrap="square">
            <a:spAutoFit/>
          </a:bodyPr>
          <a:lstStyle/>
          <a:p>
            <a:pPr algn="ctr">
              <a:defRPr sz="1300" b="0">
                <a:solidFill>
                  <a:srgbClr val="666666"/>
                </a:solidFill>
                <a:latin typeface="Segoe UI"/>
              </a:defRPr>
            </a:pPr>
            <a:r>
              <a:t>Context clearing prevents mode contamination — the researcher's reasoning must not leak into the implementor's execution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Six Custom Chat Modes</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4572000" cy="365760"/>
          </a:xfrm>
          <a:prstGeom prst="rect">
            <a:avLst/>
          </a:prstGeom>
          <a:noFill/>
        </p:spPr>
        <p:txBody>
          <a:bodyPr wrap="square">
            <a:spAutoFit/>
          </a:bodyPr>
          <a:lstStyle/>
          <a:p>
            <a:pPr algn="l">
              <a:defRPr sz="1600" b="1">
                <a:solidFill>
                  <a:srgbClr val="0078D4"/>
                </a:solidFill>
                <a:latin typeface="Segoe UI"/>
              </a:defRPr>
            </a:pPr>
            <a:r>
              <a:t>RPI Cycle</a:t>
            </a:r>
          </a:p>
        </p:txBody>
      </p:sp>
      <p:sp>
        <p:nvSpPr>
          <p:cNvPr id="5" name="Rounded Rectangle 4"/>
          <p:cNvSpPr/>
          <p:nvPr/>
        </p:nvSpPr>
        <p:spPr>
          <a:xfrm>
            <a:off x="731520" y="1828800"/>
            <a:ext cx="228600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Researcher</a:t>
            </a:r>
          </a:p>
        </p:txBody>
      </p:sp>
      <p:sp>
        <p:nvSpPr>
          <p:cNvPr id="6" name="TextBox 5"/>
          <p:cNvSpPr txBox="1"/>
          <p:nvPr/>
        </p:nvSpPr>
        <p:spPr>
          <a:xfrm>
            <a:off x="3200400" y="1828800"/>
            <a:ext cx="1371600" cy="320040"/>
          </a:xfrm>
          <a:prstGeom prst="rect">
            <a:avLst/>
          </a:prstGeom>
          <a:noFill/>
        </p:spPr>
        <p:txBody>
          <a:bodyPr wrap="square">
            <a:spAutoFit/>
          </a:bodyPr>
          <a:lstStyle/>
          <a:p>
            <a:pPr algn="l">
              <a:defRPr sz="1100" b="0">
                <a:solidFill>
                  <a:srgbClr val="0078D4"/>
                </a:solidFill>
                <a:latin typeface="Segoe UI"/>
              </a:defRPr>
            </a:pPr>
            <a:r>
              <a:t>/task-research</a:t>
            </a:r>
          </a:p>
        </p:txBody>
      </p:sp>
      <p:sp>
        <p:nvSpPr>
          <p:cNvPr id="7" name="TextBox 6"/>
          <p:cNvSpPr txBox="1"/>
          <p:nvPr/>
        </p:nvSpPr>
        <p:spPr>
          <a:xfrm>
            <a:off x="3200400" y="2148840"/>
            <a:ext cx="2743200" cy="320040"/>
          </a:xfrm>
          <a:prstGeom prst="rect">
            <a:avLst/>
          </a:prstGeom>
          <a:noFill/>
        </p:spPr>
        <p:txBody>
          <a:bodyPr wrap="square">
            <a:spAutoFit/>
          </a:bodyPr>
          <a:lstStyle/>
          <a:p>
            <a:pPr algn="l">
              <a:defRPr sz="1000" b="0">
                <a:solidFill>
                  <a:srgbClr val="D13438"/>
                </a:solidFill>
                <a:latin typeface="Segoe UI"/>
              </a:defRPr>
            </a:pPr>
            <a:r>
              <a:t>Constraint: Cannot implement</a:t>
            </a:r>
          </a:p>
        </p:txBody>
      </p:sp>
      <p:cxnSp>
        <p:nvCxnSpPr>
          <p:cNvPr id="8" name="Connector 7"/>
          <p:cNvCxnSpPr/>
          <p:nvPr/>
        </p:nvCxnSpPr>
        <p:spPr>
          <a:xfrm>
            <a:off x="1828800" y="2514600"/>
            <a:ext cx="0" cy="137160"/>
          </a:xfrm>
          <a:prstGeom prst="line">
            <a:avLst/>
          </a:prstGeom>
          <a:ln w="12700">
            <a:solidFill>
              <a:srgbClr val="66666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2697480"/>
            <a:ext cx="2286000" cy="6400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Planner</a:t>
            </a:r>
          </a:p>
        </p:txBody>
      </p:sp>
      <p:sp>
        <p:nvSpPr>
          <p:cNvPr id="10" name="TextBox 9"/>
          <p:cNvSpPr txBox="1"/>
          <p:nvPr/>
        </p:nvSpPr>
        <p:spPr>
          <a:xfrm>
            <a:off x="3200400" y="2697480"/>
            <a:ext cx="1371600" cy="320040"/>
          </a:xfrm>
          <a:prstGeom prst="rect">
            <a:avLst/>
          </a:prstGeom>
          <a:noFill/>
        </p:spPr>
        <p:txBody>
          <a:bodyPr wrap="square">
            <a:spAutoFit/>
          </a:bodyPr>
          <a:lstStyle/>
          <a:p>
            <a:pPr algn="l">
              <a:defRPr sz="1100" b="0">
                <a:solidFill>
                  <a:srgbClr val="107C10"/>
                </a:solidFill>
                <a:latin typeface="Segoe UI"/>
              </a:defRPr>
            </a:pPr>
            <a:r>
              <a:t>/task-plan</a:t>
            </a:r>
          </a:p>
        </p:txBody>
      </p:sp>
      <p:sp>
        <p:nvSpPr>
          <p:cNvPr id="11" name="TextBox 10"/>
          <p:cNvSpPr txBox="1"/>
          <p:nvPr/>
        </p:nvSpPr>
        <p:spPr>
          <a:xfrm>
            <a:off x="3200400" y="3017520"/>
            <a:ext cx="2743200" cy="320040"/>
          </a:xfrm>
          <a:prstGeom prst="rect">
            <a:avLst/>
          </a:prstGeom>
          <a:noFill/>
        </p:spPr>
        <p:txBody>
          <a:bodyPr wrap="square">
            <a:spAutoFit/>
          </a:bodyPr>
          <a:lstStyle/>
          <a:p>
            <a:pPr algn="l">
              <a:defRPr sz="1000" b="0">
                <a:solidFill>
                  <a:srgbClr val="D13438"/>
                </a:solidFill>
                <a:latin typeface="Segoe UI"/>
              </a:defRPr>
            </a:pPr>
            <a:r>
              <a:t>Constraint: Cannot implement</a:t>
            </a:r>
          </a:p>
        </p:txBody>
      </p:sp>
      <p:cxnSp>
        <p:nvCxnSpPr>
          <p:cNvPr id="12" name="Connector 11"/>
          <p:cNvCxnSpPr/>
          <p:nvPr/>
        </p:nvCxnSpPr>
        <p:spPr>
          <a:xfrm>
            <a:off x="1828800" y="3383280"/>
            <a:ext cx="0" cy="137160"/>
          </a:xfrm>
          <a:prstGeom prst="line">
            <a:avLst/>
          </a:prstGeom>
          <a:ln w="12700">
            <a:solidFill>
              <a:srgbClr val="66666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3566160"/>
            <a:ext cx="2286000" cy="6400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Implementor</a:t>
            </a:r>
          </a:p>
        </p:txBody>
      </p:sp>
      <p:sp>
        <p:nvSpPr>
          <p:cNvPr id="14" name="TextBox 13"/>
          <p:cNvSpPr txBox="1"/>
          <p:nvPr/>
        </p:nvSpPr>
        <p:spPr>
          <a:xfrm>
            <a:off x="3200400" y="3566160"/>
            <a:ext cx="1371600" cy="320040"/>
          </a:xfrm>
          <a:prstGeom prst="rect">
            <a:avLst/>
          </a:prstGeom>
          <a:noFill/>
        </p:spPr>
        <p:txBody>
          <a:bodyPr wrap="square">
            <a:spAutoFit/>
          </a:bodyPr>
          <a:lstStyle/>
          <a:p>
            <a:pPr algn="l">
              <a:defRPr sz="1100" b="0">
                <a:solidFill>
                  <a:srgbClr val="FF8C00"/>
                </a:solidFill>
                <a:latin typeface="Segoe UI"/>
              </a:defRPr>
            </a:pPr>
            <a:r>
              <a:t>/task-implement</a:t>
            </a:r>
          </a:p>
        </p:txBody>
      </p:sp>
      <p:sp>
        <p:nvSpPr>
          <p:cNvPr id="15" name="TextBox 14"/>
          <p:cNvSpPr txBox="1"/>
          <p:nvPr/>
        </p:nvSpPr>
        <p:spPr>
          <a:xfrm>
            <a:off x="3200400" y="3886200"/>
            <a:ext cx="2743200" cy="320040"/>
          </a:xfrm>
          <a:prstGeom prst="rect">
            <a:avLst/>
          </a:prstGeom>
          <a:noFill/>
        </p:spPr>
        <p:txBody>
          <a:bodyPr wrap="square">
            <a:spAutoFit/>
          </a:bodyPr>
          <a:lstStyle/>
          <a:p>
            <a:pPr algn="l">
              <a:defRPr sz="1000" b="0">
                <a:solidFill>
                  <a:srgbClr val="D13438"/>
                </a:solidFill>
                <a:latin typeface="Segoe UI"/>
              </a:defRPr>
            </a:pPr>
            <a:r>
              <a:t>Constraint: Follows plan only</a:t>
            </a:r>
          </a:p>
        </p:txBody>
      </p:sp>
      <p:cxnSp>
        <p:nvCxnSpPr>
          <p:cNvPr id="16" name="Connector 15"/>
          <p:cNvCxnSpPr/>
          <p:nvPr/>
        </p:nvCxnSpPr>
        <p:spPr>
          <a:xfrm>
            <a:off x="1828800" y="4251960"/>
            <a:ext cx="0" cy="137160"/>
          </a:xfrm>
          <a:prstGeom prst="line">
            <a:avLst/>
          </a:prstGeom>
          <a:ln w="12700">
            <a:solidFill>
              <a:srgbClr val="66666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 y="4434840"/>
            <a:ext cx="2286000" cy="6400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Reviewer</a:t>
            </a:r>
          </a:p>
        </p:txBody>
      </p:sp>
      <p:sp>
        <p:nvSpPr>
          <p:cNvPr id="18" name="TextBox 17"/>
          <p:cNvSpPr txBox="1"/>
          <p:nvPr/>
        </p:nvSpPr>
        <p:spPr>
          <a:xfrm>
            <a:off x="3200400" y="4434840"/>
            <a:ext cx="1371600" cy="320040"/>
          </a:xfrm>
          <a:prstGeom prst="rect">
            <a:avLst/>
          </a:prstGeom>
          <a:noFill/>
        </p:spPr>
        <p:txBody>
          <a:bodyPr wrap="square">
            <a:spAutoFit/>
          </a:bodyPr>
          <a:lstStyle/>
          <a:p>
            <a:pPr algn="l">
              <a:defRPr sz="1100" b="0">
                <a:solidFill>
                  <a:srgbClr val="8864D8"/>
                </a:solidFill>
                <a:latin typeface="Segoe UI"/>
              </a:defRPr>
            </a:pPr>
            <a:r>
              <a:t>/task-review</a:t>
            </a:r>
          </a:p>
        </p:txBody>
      </p:sp>
      <p:sp>
        <p:nvSpPr>
          <p:cNvPr id="19" name="TextBox 18"/>
          <p:cNvSpPr txBox="1"/>
          <p:nvPr/>
        </p:nvSpPr>
        <p:spPr>
          <a:xfrm>
            <a:off x="3200400" y="4754880"/>
            <a:ext cx="2743200" cy="320040"/>
          </a:xfrm>
          <a:prstGeom prst="rect">
            <a:avLst/>
          </a:prstGeom>
          <a:noFill/>
        </p:spPr>
        <p:txBody>
          <a:bodyPr wrap="square">
            <a:spAutoFit/>
          </a:bodyPr>
          <a:lstStyle/>
          <a:p>
            <a:pPr algn="l">
              <a:defRPr sz="1000" b="0">
                <a:solidFill>
                  <a:srgbClr val="D13438"/>
                </a:solidFill>
                <a:latin typeface="Segoe UI"/>
              </a:defRPr>
            </a:pPr>
            <a:r>
              <a:t>Constraint: Cannot modify code</a:t>
            </a:r>
          </a:p>
        </p:txBody>
      </p:sp>
      <p:sp>
        <p:nvSpPr>
          <p:cNvPr id="20" name="TextBox 19"/>
          <p:cNvSpPr txBox="1"/>
          <p:nvPr/>
        </p:nvSpPr>
        <p:spPr>
          <a:xfrm>
            <a:off x="6858000" y="1371600"/>
            <a:ext cx="4572000" cy="365760"/>
          </a:xfrm>
          <a:prstGeom prst="rect">
            <a:avLst/>
          </a:prstGeom>
          <a:noFill/>
        </p:spPr>
        <p:txBody>
          <a:bodyPr wrap="square">
            <a:spAutoFit/>
          </a:bodyPr>
          <a:lstStyle/>
          <a:p>
            <a:pPr algn="l">
              <a:defRPr sz="1600" b="1">
                <a:solidFill>
                  <a:srgbClr val="038E8E"/>
                </a:solidFill>
                <a:latin typeface="Segoe UI"/>
              </a:defRPr>
            </a:pPr>
            <a:r>
              <a:t>Complementary</a:t>
            </a:r>
          </a:p>
        </p:txBody>
      </p:sp>
      <p:sp>
        <p:nvSpPr>
          <p:cNvPr id="21" name="Rounded Rectangle 20"/>
          <p:cNvSpPr/>
          <p:nvPr/>
        </p:nvSpPr>
        <p:spPr>
          <a:xfrm>
            <a:off x="6858000" y="1828800"/>
            <a:ext cx="2286000" cy="640080"/>
          </a:xfrm>
          <a:prstGeom prst="round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Prompt Builder</a:t>
            </a:r>
          </a:p>
        </p:txBody>
      </p:sp>
      <p:sp>
        <p:nvSpPr>
          <p:cNvPr id="22" name="TextBox 21"/>
          <p:cNvSpPr txBox="1"/>
          <p:nvPr/>
        </p:nvSpPr>
        <p:spPr>
          <a:xfrm>
            <a:off x="9326880" y="1828800"/>
            <a:ext cx="2286000" cy="320040"/>
          </a:xfrm>
          <a:prstGeom prst="rect">
            <a:avLst/>
          </a:prstGeom>
          <a:noFill/>
        </p:spPr>
        <p:txBody>
          <a:bodyPr wrap="square">
            <a:spAutoFit/>
          </a:bodyPr>
          <a:lstStyle/>
          <a:p>
            <a:pPr algn="l">
              <a:defRPr sz="1100" b="0">
                <a:solidFill>
                  <a:srgbClr val="038E8E"/>
                </a:solidFill>
                <a:latin typeface="Segoe UI"/>
              </a:defRPr>
            </a:pPr>
            <a:r>
              <a:t>/prompt-build</a:t>
            </a:r>
          </a:p>
        </p:txBody>
      </p:sp>
      <p:sp>
        <p:nvSpPr>
          <p:cNvPr id="23" name="TextBox 22"/>
          <p:cNvSpPr txBox="1"/>
          <p:nvPr/>
        </p:nvSpPr>
        <p:spPr>
          <a:xfrm>
            <a:off x="9326880" y="2148840"/>
            <a:ext cx="2743200" cy="320040"/>
          </a:xfrm>
          <a:prstGeom prst="rect">
            <a:avLst/>
          </a:prstGeom>
          <a:noFill/>
        </p:spPr>
        <p:txBody>
          <a:bodyPr wrap="square">
            <a:spAutoFit/>
          </a:bodyPr>
          <a:lstStyle/>
          <a:p>
            <a:pPr algn="l">
              <a:defRPr sz="1000" b="0">
                <a:solidFill>
                  <a:srgbClr val="D13438"/>
                </a:solidFill>
                <a:latin typeface="Segoe UI"/>
              </a:defRPr>
            </a:pPr>
            <a:r>
              <a:t>Constraint: Orchestrates subagents</a:t>
            </a:r>
          </a:p>
        </p:txBody>
      </p:sp>
      <p:sp>
        <p:nvSpPr>
          <p:cNvPr id="24" name="Rounded Rectangle 23"/>
          <p:cNvSpPr/>
          <p:nvPr/>
        </p:nvSpPr>
        <p:spPr>
          <a:xfrm>
            <a:off x="6858000" y="2926080"/>
            <a:ext cx="2286000" cy="6400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PR Review</a:t>
            </a:r>
          </a:p>
        </p:txBody>
      </p:sp>
      <p:sp>
        <p:nvSpPr>
          <p:cNvPr id="25" name="TextBox 24"/>
          <p:cNvSpPr txBox="1"/>
          <p:nvPr/>
        </p:nvSpPr>
        <p:spPr>
          <a:xfrm>
            <a:off x="9326880" y="2926080"/>
            <a:ext cx="2286000" cy="320040"/>
          </a:xfrm>
          <a:prstGeom prst="rect">
            <a:avLst/>
          </a:prstGeom>
          <a:noFill/>
        </p:spPr>
        <p:txBody>
          <a:bodyPr wrap="square">
            <a:spAutoFit/>
          </a:bodyPr>
          <a:lstStyle/>
          <a:p>
            <a:pPr algn="l">
              <a:defRPr sz="1100" b="0">
                <a:solidFill>
                  <a:srgbClr val="8864D8"/>
                </a:solidFill>
                <a:latin typeface="Segoe UI"/>
              </a:defRPr>
            </a:pPr>
            <a:r>
              <a:t>Agent picker</a:t>
            </a:r>
          </a:p>
        </p:txBody>
      </p:sp>
      <p:sp>
        <p:nvSpPr>
          <p:cNvPr id="26" name="TextBox 25"/>
          <p:cNvSpPr txBox="1"/>
          <p:nvPr/>
        </p:nvSpPr>
        <p:spPr>
          <a:xfrm>
            <a:off x="9326880" y="3246120"/>
            <a:ext cx="2743200" cy="320040"/>
          </a:xfrm>
          <a:prstGeom prst="rect">
            <a:avLst/>
          </a:prstGeom>
          <a:noFill/>
        </p:spPr>
        <p:txBody>
          <a:bodyPr wrap="square">
            <a:spAutoFit/>
          </a:bodyPr>
          <a:lstStyle/>
          <a:p>
            <a:pPr algn="l">
              <a:defRPr sz="1000" b="0">
                <a:solidFill>
                  <a:srgbClr val="D13438"/>
                </a:solidFill>
                <a:latin typeface="Segoe UI"/>
              </a:defRPr>
            </a:pPr>
            <a:r>
              <a:t>Constraint: Never modifies code</a:t>
            </a:r>
          </a:p>
        </p:txBody>
      </p:sp>
      <p:sp>
        <p:nvSpPr>
          <p:cNvPr id="27" name="TextBox 26"/>
          <p:cNvSpPr txBox="1"/>
          <p:nvPr/>
        </p:nvSpPr>
        <p:spPr>
          <a:xfrm>
            <a:off x="731520" y="5486400"/>
            <a:ext cx="10058400" cy="457200"/>
          </a:xfrm>
          <a:prstGeom prst="rect">
            <a:avLst/>
          </a:prstGeom>
          <a:noFill/>
        </p:spPr>
        <p:txBody>
          <a:bodyPr wrap="square">
            <a:spAutoFit/>
          </a:bodyPr>
          <a:lstStyle/>
          <a:p>
            <a:pPr algn="l">
              <a:defRPr sz="1300" b="0">
                <a:solidFill>
                  <a:srgbClr val="666666"/>
                </a:solidFill>
                <a:latin typeface="Segoe UI"/>
              </a:defRPr>
            </a:pPr>
            <a:r>
              <a:t>Every mode enforces specific constraints — AI cannot bypass its designated role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371600"/>
            <a:ext cx="10058400" cy="914400"/>
          </a:xfrm>
          <a:prstGeom prst="rect">
            <a:avLst/>
          </a:prstGeom>
          <a:noFill/>
        </p:spPr>
        <p:txBody>
          <a:bodyPr wrap="square">
            <a:spAutoFit/>
          </a:bodyPr>
          <a:lstStyle/>
          <a:p>
            <a:pPr algn="l">
              <a:defRPr sz="4000" b="1">
                <a:solidFill>
                  <a:srgbClr val="242424"/>
                </a:solidFill>
                <a:latin typeface="Segoe UI"/>
              </a:defRPr>
            </a:pPr>
            <a:r>
              <a:t>Let's See It in Action</a:t>
            </a:r>
          </a:p>
        </p:txBody>
      </p:sp>
      <p:sp>
        <p:nvSpPr>
          <p:cNvPr id="3" name="Rectangle 2"/>
          <p:cNvSpPr/>
          <p:nvPr/>
        </p:nvSpPr>
        <p:spPr>
          <a:xfrm>
            <a:off x="731520" y="2103120"/>
            <a:ext cx="731520" cy="508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468880"/>
            <a:ext cx="10058400" cy="548640"/>
          </a:xfrm>
          <a:prstGeom prst="rect">
            <a:avLst/>
          </a:prstGeom>
          <a:noFill/>
        </p:spPr>
        <p:txBody>
          <a:bodyPr wrap="square">
            <a:spAutoFit/>
          </a:bodyPr>
          <a:lstStyle/>
          <a:p>
            <a:pPr algn="l">
              <a:defRPr sz="2000" b="0">
                <a:solidFill>
                  <a:srgbClr val="444444"/>
                </a:solidFill>
                <a:latin typeface="Segoe UI"/>
              </a:defRPr>
            </a:pPr>
            <a:r>
              <a:t>Live Demo: RPI Workflow — Researching and Planning a Feature</a:t>
            </a:r>
          </a:p>
        </p:txBody>
      </p:sp>
      <p:sp>
        <p:nvSpPr>
          <p:cNvPr id="5" name="TextBox 4"/>
          <p:cNvSpPr txBox="1"/>
          <p:nvPr/>
        </p:nvSpPr>
        <p:spPr>
          <a:xfrm>
            <a:off x="731520" y="3291840"/>
            <a:ext cx="9144000" cy="365760"/>
          </a:xfrm>
          <a:prstGeom prst="rect">
            <a:avLst/>
          </a:prstGeom>
          <a:noFill/>
        </p:spPr>
        <p:txBody>
          <a:bodyPr wrap="square">
            <a:spAutoFit/>
          </a:bodyPr>
          <a:lstStyle/>
          <a:p>
            <a:pPr algn="l">
              <a:defRPr sz="1600" b="1">
                <a:solidFill>
                  <a:srgbClr val="242424"/>
                </a:solidFill>
                <a:latin typeface="Segoe UI"/>
              </a:defRPr>
            </a:pPr>
            <a:r>
              <a:t>Watch for:</a:t>
            </a:r>
          </a:p>
        </p:txBody>
      </p:sp>
      <p:sp>
        <p:nvSpPr>
          <p:cNvPr id="6" name="Rounded Rectangle 5"/>
          <p:cNvSpPr/>
          <p:nvPr/>
        </p:nvSpPr>
        <p:spPr>
          <a:xfrm>
            <a:off x="914400" y="3840480"/>
            <a:ext cx="4572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1.</a:t>
            </a:r>
          </a:p>
        </p:txBody>
      </p:sp>
      <p:sp>
        <p:nvSpPr>
          <p:cNvPr id="7" name="TextBox 6"/>
          <p:cNvSpPr txBox="1"/>
          <p:nvPr/>
        </p:nvSpPr>
        <p:spPr>
          <a:xfrm>
            <a:off x="1554480" y="3840480"/>
            <a:ext cx="9144000" cy="457200"/>
          </a:xfrm>
          <a:prstGeom prst="rect">
            <a:avLst/>
          </a:prstGeom>
          <a:noFill/>
        </p:spPr>
        <p:txBody>
          <a:bodyPr wrap="square">
            <a:spAutoFit/>
          </a:bodyPr>
          <a:lstStyle/>
          <a:p>
            <a:pPr algn="l">
              <a:defRPr sz="1600" b="0">
                <a:solidFill>
                  <a:srgbClr val="444444"/>
                </a:solidFill>
                <a:latin typeface="Segoe UI"/>
              </a:defRPr>
            </a:pPr>
            <a:r>
              <a:t>How the researcher finds existing patterns (not invents code)</a:t>
            </a:r>
          </a:p>
        </p:txBody>
      </p:sp>
      <p:sp>
        <p:nvSpPr>
          <p:cNvPr id="8" name="Rounded Rectangle 7"/>
          <p:cNvSpPr/>
          <p:nvPr/>
        </p:nvSpPr>
        <p:spPr>
          <a:xfrm>
            <a:off x="914400" y="4480560"/>
            <a:ext cx="4572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2.</a:t>
            </a:r>
          </a:p>
        </p:txBody>
      </p:sp>
      <p:sp>
        <p:nvSpPr>
          <p:cNvPr id="9" name="TextBox 8"/>
          <p:cNvSpPr txBox="1"/>
          <p:nvPr/>
        </p:nvSpPr>
        <p:spPr>
          <a:xfrm>
            <a:off x="1554480" y="4480560"/>
            <a:ext cx="9144000" cy="457200"/>
          </a:xfrm>
          <a:prstGeom prst="rect">
            <a:avLst/>
          </a:prstGeom>
          <a:noFill/>
        </p:spPr>
        <p:txBody>
          <a:bodyPr wrap="square">
            <a:spAutoFit/>
          </a:bodyPr>
          <a:lstStyle/>
          <a:p>
            <a:pPr algn="l">
              <a:defRPr sz="1600" b="0">
                <a:solidFill>
                  <a:srgbClr val="444444"/>
                </a:solidFill>
                <a:latin typeface="Segoe UI"/>
              </a:defRPr>
            </a:pPr>
            <a:r>
              <a:t>How it cites specific files and line numbers</a:t>
            </a:r>
          </a:p>
        </p:txBody>
      </p:sp>
      <p:sp>
        <p:nvSpPr>
          <p:cNvPr id="10" name="Rounded Rectangle 9"/>
          <p:cNvSpPr/>
          <p:nvPr/>
        </p:nvSpPr>
        <p:spPr>
          <a:xfrm>
            <a:off x="914400" y="5120640"/>
            <a:ext cx="4572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3.</a:t>
            </a:r>
          </a:p>
        </p:txBody>
      </p:sp>
      <p:sp>
        <p:nvSpPr>
          <p:cNvPr id="11" name="TextBox 10"/>
          <p:cNvSpPr txBox="1"/>
          <p:nvPr/>
        </p:nvSpPr>
        <p:spPr>
          <a:xfrm>
            <a:off x="1554480" y="5120640"/>
            <a:ext cx="9144000" cy="457200"/>
          </a:xfrm>
          <a:prstGeom prst="rect">
            <a:avLst/>
          </a:prstGeom>
          <a:noFill/>
        </p:spPr>
        <p:txBody>
          <a:bodyPr wrap="square">
            <a:spAutoFit/>
          </a:bodyPr>
          <a:lstStyle/>
          <a:p>
            <a:pPr algn="l">
              <a:defRPr sz="1600" b="0">
                <a:solidFill>
                  <a:srgbClr val="444444"/>
                </a:solidFill>
                <a:latin typeface="Segoe UI"/>
              </a:defRPr>
            </a:pPr>
            <a:r>
              <a:t>How the plan references the research artifacts</a:t>
            </a:r>
          </a:p>
        </p:txBody>
      </p:sp>
      <p:sp>
        <p:nvSpPr>
          <p:cNvPr id="12" name="TextBox 11"/>
          <p:cNvSpPr txBox="1"/>
          <p:nvPr/>
        </p:nvSpPr>
        <p:spPr>
          <a:xfrm>
            <a:off x="731520" y="5943600"/>
            <a:ext cx="10058400" cy="365760"/>
          </a:xfrm>
          <a:prstGeom prst="rect">
            <a:avLst/>
          </a:prstGeom>
          <a:noFill/>
        </p:spPr>
        <p:txBody>
          <a:bodyPr wrap="square">
            <a:spAutoFit/>
          </a:bodyPr>
          <a:lstStyle/>
          <a:p>
            <a:pPr algn="l">
              <a:defRPr sz="1300" b="0">
                <a:solidFill>
                  <a:srgbClr val="666666"/>
                </a:solidFill>
                <a:latin typeface="Segoe UI"/>
              </a:defRPr>
            </a:pPr>
            <a:r>
              <a:t>Demo: ~5 minutes in VS Code  •  Research → /clear →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3200" b="1">
                <a:solidFill>
                  <a:srgbClr val="242424"/>
                </a:solidFill>
                <a:latin typeface="Segoe UI"/>
              </a:defRPr>
            </a:pPr>
            <a:r>
              <a:t>Who Uses HVE-Core?</a:t>
            </a:r>
          </a:p>
        </p:txBody>
      </p:sp>
      <p:sp>
        <p:nvSpPr>
          <p:cNvPr id="3" name="Rectangle 2"/>
          <p:cNvSpPr/>
          <p:nvPr/>
        </p:nvSpPr>
        <p:spPr>
          <a:xfrm>
            <a:off x="731520" y="82296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ight-hve-role-mapping.png"/>
          <p:cNvPicPr>
            <a:picLocks noChangeAspect="1"/>
          </p:cNvPicPr>
          <p:nvPr/>
        </p:nvPicPr>
        <p:blipFill>
          <a:blip r:embed="rId2"/>
          <a:stretch>
            <a:fillRect/>
          </a:stretch>
        </p:blipFill>
        <p:spPr>
          <a:xfrm>
            <a:off x="274320" y="1097280"/>
            <a:ext cx="11612880" cy="5303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Dogfooding + Enterprise Validation</a:t>
            </a:r>
          </a:p>
        </p:txBody>
      </p:sp>
      <p:sp>
        <p:nvSpPr>
          <p:cNvPr id="3" name="Rectangle 2"/>
          <p:cNvSpPr/>
          <p:nvPr/>
        </p:nvSpPr>
        <p:spPr>
          <a:xfrm>
            <a:off x="731520" y="1005840"/>
            <a:ext cx="731520" cy="50800"/>
          </a:xfrm>
          <a:prstGeom prst="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4572000"/>
          </a:xfrm>
          <a:prstGeom prst="rect">
            <a:avLst/>
          </a:prstGeom>
          <a:noFill/>
        </p:spPr>
        <p:txBody>
          <a:bodyPr wrap="square">
            <a:spAutoFit/>
          </a:bodyPr>
          <a:lstStyle/>
          <a:p>
            <a:pPr>
              <a:spcAft>
                <a:spcPts val="400"/>
              </a:spcAft>
              <a:defRPr sz="1800" b="1">
                <a:solidFill>
                  <a:srgbClr val="038E8E"/>
                </a:solidFill>
                <a:latin typeface="Segoe UI"/>
              </a:defRPr>
            </a:pPr>
            <a:r>
              <a:t>Self-Referential Credibility</a:t>
            </a:r>
          </a:p>
          <a:p>
            <a:pPr>
              <a:spcAft>
                <a:spcPts val="400"/>
              </a:spcAft>
              <a:defRPr sz="800" b="0">
                <a:solidFill>
                  <a:srgbClr val="242424"/>
                </a:solidFill>
                <a:latin typeface="Segoe UI"/>
              </a:defRPr>
            </a:pPr>
          </a:p>
          <a:p>
            <a:pPr>
              <a:spcAft>
                <a:spcPts val="400"/>
              </a:spcAft>
              <a:defRPr sz="1400" b="0">
                <a:solidFill>
                  <a:srgbClr val="444444"/>
                </a:solidFill>
                <a:latin typeface="Segoe UI"/>
              </a:defRPr>
            </a:pPr>
            <a:r>
              <a:t>• This presentation was planned using RPI</a:t>
            </a:r>
          </a:p>
          <a:p>
            <a:pPr>
              <a:spcAft>
                <a:spcPts val="400"/>
              </a:spcAft>
              <a:defRPr sz="1400" b="0">
                <a:solidFill>
                  <a:srgbClr val="444444"/>
                </a:solidFill>
                <a:latin typeface="Segoe UI"/>
              </a:defRPr>
            </a:pPr>
            <a:r>
              <a:t>• Every agent was built by the Prompt Builder agent</a:t>
            </a:r>
          </a:p>
          <a:p>
            <a:pPr>
              <a:spcAft>
                <a:spcPts val="400"/>
              </a:spcAft>
              <a:defRPr sz="1400" b="0">
                <a:solidFill>
                  <a:srgbClr val="444444"/>
                </a:solidFill>
                <a:latin typeface="Segoe UI"/>
              </a:defRPr>
            </a:pPr>
            <a:r>
              <a:t>• Instructions files follow their own rules</a:t>
            </a:r>
          </a:p>
          <a:p>
            <a:pPr>
              <a:spcAft>
                <a:spcPts val="400"/>
              </a:spcAft>
              <a:defRPr sz="1400" b="0">
                <a:solidFill>
                  <a:srgbClr val="444444"/>
                </a:solidFill>
                <a:latin typeface="Segoe UI"/>
              </a:defRPr>
            </a:pPr>
            <a:r>
              <a:t>• Collection manifests are validated by their own CI</a:t>
            </a:r>
          </a:p>
          <a:p>
            <a:pPr>
              <a:spcAft>
                <a:spcPts val="400"/>
              </a:spcAft>
              <a:defRPr sz="1400" b="0">
                <a:solidFill>
                  <a:srgbClr val="444444"/>
                </a:solidFill>
                <a:latin typeface="Segoe UI"/>
              </a:defRPr>
            </a:pPr>
            <a:r>
              <a:t>• Documentation is generated from the same artifacts</a:t>
            </a:r>
          </a:p>
          <a:p>
            <a:pPr>
              <a:spcAft>
                <a:spcPts val="400"/>
              </a:spcAft>
              <a:defRPr sz="800" b="0">
                <a:solidFill>
                  <a:srgbClr val="242424"/>
                </a:solidFill>
                <a:latin typeface="Segoe UI"/>
              </a:defRPr>
            </a:pPr>
          </a:p>
          <a:p>
            <a:pPr>
              <a:spcAft>
                <a:spcPts val="400"/>
              </a:spcAft>
              <a:defRPr sz="1400" b="1">
                <a:solidFill>
                  <a:srgbClr val="666666"/>
                </a:solidFill>
                <a:latin typeface="Segoe UI"/>
              </a:defRPr>
            </a:pPr>
            <a:r>
              <a:t>If HVE-Core doesn't work on itself,</a:t>
            </a:r>
          </a:p>
          <a:p>
            <a:pPr>
              <a:spcAft>
                <a:spcPts val="400"/>
              </a:spcAft>
              <a:defRPr sz="1400" b="1">
                <a:solidFill>
                  <a:srgbClr val="666666"/>
                </a:solidFill>
                <a:latin typeface="Segoe UI"/>
              </a:defRPr>
            </a:pPr>
            <a:r>
              <a:t>why would it work on your project?</a:t>
            </a:r>
          </a:p>
        </p:txBody>
      </p:sp>
      <p:sp>
        <p:nvSpPr>
          <p:cNvPr id="5" name="TextBox 4"/>
          <p:cNvSpPr txBox="1"/>
          <p:nvPr/>
        </p:nvSpPr>
        <p:spPr>
          <a:xfrm>
            <a:off x="6400800" y="1371600"/>
            <a:ext cx="5029200" cy="4572000"/>
          </a:xfrm>
          <a:prstGeom prst="rect">
            <a:avLst/>
          </a:prstGeom>
          <a:noFill/>
        </p:spPr>
        <p:txBody>
          <a:bodyPr wrap="square">
            <a:spAutoFit/>
          </a:bodyPr>
          <a:lstStyle/>
          <a:p>
            <a:pPr>
              <a:spcAft>
                <a:spcPts val="400"/>
              </a:spcAft>
              <a:defRPr sz="1800" b="1">
                <a:solidFill>
                  <a:srgbClr val="FF8C00"/>
                </a:solidFill>
                <a:latin typeface="Segoe UI"/>
              </a:defRPr>
            </a:pPr>
            <a:r>
              <a:t>Validation Pipeline</a:t>
            </a:r>
          </a:p>
          <a:p>
            <a:pPr>
              <a:spcAft>
                <a:spcPts val="400"/>
              </a:spcAft>
              <a:defRPr sz="800" b="0">
                <a:solidFill>
                  <a:srgbClr val="242424"/>
                </a:solidFill>
                <a:latin typeface="Segoe UI"/>
              </a:defRPr>
            </a:pPr>
          </a:p>
          <a:p>
            <a:pPr>
              <a:spcAft>
                <a:spcPts val="400"/>
              </a:spcAft>
              <a:defRPr sz="1400" b="1">
                <a:solidFill>
                  <a:srgbClr val="0078D4"/>
                </a:solidFill>
                <a:latin typeface="Segoe UI"/>
              </a:defRPr>
            </a:pPr>
            <a:r>
              <a:t>Linting (7 jobs)</a:t>
            </a:r>
          </a:p>
          <a:p>
            <a:pPr>
              <a:spcAft>
                <a:spcPts val="400"/>
              </a:spcAft>
              <a:defRPr sz="1200" b="0">
                <a:solidFill>
                  <a:srgbClr val="666666"/>
                </a:solidFill>
                <a:latin typeface="Segoe UI"/>
              </a:defRPr>
            </a:pPr>
            <a:r>
              <a:t>  Markdown, YAML, frontmatter, links,</a:t>
            </a:r>
          </a:p>
          <a:p>
            <a:pPr>
              <a:spcAft>
                <a:spcPts val="400"/>
              </a:spcAft>
              <a:defRPr sz="1200" b="0">
                <a:solidFill>
                  <a:srgbClr val="666666"/>
                </a:solidFill>
                <a:latin typeface="Segoe UI"/>
              </a:defRPr>
            </a:pPr>
            <a:r>
              <a:t>  tables, collections metadata, version consistency</a:t>
            </a:r>
          </a:p>
          <a:p>
            <a:pPr>
              <a:spcAft>
                <a:spcPts val="400"/>
              </a:spcAft>
              <a:defRPr sz="600" b="0">
                <a:solidFill>
                  <a:srgbClr val="242424"/>
                </a:solidFill>
                <a:latin typeface="Segoe UI"/>
              </a:defRPr>
            </a:pPr>
          </a:p>
          <a:p>
            <a:pPr>
              <a:spcAft>
                <a:spcPts val="400"/>
              </a:spcAft>
              <a:defRPr sz="1400" b="1">
                <a:solidFill>
                  <a:srgbClr val="107C10"/>
                </a:solidFill>
                <a:latin typeface="Segoe UI"/>
              </a:defRPr>
            </a:pPr>
            <a:r>
              <a:t>Analysis (2 jobs)</a:t>
            </a:r>
          </a:p>
          <a:p>
            <a:pPr>
              <a:spcAft>
                <a:spcPts val="400"/>
              </a:spcAft>
              <a:defRPr sz="1200" b="0">
                <a:solidFill>
                  <a:srgbClr val="666666"/>
                </a:solidFill>
                <a:latin typeface="Segoe UI"/>
              </a:defRPr>
            </a:pPr>
            <a:r>
              <a:t>  PowerShell PSScriptAnalyzer, skill validation</a:t>
            </a:r>
          </a:p>
          <a:p>
            <a:pPr>
              <a:spcAft>
                <a:spcPts val="400"/>
              </a:spcAft>
              <a:defRPr sz="600" b="0">
                <a:solidFill>
                  <a:srgbClr val="242424"/>
                </a:solidFill>
                <a:latin typeface="Segoe UI"/>
              </a:defRPr>
            </a:pPr>
          </a:p>
          <a:p>
            <a:pPr>
              <a:spcAft>
                <a:spcPts val="400"/>
              </a:spcAft>
              <a:defRPr sz="1400" b="1">
                <a:solidFill>
                  <a:srgbClr val="D13438"/>
                </a:solidFill>
                <a:latin typeface="Segoe UI"/>
              </a:defRPr>
            </a:pPr>
            <a:r>
              <a:t>Security (3 jobs)</a:t>
            </a:r>
          </a:p>
          <a:p>
            <a:pPr>
              <a:spcAft>
                <a:spcPts val="400"/>
              </a:spcAft>
              <a:defRPr sz="1200" b="0">
                <a:solidFill>
                  <a:srgbClr val="666666"/>
                </a:solidFill>
                <a:latin typeface="Segoe UI"/>
              </a:defRPr>
            </a:pPr>
            <a:r>
              <a:t>  Dependency pinning, SHA staleness, copyright</a:t>
            </a:r>
          </a:p>
          <a:p>
            <a:pPr>
              <a:spcAft>
                <a:spcPts val="400"/>
              </a:spcAft>
              <a:defRPr sz="600" b="0">
                <a:solidFill>
                  <a:srgbClr val="242424"/>
                </a:solidFill>
                <a:latin typeface="Segoe UI"/>
              </a:defRPr>
            </a:pPr>
          </a:p>
          <a:p>
            <a:pPr>
              <a:spcAft>
                <a:spcPts val="400"/>
              </a:spcAft>
              <a:defRPr sz="1400" b="1">
                <a:solidFill>
                  <a:srgbClr val="8864D8"/>
                </a:solidFill>
                <a:latin typeface="Segoe UI"/>
              </a:defRPr>
            </a:pPr>
            <a:r>
              <a:t>Schema Validation</a:t>
            </a:r>
          </a:p>
          <a:p>
            <a:pPr>
              <a:spcAft>
                <a:spcPts val="400"/>
              </a:spcAft>
              <a:defRPr sz="1200" b="0">
                <a:solidFill>
                  <a:srgbClr val="666666"/>
                </a:solidFill>
                <a:latin typeface="Segoe UI"/>
              </a:defRPr>
            </a:pPr>
            <a:r>
              <a:t>  Collection YAML → plugin generation → extension packaging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Extension Ecosystem</a:t>
            </a:r>
          </a:p>
        </p:txBody>
      </p:sp>
      <p:sp>
        <p:nvSpPr>
          <p:cNvPr id="3" name="Rectangle 2"/>
          <p:cNvSpPr/>
          <p:nvPr/>
        </p:nvSpPr>
        <p:spPr>
          <a:xfrm>
            <a:off x="731520" y="1005840"/>
            <a:ext cx="731520" cy="50800"/>
          </a:xfrm>
          <a:prstGeom prst="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Extension</a:t>
            </a:r>
          </a:p>
        </p:txBody>
      </p:sp>
      <p:sp>
        <p:nvSpPr>
          <p:cNvPr id="5" name="Rounded Rectangle 4"/>
          <p:cNvSpPr/>
          <p:nvPr/>
        </p:nvSpPr>
        <p:spPr>
          <a:xfrm>
            <a:off x="3657600" y="1371600"/>
            <a:ext cx="109728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Agents</a:t>
            </a:r>
          </a:p>
        </p:txBody>
      </p:sp>
      <p:sp>
        <p:nvSpPr>
          <p:cNvPr id="6" name="Rounded Rectangle 5"/>
          <p:cNvSpPr/>
          <p:nvPr/>
        </p:nvSpPr>
        <p:spPr>
          <a:xfrm>
            <a:off x="4846320" y="1371600"/>
            <a:ext cx="109728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Prompts</a:t>
            </a:r>
          </a:p>
        </p:txBody>
      </p:sp>
      <p:sp>
        <p:nvSpPr>
          <p:cNvPr id="7" name="Rounded Rectangle 6"/>
          <p:cNvSpPr/>
          <p:nvPr/>
        </p:nvSpPr>
        <p:spPr>
          <a:xfrm>
            <a:off x="6035040" y="1371600"/>
            <a:ext cx="13716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Instructions</a:t>
            </a:r>
          </a:p>
        </p:txBody>
      </p:sp>
      <p:sp>
        <p:nvSpPr>
          <p:cNvPr id="8" name="Rounded Rectangle 7"/>
          <p:cNvSpPr/>
          <p:nvPr/>
        </p:nvSpPr>
        <p:spPr>
          <a:xfrm>
            <a:off x="7589520" y="1371600"/>
            <a:ext cx="36576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Focus</a:t>
            </a:r>
          </a:p>
        </p:txBody>
      </p:sp>
      <p:sp>
        <p:nvSpPr>
          <p:cNvPr id="9" name="Rounded Rectangle 8"/>
          <p:cNvSpPr/>
          <p:nvPr/>
        </p:nvSpPr>
        <p:spPr>
          <a:xfrm>
            <a:off x="731520" y="18288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hve-core</a:t>
            </a:r>
          </a:p>
        </p:txBody>
      </p:sp>
      <p:sp>
        <p:nvSpPr>
          <p:cNvPr id="10" name="TextBox 9"/>
          <p:cNvSpPr txBox="1"/>
          <p:nvPr/>
        </p:nvSpPr>
        <p:spPr>
          <a:xfrm>
            <a:off x="3657600" y="1828800"/>
            <a:ext cx="1097280" cy="365760"/>
          </a:xfrm>
          <a:prstGeom prst="rect">
            <a:avLst/>
          </a:prstGeom>
          <a:noFill/>
        </p:spPr>
        <p:txBody>
          <a:bodyPr wrap="square">
            <a:spAutoFit/>
          </a:bodyPr>
          <a:lstStyle/>
          <a:p>
            <a:pPr algn="ctr">
              <a:defRPr sz="1100" b="0">
                <a:solidFill>
                  <a:srgbClr val="242424"/>
                </a:solidFill>
                <a:latin typeface="Segoe UI"/>
              </a:defRPr>
            </a:pPr>
            <a:r>
              <a:t>21</a:t>
            </a:r>
          </a:p>
        </p:txBody>
      </p:sp>
      <p:sp>
        <p:nvSpPr>
          <p:cNvPr id="11" name="TextBox 10"/>
          <p:cNvSpPr txBox="1"/>
          <p:nvPr/>
        </p:nvSpPr>
        <p:spPr>
          <a:xfrm>
            <a:off x="4846320" y="1828800"/>
            <a:ext cx="1097280" cy="365760"/>
          </a:xfrm>
          <a:prstGeom prst="rect">
            <a:avLst/>
          </a:prstGeom>
          <a:noFill/>
        </p:spPr>
        <p:txBody>
          <a:bodyPr wrap="square">
            <a:spAutoFit/>
          </a:bodyPr>
          <a:lstStyle/>
          <a:p>
            <a:pPr algn="ctr">
              <a:defRPr sz="1100" b="0">
                <a:solidFill>
                  <a:srgbClr val="242424"/>
                </a:solidFill>
                <a:latin typeface="Segoe UI"/>
              </a:defRPr>
            </a:pPr>
            <a:r>
              <a:t>23</a:t>
            </a:r>
          </a:p>
        </p:txBody>
      </p:sp>
      <p:sp>
        <p:nvSpPr>
          <p:cNvPr id="12" name="TextBox 11"/>
          <p:cNvSpPr txBox="1"/>
          <p:nvPr/>
        </p:nvSpPr>
        <p:spPr>
          <a:xfrm>
            <a:off x="6035040" y="1828800"/>
            <a:ext cx="1371600" cy="365760"/>
          </a:xfrm>
          <a:prstGeom prst="rect">
            <a:avLst/>
          </a:prstGeom>
          <a:noFill/>
        </p:spPr>
        <p:txBody>
          <a:bodyPr wrap="square">
            <a:spAutoFit/>
          </a:bodyPr>
          <a:lstStyle/>
          <a:p>
            <a:pPr algn="ctr">
              <a:defRPr sz="1100" b="0">
                <a:solidFill>
                  <a:srgbClr val="242424"/>
                </a:solidFill>
                <a:latin typeface="Segoe UI"/>
              </a:defRPr>
            </a:pPr>
            <a:r>
              <a:t>18</a:t>
            </a:r>
          </a:p>
        </p:txBody>
      </p:sp>
      <p:sp>
        <p:nvSpPr>
          <p:cNvPr id="13" name="TextBox 12"/>
          <p:cNvSpPr txBox="1"/>
          <p:nvPr/>
        </p:nvSpPr>
        <p:spPr>
          <a:xfrm>
            <a:off x="7589520" y="1828800"/>
            <a:ext cx="3657600" cy="365760"/>
          </a:xfrm>
          <a:prstGeom prst="rect">
            <a:avLst/>
          </a:prstGeom>
          <a:noFill/>
        </p:spPr>
        <p:txBody>
          <a:bodyPr wrap="square">
            <a:spAutoFit/>
          </a:bodyPr>
          <a:lstStyle/>
          <a:p>
            <a:pPr algn="l">
              <a:defRPr sz="1100" b="0">
                <a:solidFill>
                  <a:srgbClr val="666666"/>
                </a:solidFill>
                <a:latin typeface="Segoe UI"/>
              </a:defRPr>
            </a:pPr>
            <a:r>
              <a:t>Core RPI + all foundations</a:t>
            </a:r>
          </a:p>
        </p:txBody>
      </p:sp>
      <p:sp>
        <p:nvSpPr>
          <p:cNvPr id="14" name="TextBox 13"/>
          <p:cNvSpPr txBox="1"/>
          <p:nvPr/>
        </p:nvSpPr>
        <p:spPr>
          <a:xfrm>
            <a:off x="731520" y="2286000"/>
            <a:ext cx="2743200" cy="365760"/>
          </a:xfrm>
          <a:prstGeom prst="rect">
            <a:avLst/>
          </a:prstGeom>
          <a:noFill/>
        </p:spPr>
        <p:txBody>
          <a:bodyPr wrap="square">
            <a:spAutoFit/>
          </a:bodyPr>
          <a:lstStyle/>
          <a:p>
            <a:pPr algn="l">
              <a:defRPr sz="1100" b="0">
                <a:solidFill>
                  <a:srgbClr val="444444"/>
                </a:solidFill>
                <a:latin typeface="Segoe UI"/>
              </a:defRPr>
            </a:pPr>
            <a:r>
              <a:t>hve-ado</a:t>
            </a:r>
          </a:p>
        </p:txBody>
      </p:sp>
      <p:sp>
        <p:nvSpPr>
          <p:cNvPr id="15" name="TextBox 14"/>
          <p:cNvSpPr txBox="1"/>
          <p:nvPr/>
        </p:nvSpPr>
        <p:spPr>
          <a:xfrm>
            <a:off x="3657600" y="2286000"/>
            <a:ext cx="1097280" cy="365760"/>
          </a:xfrm>
          <a:prstGeom prst="rect">
            <a:avLst/>
          </a:prstGeom>
          <a:noFill/>
        </p:spPr>
        <p:txBody>
          <a:bodyPr wrap="square">
            <a:spAutoFit/>
          </a:bodyPr>
          <a:lstStyle/>
          <a:p>
            <a:pPr algn="ctr">
              <a:defRPr sz="1100" b="0">
                <a:solidFill>
                  <a:srgbClr val="242424"/>
                </a:solidFill>
                <a:latin typeface="Segoe UI"/>
              </a:defRPr>
            </a:pPr>
            <a:r>
              <a:t>9</a:t>
            </a:r>
          </a:p>
        </p:txBody>
      </p:sp>
      <p:sp>
        <p:nvSpPr>
          <p:cNvPr id="16" name="TextBox 15"/>
          <p:cNvSpPr txBox="1"/>
          <p:nvPr/>
        </p:nvSpPr>
        <p:spPr>
          <a:xfrm>
            <a:off x="4846320" y="2286000"/>
            <a:ext cx="1097280" cy="365760"/>
          </a:xfrm>
          <a:prstGeom prst="rect">
            <a:avLst/>
          </a:prstGeom>
          <a:noFill/>
        </p:spPr>
        <p:txBody>
          <a:bodyPr wrap="square">
            <a:spAutoFit/>
          </a:bodyPr>
          <a:lstStyle/>
          <a:p>
            <a:pPr algn="ctr">
              <a:defRPr sz="1100" b="0">
                <a:solidFill>
                  <a:srgbClr val="242424"/>
                </a:solidFill>
                <a:latin typeface="Segoe UI"/>
              </a:defRPr>
            </a:pPr>
            <a:r>
              <a:t>19</a:t>
            </a:r>
          </a:p>
        </p:txBody>
      </p:sp>
      <p:sp>
        <p:nvSpPr>
          <p:cNvPr id="17" name="TextBox 16"/>
          <p:cNvSpPr txBox="1"/>
          <p:nvPr/>
        </p:nvSpPr>
        <p:spPr>
          <a:xfrm>
            <a:off x="6035040" y="2286000"/>
            <a:ext cx="1371600" cy="365760"/>
          </a:xfrm>
          <a:prstGeom prst="rect">
            <a:avLst/>
          </a:prstGeom>
          <a:noFill/>
        </p:spPr>
        <p:txBody>
          <a:bodyPr wrap="square">
            <a:spAutoFit/>
          </a:bodyPr>
          <a:lstStyle/>
          <a:p>
            <a:pPr algn="ctr">
              <a:defRPr sz="1100" b="0">
                <a:solidFill>
                  <a:srgbClr val="242424"/>
                </a:solidFill>
                <a:latin typeface="Segoe UI"/>
              </a:defRPr>
            </a:pPr>
            <a:r>
              <a:t>10</a:t>
            </a:r>
          </a:p>
        </p:txBody>
      </p:sp>
      <p:sp>
        <p:nvSpPr>
          <p:cNvPr id="18" name="TextBox 17"/>
          <p:cNvSpPr txBox="1"/>
          <p:nvPr/>
        </p:nvSpPr>
        <p:spPr>
          <a:xfrm>
            <a:off x="7589520" y="2286000"/>
            <a:ext cx="3657600" cy="365760"/>
          </a:xfrm>
          <a:prstGeom prst="rect">
            <a:avLst/>
          </a:prstGeom>
          <a:noFill/>
        </p:spPr>
        <p:txBody>
          <a:bodyPr wrap="square">
            <a:spAutoFit/>
          </a:bodyPr>
          <a:lstStyle/>
          <a:p>
            <a:pPr algn="l">
              <a:defRPr sz="1100" b="0">
                <a:solidFill>
                  <a:srgbClr val="666666"/>
                </a:solidFill>
                <a:latin typeface="Segoe UI"/>
              </a:defRPr>
            </a:pPr>
            <a:r>
              <a:t>Azure DevOps integration</a:t>
            </a:r>
          </a:p>
        </p:txBody>
      </p:sp>
      <p:sp>
        <p:nvSpPr>
          <p:cNvPr id="19" name="TextBox 18"/>
          <p:cNvSpPr txBox="1"/>
          <p:nvPr/>
        </p:nvSpPr>
        <p:spPr>
          <a:xfrm>
            <a:off x="731520" y="2743200"/>
            <a:ext cx="2743200" cy="365760"/>
          </a:xfrm>
          <a:prstGeom prst="rect">
            <a:avLst/>
          </a:prstGeom>
          <a:noFill/>
        </p:spPr>
        <p:txBody>
          <a:bodyPr wrap="square">
            <a:spAutoFit/>
          </a:bodyPr>
          <a:lstStyle/>
          <a:p>
            <a:pPr algn="l">
              <a:defRPr sz="1100" b="0">
                <a:solidFill>
                  <a:srgbClr val="444444"/>
                </a:solidFill>
                <a:latin typeface="Segoe UI"/>
              </a:defRPr>
            </a:pPr>
            <a:r>
              <a:t>hve-github</a:t>
            </a:r>
          </a:p>
        </p:txBody>
      </p:sp>
      <p:sp>
        <p:nvSpPr>
          <p:cNvPr id="20" name="TextBox 19"/>
          <p:cNvSpPr txBox="1"/>
          <p:nvPr/>
        </p:nvSpPr>
        <p:spPr>
          <a:xfrm>
            <a:off x="3657600" y="2743200"/>
            <a:ext cx="1097280" cy="365760"/>
          </a:xfrm>
          <a:prstGeom prst="rect">
            <a:avLst/>
          </a:prstGeom>
          <a:noFill/>
        </p:spPr>
        <p:txBody>
          <a:bodyPr wrap="square">
            <a:spAutoFit/>
          </a:bodyPr>
          <a:lstStyle/>
          <a:p>
            <a:pPr algn="ctr">
              <a:defRPr sz="1100" b="0">
                <a:solidFill>
                  <a:srgbClr val="242424"/>
                </a:solidFill>
                <a:latin typeface="Segoe UI"/>
              </a:defRPr>
            </a:pPr>
            <a:r>
              <a:t>9</a:t>
            </a:r>
          </a:p>
        </p:txBody>
      </p:sp>
      <p:sp>
        <p:nvSpPr>
          <p:cNvPr id="21" name="TextBox 20"/>
          <p:cNvSpPr txBox="1"/>
          <p:nvPr/>
        </p:nvSpPr>
        <p:spPr>
          <a:xfrm>
            <a:off x="4846320" y="2743200"/>
            <a:ext cx="1097280" cy="365760"/>
          </a:xfrm>
          <a:prstGeom prst="rect">
            <a:avLst/>
          </a:prstGeom>
          <a:noFill/>
        </p:spPr>
        <p:txBody>
          <a:bodyPr wrap="square">
            <a:spAutoFit/>
          </a:bodyPr>
          <a:lstStyle/>
          <a:p>
            <a:pPr algn="ctr">
              <a:defRPr sz="1100" b="0">
                <a:solidFill>
                  <a:srgbClr val="242424"/>
                </a:solidFill>
                <a:latin typeface="Segoe UI"/>
              </a:defRPr>
            </a:pPr>
            <a:r>
              <a:t>19</a:t>
            </a:r>
          </a:p>
        </p:txBody>
      </p:sp>
      <p:sp>
        <p:nvSpPr>
          <p:cNvPr id="22" name="TextBox 21"/>
          <p:cNvSpPr txBox="1"/>
          <p:nvPr/>
        </p:nvSpPr>
        <p:spPr>
          <a:xfrm>
            <a:off x="6035040" y="2743200"/>
            <a:ext cx="1371600" cy="365760"/>
          </a:xfrm>
          <a:prstGeom prst="rect">
            <a:avLst/>
          </a:prstGeom>
          <a:noFill/>
        </p:spPr>
        <p:txBody>
          <a:bodyPr wrap="square">
            <a:spAutoFit/>
          </a:bodyPr>
          <a:lstStyle/>
          <a:p>
            <a:pPr algn="ctr">
              <a:defRPr sz="1100" b="0">
                <a:solidFill>
                  <a:srgbClr val="242424"/>
                </a:solidFill>
                <a:latin typeface="Segoe UI"/>
              </a:defRPr>
            </a:pPr>
            <a:r>
              <a:t>10</a:t>
            </a:r>
          </a:p>
        </p:txBody>
      </p:sp>
      <p:sp>
        <p:nvSpPr>
          <p:cNvPr id="23" name="TextBox 22"/>
          <p:cNvSpPr txBox="1"/>
          <p:nvPr/>
        </p:nvSpPr>
        <p:spPr>
          <a:xfrm>
            <a:off x="7589520" y="2743200"/>
            <a:ext cx="3657600" cy="365760"/>
          </a:xfrm>
          <a:prstGeom prst="rect">
            <a:avLst/>
          </a:prstGeom>
          <a:noFill/>
        </p:spPr>
        <p:txBody>
          <a:bodyPr wrap="square">
            <a:spAutoFit/>
          </a:bodyPr>
          <a:lstStyle/>
          <a:p>
            <a:pPr algn="l">
              <a:defRPr sz="1100" b="0">
                <a:solidFill>
                  <a:srgbClr val="666666"/>
                </a:solidFill>
                <a:latin typeface="Segoe UI"/>
              </a:defRPr>
            </a:pPr>
            <a:r>
              <a:t>GitHub backlog management</a:t>
            </a:r>
          </a:p>
        </p:txBody>
      </p:sp>
      <p:sp>
        <p:nvSpPr>
          <p:cNvPr id="24" name="TextBox 23"/>
          <p:cNvSpPr txBox="1"/>
          <p:nvPr/>
        </p:nvSpPr>
        <p:spPr>
          <a:xfrm>
            <a:off x="731520" y="3200400"/>
            <a:ext cx="2743200" cy="365760"/>
          </a:xfrm>
          <a:prstGeom prst="rect">
            <a:avLst/>
          </a:prstGeom>
          <a:noFill/>
        </p:spPr>
        <p:txBody>
          <a:bodyPr wrap="square">
            <a:spAutoFit/>
          </a:bodyPr>
          <a:lstStyle/>
          <a:p>
            <a:pPr algn="l">
              <a:defRPr sz="1100" b="0">
                <a:solidFill>
                  <a:srgbClr val="444444"/>
                </a:solidFill>
                <a:latin typeface="Segoe UI"/>
              </a:defRPr>
            </a:pPr>
            <a:r>
              <a:t>hve-project-planning</a:t>
            </a:r>
          </a:p>
        </p:txBody>
      </p:sp>
      <p:sp>
        <p:nvSpPr>
          <p:cNvPr id="25" name="TextBox 24"/>
          <p:cNvSpPr txBox="1"/>
          <p:nvPr/>
        </p:nvSpPr>
        <p:spPr>
          <a:xfrm>
            <a:off x="3657600" y="3200400"/>
            <a:ext cx="1097280" cy="365760"/>
          </a:xfrm>
          <a:prstGeom prst="rect">
            <a:avLst/>
          </a:prstGeom>
          <a:noFill/>
        </p:spPr>
        <p:txBody>
          <a:bodyPr wrap="square">
            <a:spAutoFit/>
          </a:bodyPr>
          <a:lstStyle/>
          <a:p>
            <a:pPr algn="ctr">
              <a:defRPr sz="1100" b="0">
                <a:solidFill>
                  <a:srgbClr val="242424"/>
                </a:solidFill>
                <a:latin typeface="Segoe UI"/>
              </a:defRPr>
            </a:pPr>
            <a:r>
              <a:t>13</a:t>
            </a:r>
          </a:p>
        </p:txBody>
      </p:sp>
      <p:sp>
        <p:nvSpPr>
          <p:cNvPr id="26" name="TextBox 25"/>
          <p:cNvSpPr txBox="1"/>
          <p:nvPr/>
        </p:nvSpPr>
        <p:spPr>
          <a:xfrm>
            <a:off x="4846320" y="3200400"/>
            <a:ext cx="1097280" cy="365760"/>
          </a:xfrm>
          <a:prstGeom prst="rect">
            <a:avLst/>
          </a:prstGeom>
          <a:noFill/>
        </p:spPr>
        <p:txBody>
          <a:bodyPr wrap="square">
            <a:spAutoFit/>
          </a:bodyPr>
          <a:lstStyle/>
          <a:p>
            <a:pPr algn="ctr">
              <a:defRPr sz="1100" b="0">
                <a:solidFill>
                  <a:srgbClr val="242424"/>
                </a:solidFill>
                <a:latin typeface="Segoe UI"/>
              </a:defRPr>
            </a:pPr>
            <a:r>
              <a:t>15</a:t>
            </a:r>
          </a:p>
        </p:txBody>
      </p:sp>
      <p:sp>
        <p:nvSpPr>
          <p:cNvPr id="27" name="TextBox 26"/>
          <p:cNvSpPr txBox="1"/>
          <p:nvPr/>
        </p:nvSpPr>
        <p:spPr>
          <a:xfrm>
            <a:off x="6035040" y="3200400"/>
            <a:ext cx="1371600" cy="365760"/>
          </a:xfrm>
          <a:prstGeom prst="rect">
            <a:avLst/>
          </a:prstGeom>
          <a:noFill/>
        </p:spPr>
        <p:txBody>
          <a:bodyPr wrap="square">
            <a:spAutoFit/>
          </a:bodyPr>
          <a:lstStyle/>
          <a:p>
            <a:pPr algn="ctr">
              <a:defRPr sz="1100" b="0">
                <a:solidFill>
                  <a:srgbClr val="242424"/>
                </a:solidFill>
                <a:latin typeface="Segoe UI"/>
              </a:defRPr>
            </a:pPr>
            <a:r>
              <a:t>5</a:t>
            </a:r>
          </a:p>
        </p:txBody>
      </p:sp>
      <p:sp>
        <p:nvSpPr>
          <p:cNvPr id="28" name="TextBox 27"/>
          <p:cNvSpPr txBox="1"/>
          <p:nvPr/>
        </p:nvSpPr>
        <p:spPr>
          <a:xfrm>
            <a:off x="7589520" y="3200400"/>
            <a:ext cx="3657600" cy="365760"/>
          </a:xfrm>
          <a:prstGeom prst="rect">
            <a:avLst/>
          </a:prstGeom>
          <a:noFill/>
        </p:spPr>
        <p:txBody>
          <a:bodyPr wrap="square">
            <a:spAutoFit/>
          </a:bodyPr>
          <a:lstStyle/>
          <a:p>
            <a:pPr algn="l">
              <a:defRPr sz="1100" b="0">
                <a:solidFill>
                  <a:srgbClr val="666666"/>
                </a:solidFill>
                <a:latin typeface="Segoe UI"/>
              </a:defRPr>
            </a:pPr>
            <a:r>
              <a:t>PRD / BRD / ADR workflows</a:t>
            </a:r>
          </a:p>
        </p:txBody>
      </p:sp>
      <p:sp>
        <p:nvSpPr>
          <p:cNvPr id="29" name="TextBox 28"/>
          <p:cNvSpPr txBox="1"/>
          <p:nvPr/>
        </p:nvSpPr>
        <p:spPr>
          <a:xfrm>
            <a:off x="731520" y="3657600"/>
            <a:ext cx="2743200" cy="365760"/>
          </a:xfrm>
          <a:prstGeom prst="rect">
            <a:avLst/>
          </a:prstGeom>
          <a:noFill/>
        </p:spPr>
        <p:txBody>
          <a:bodyPr wrap="square">
            <a:spAutoFit/>
          </a:bodyPr>
          <a:lstStyle/>
          <a:p>
            <a:pPr algn="l">
              <a:defRPr sz="1100" b="0">
                <a:solidFill>
                  <a:srgbClr val="444444"/>
                </a:solidFill>
                <a:latin typeface="Segoe UI"/>
              </a:defRPr>
            </a:pPr>
            <a:r>
              <a:t>hve-security-planning</a:t>
            </a:r>
          </a:p>
        </p:txBody>
      </p:sp>
      <p:sp>
        <p:nvSpPr>
          <p:cNvPr id="30" name="TextBox 29"/>
          <p:cNvSpPr txBox="1"/>
          <p:nvPr/>
        </p:nvSpPr>
        <p:spPr>
          <a:xfrm>
            <a:off x="3657600" y="3657600"/>
            <a:ext cx="1097280" cy="365760"/>
          </a:xfrm>
          <a:prstGeom prst="rect">
            <a:avLst/>
          </a:prstGeom>
          <a:noFill/>
        </p:spPr>
        <p:txBody>
          <a:bodyPr wrap="square">
            <a:spAutoFit/>
          </a:bodyPr>
          <a:lstStyle/>
          <a:p>
            <a:pPr algn="ctr">
              <a:defRPr sz="1100" b="0">
                <a:solidFill>
                  <a:srgbClr val="242424"/>
                </a:solidFill>
                <a:latin typeface="Segoe UI"/>
              </a:defRPr>
            </a:pPr>
            <a:r>
              <a:t>9</a:t>
            </a:r>
          </a:p>
        </p:txBody>
      </p:sp>
      <p:sp>
        <p:nvSpPr>
          <p:cNvPr id="31" name="TextBox 30"/>
          <p:cNvSpPr txBox="1"/>
          <p:nvPr/>
        </p:nvSpPr>
        <p:spPr>
          <a:xfrm>
            <a:off x="4846320" y="3657600"/>
            <a:ext cx="1097280" cy="365760"/>
          </a:xfrm>
          <a:prstGeom prst="rect">
            <a:avLst/>
          </a:prstGeom>
          <a:noFill/>
        </p:spPr>
        <p:txBody>
          <a:bodyPr wrap="square">
            <a:spAutoFit/>
          </a:bodyPr>
          <a:lstStyle/>
          <a:p>
            <a:pPr algn="ctr">
              <a:defRPr sz="1100" b="0">
                <a:solidFill>
                  <a:srgbClr val="242424"/>
                </a:solidFill>
                <a:latin typeface="Segoe UI"/>
              </a:defRPr>
            </a:pPr>
            <a:r>
              <a:t>16</a:t>
            </a:r>
          </a:p>
        </p:txBody>
      </p:sp>
      <p:sp>
        <p:nvSpPr>
          <p:cNvPr id="32" name="TextBox 31"/>
          <p:cNvSpPr txBox="1"/>
          <p:nvPr/>
        </p:nvSpPr>
        <p:spPr>
          <a:xfrm>
            <a:off x="6035040" y="3657600"/>
            <a:ext cx="1371600" cy="365760"/>
          </a:xfrm>
          <a:prstGeom prst="rect">
            <a:avLst/>
          </a:prstGeom>
          <a:noFill/>
        </p:spPr>
        <p:txBody>
          <a:bodyPr wrap="square">
            <a:spAutoFit/>
          </a:bodyPr>
          <a:lstStyle/>
          <a:p>
            <a:pPr algn="ctr">
              <a:defRPr sz="1100" b="0">
                <a:solidFill>
                  <a:srgbClr val="242424"/>
                </a:solidFill>
                <a:latin typeface="Segoe UI"/>
              </a:defRPr>
            </a:pPr>
            <a:r>
              <a:t>5</a:t>
            </a:r>
          </a:p>
        </p:txBody>
      </p:sp>
      <p:sp>
        <p:nvSpPr>
          <p:cNvPr id="33" name="TextBox 32"/>
          <p:cNvSpPr txBox="1"/>
          <p:nvPr/>
        </p:nvSpPr>
        <p:spPr>
          <a:xfrm>
            <a:off x="7589520" y="3657600"/>
            <a:ext cx="3657600" cy="365760"/>
          </a:xfrm>
          <a:prstGeom prst="rect">
            <a:avLst/>
          </a:prstGeom>
          <a:noFill/>
        </p:spPr>
        <p:txBody>
          <a:bodyPr wrap="square">
            <a:spAutoFit/>
          </a:bodyPr>
          <a:lstStyle/>
          <a:p>
            <a:pPr algn="l">
              <a:defRPr sz="1100" b="0">
                <a:solidFill>
                  <a:srgbClr val="666666"/>
                </a:solidFill>
                <a:latin typeface="Segoe UI"/>
              </a:defRPr>
            </a:pPr>
            <a:r>
              <a:t>Threat modeling</a:t>
            </a:r>
          </a:p>
        </p:txBody>
      </p:sp>
      <p:sp>
        <p:nvSpPr>
          <p:cNvPr id="34" name="TextBox 33"/>
          <p:cNvSpPr txBox="1"/>
          <p:nvPr/>
        </p:nvSpPr>
        <p:spPr>
          <a:xfrm>
            <a:off x="731520" y="4114800"/>
            <a:ext cx="2743200" cy="365760"/>
          </a:xfrm>
          <a:prstGeom prst="rect">
            <a:avLst/>
          </a:prstGeom>
          <a:noFill/>
        </p:spPr>
        <p:txBody>
          <a:bodyPr wrap="square">
            <a:spAutoFit/>
          </a:bodyPr>
          <a:lstStyle/>
          <a:p>
            <a:pPr algn="l">
              <a:defRPr sz="1100" b="0">
                <a:solidFill>
                  <a:srgbClr val="444444"/>
                </a:solidFill>
                <a:latin typeface="Segoe UI"/>
              </a:defRPr>
            </a:pPr>
            <a:r>
              <a:t>hve-rpi</a:t>
            </a:r>
          </a:p>
        </p:txBody>
      </p:sp>
      <p:sp>
        <p:nvSpPr>
          <p:cNvPr id="35" name="TextBox 34"/>
          <p:cNvSpPr txBox="1"/>
          <p:nvPr/>
        </p:nvSpPr>
        <p:spPr>
          <a:xfrm>
            <a:off x="3657600" y="4114800"/>
            <a:ext cx="1097280" cy="365760"/>
          </a:xfrm>
          <a:prstGeom prst="rect">
            <a:avLst/>
          </a:prstGeom>
          <a:noFill/>
        </p:spPr>
        <p:txBody>
          <a:bodyPr wrap="square">
            <a:spAutoFit/>
          </a:bodyPr>
          <a:lstStyle/>
          <a:p>
            <a:pPr algn="ctr">
              <a:defRPr sz="1100" b="0">
                <a:solidFill>
                  <a:srgbClr val="242424"/>
                </a:solidFill>
                <a:latin typeface="Segoe UI"/>
              </a:defRPr>
            </a:pPr>
            <a:r>
              <a:t>8</a:t>
            </a:r>
          </a:p>
        </p:txBody>
      </p:sp>
      <p:sp>
        <p:nvSpPr>
          <p:cNvPr id="36" name="TextBox 35"/>
          <p:cNvSpPr txBox="1"/>
          <p:nvPr/>
        </p:nvSpPr>
        <p:spPr>
          <a:xfrm>
            <a:off x="4846320" y="4114800"/>
            <a:ext cx="1097280" cy="365760"/>
          </a:xfrm>
          <a:prstGeom prst="rect">
            <a:avLst/>
          </a:prstGeom>
          <a:noFill/>
        </p:spPr>
        <p:txBody>
          <a:bodyPr wrap="square">
            <a:spAutoFit/>
          </a:bodyPr>
          <a:lstStyle/>
          <a:p>
            <a:pPr algn="ctr">
              <a:defRPr sz="1100" b="0">
                <a:solidFill>
                  <a:srgbClr val="242424"/>
                </a:solidFill>
                <a:latin typeface="Segoe UI"/>
              </a:defRPr>
            </a:pPr>
            <a:r>
              <a:t>14</a:t>
            </a:r>
          </a:p>
        </p:txBody>
      </p:sp>
      <p:sp>
        <p:nvSpPr>
          <p:cNvPr id="37" name="TextBox 36"/>
          <p:cNvSpPr txBox="1"/>
          <p:nvPr/>
        </p:nvSpPr>
        <p:spPr>
          <a:xfrm>
            <a:off x="6035040" y="4114800"/>
            <a:ext cx="1371600" cy="365760"/>
          </a:xfrm>
          <a:prstGeom prst="rect">
            <a:avLst/>
          </a:prstGeom>
          <a:noFill/>
        </p:spPr>
        <p:txBody>
          <a:bodyPr wrap="square">
            <a:spAutoFit/>
          </a:bodyPr>
          <a:lstStyle/>
          <a:p>
            <a:pPr algn="ctr">
              <a:defRPr sz="1100" b="0">
                <a:solidFill>
                  <a:srgbClr val="242424"/>
                </a:solidFill>
                <a:latin typeface="Segoe UI"/>
              </a:defRPr>
            </a:pPr>
            <a:r>
              <a:t>5</a:t>
            </a:r>
          </a:p>
        </p:txBody>
      </p:sp>
      <p:sp>
        <p:nvSpPr>
          <p:cNvPr id="38" name="TextBox 37"/>
          <p:cNvSpPr txBox="1"/>
          <p:nvPr/>
        </p:nvSpPr>
        <p:spPr>
          <a:xfrm>
            <a:off x="7589520" y="4114800"/>
            <a:ext cx="3657600" cy="365760"/>
          </a:xfrm>
          <a:prstGeom prst="rect">
            <a:avLst/>
          </a:prstGeom>
          <a:noFill/>
        </p:spPr>
        <p:txBody>
          <a:bodyPr wrap="square">
            <a:spAutoFit/>
          </a:bodyPr>
          <a:lstStyle/>
          <a:p>
            <a:pPr algn="l">
              <a:defRPr sz="1100" b="0">
                <a:solidFill>
                  <a:srgbClr val="666666"/>
                </a:solidFill>
                <a:latin typeface="Segoe UI"/>
              </a:defRPr>
            </a:pPr>
            <a:r>
              <a:t>Standalone RPI cycle</a:t>
            </a:r>
          </a:p>
        </p:txBody>
      </p:sp>
      <p:sp>
        <p:nvSpPr>
          <p:cNvPr id="39" name="TextBox 38"/>
          <p:cNvSpPr txBox="1"/>
          <p:nvPr/>
        </p:nvSpPr>
        <p:spPr>
          <a:xfrm>
            <a:off x="731520" y="4572000"/>
            <a:ext cx="2743200" cy="365760"/>
          </a:xfrm>
          <a:prstGeom prst="rect">
            <a:avLst/>
          </a:prstGeom>
          <a:noFill/>
        </p:spPr>
        <p:txBody>
          <a:bodyPr wrap="square">
            <a:spAutoFit/>
          </a:bodyPr>
          <a:lstStyle/>
          <a:p>
            <a:pPr algn="l">
              <a:defRPr sz="1100" b="0">
                <a:solidFill>
                  <a:srgbClr val="444444"/>
                </a:solidFill>
                <a:latin typeface="Segoe UI"/>
              </a:defRPr>
            </a:pPr>
            <a:r>
              <a:t>hve-prompt-engineering</a:t>
            </a:r>
          </a:p>
        </p:txBody>
      </p:sp>
      <p:sp>
        <p:nvSpPr>
          <p:cNvPr id="40" name="TextBox 39"/>
          <p:cNvSpPr txBox="1"/>
          <p:nvPr/>
        </p:nvSpPr>
        <p:spPr>
          <a:xfrm>
            <a:off x="3657600" y="4572000"/>
            <a:ext cx="1097280" cy="365760"/>
          </a:xfrm>
          <a:prstGeom prst="rect">
            <a:avLst/>
          </a:prstGeom>
          <a:noFill/>
        </p:spPr>
        <p:txBody>
          <a:bodyPr wrap="square">
            <a:spAutoFit/>
          </a:bodyPr>
          <a:lstStyle/>
          <a:p>
            <a:pPr algn="ctr">
              <a:defRPr sz="1100" b="0">
                <a:solidFill>
                  <a:srgbClr val="242424"/>
                </a:solidFill>
                <a:latin typeface="Segoe UI"/>
              </a:defRPr>
            </a:pPr>
            <a:r>
              <a:t>8</a:t>
            </a:r>
          </a:p>
        </p:txBody>
      </p:sp>
      <p:sp>
        <p:nvSpPr>
          <p:cNvPr id="41" name="TextBox 40"/>
          <p:cNvSpPr txBox="1"/>
          <p:nvPr/>
        </p:nvSpPr>
        <p:spPr>
          <a:xfrm>
            <a:off x="4846320" y="4572000"/>
            <a:ext cx="1097280" cy="365760"/>
          </a:xfrm>
          <a:prstGeom prst="rect">
            <a:avLst/>
          </a:prstGeom>
          <a:noFill/>
        </p:spPr>
        <p:txBody>
          <a:bodyPr wrap="square">
            <a:spAutoFit/>
          </a:bodyPr>
          <a:lstStyle/>
          <a:p>
            <a:pPr algn="ctr">
              <a:defRPr sz="1100" b="0">
                <a:solidFill>
                  <a:srgbClr val="242424"/>
                </a:solidFill>
                <a:latin typeface="Segoe UI"/>
              </a:defRPr>
            </a:pPr>
            <a:r>
              <a:t>14</a:t>
            </a:r>
          </a:p>
        </p:txBody>
      </p:sp>
      <p:sp>
        <p:nvSpPr>
          <p:cNvPr id="42" name="TextBox 41"/>
          <p:cNvSpPr txBox="1"/>
          <p:nvPr/>
        </p:nvSpPr>
        <p:spPr>
          <a:xfrm>
            <a:off x="6035040" y="4572000"/>
            <a:ext cx="1371600" cy="365760"/>
          </a:xfrm>
          <a:prstGeom prst="rect">
            <a:avLst/>
          </a:prstGeom>
          <a:noFill/>
        </p:spPr>
        <p:txBody>
          <a:bodyPr wrap="square">
            <a:spAutoFit/>
          </a:bodyPr>
          <a:lstStyle/>
          <a:p>
            <a:pPr algn="ctr">
              <a:defRPr sz="1100" b="0">
                <a:solidFill>
                  <a:srgbClr val="242424"/>
                </a:solidFill>
                <a:latin typeface="Segoe UI"/>
              </a:defRPr>
            </a:pPr>
            <a:r>
              <a:t>5</a:t>
            </a:r>
          </a:p>
        </p:txBody>
      </p:sp>
      <p:sp>
        <p:nvSpPr>
          <p:cNvPr id="43" name="TextBox 42"/>
          <p:cNvSpPr txBox="1"/>
          <p:nvPr/>
        </p:nvSpPr>
        <p:spPr>
          <a:xfrm>
            <a:off x="7589520" y="4572000"/>
            <a:ext cx="3657600" cy="365760"/>
          </a:xfrm>
          <a:prstGeom prst="rect">
            <a:avLst/>
          </a:prstGeom>
          <a:noFill/>
        </p:spPr>
        <p:txBody>
          <a:bodyPr wrap="square">
            <a:spAutoFit/>
          </a:bodyPr>
          <a:lstStyle/>
          <a:p>
            <a:pPr algn="l">
              <a:defRPr sz="1100" b="0">
                <a:solidFill>
                  <a:srgbClr val="666666"/>
                </a:solidFill>
                <a:latin typeface="Segoe UI"/>
              </a:defRPr>
            </a:pPr>
            <a:r>
              <a:t>Artifact authoring</a:t>
            </a:r>
          </a:p>
        </p:txBody>
      </p:sp>
      <p:sp>
        <p:nvSpPr>
          <p:cNvPr id="44" name="TextBox 43"/>
          <p:cNvSpPr txBox="1"/>
          <p:nvPr/>
        </p:nvSpPr>
        <p:spPr>
          <a:xfrm>
            <a:off x="731520" y="5029200"/>
            <a:ext cx="2743200" cy="365760"/>
          </a:xfrm>
          <a:prstGeom prst="rect">
            <a:avLst/>
          </a:prstGeom>
          <a:noFill/>
        </p:spPr>
        <p:txBody>
          <a:bodyPr wrap="square">
            <a:spAutoFit/>
          </a:bodyPr>
          <a:lstStyle/>
          <a:p>
            <a:pPr algn="l">
              <a:defRPr sz="1100" b="0">
                <a:solidFill>
                  <a:srgbClr val="444444"/>
                </a:solidFill>
                <a:latin typeface="Segoe UI"/>
              </a:defRPr>
            </a:pPr>
            <a:r>
              <a:t>hve-data-science</a:t>
            </a:r>
          </a:p>
        </p:txBody>
      </p:sp>
      <p:sp>
        <p:nvSpPr>
          <p:cNvPr id="45" name="TextBox 44"/>
          <p:cNvSpPr txBox="1"/>
          <p:nvPr/>
        </p:nvSpPr>
        <p:spPr>
          <a:xfrm>
            <a:off x="3657600" y="5029200"/>
            <a:ext cx="1097280" cy="365760"/>
          </a:xfrm>
          <a:prstGeom prst="rect">
            <a:avLst/>
          </a:prstGeom>
          <a:noFill/>
        </p:spPr>
        <p:txBody>
          <a:bodyPr wrap="square">
            <a:spAutoFit/>
          </a:bodyPr>
          <a:lstStyle/>
          <a:p>
            <a:pPr algn="ctr">
              <a:defRPr sz="1100" b="0">
                <a:solidFill>
                  <a:srgbClr val="242424"/>
                </a:solidFill>
                <a:latin typeface="Segoe UI"/>
              </a:defRPr>
            </a:pPr>
            <a:r>
              <a:t>1</a:t>
            </a:r>
          </a:p>
        </p:txBody>
      </p:sp>
      <p:sp>
        <p:nvSpPr>
          <p:cNvPr id="46" name="TextBox 45"/>
          <p:cNvSpPr txBox="1"/>
          <p:nvPr/>
        </p:nvSpPr>
        <p:spPr>
          <a:xfrm>
            <a:off x="4846320" y="5029200"/>
            <a:ext cx="1097280" cy="365760"/>
          </a:xfrm>
          <a:prstGeom prst="rect">
            <a:avLst/>
          </a:prstGeom>
          <a:noFill/>
        </p:spPr>
        <p:txBody>
          <a:bodyPr wrap="square">
            <a:spAutoFit/>
          </a:bodyPr>
          <a:lstStyle/>
          <a:p>
            <a:pPr algn="ctr">
              <a:defRPr sz="1100" b="0">
                <a:solidFill>
                  <a:srgbClr val="242424"/>
                </a:solidFill>
                <a:latin typeface="Segoe UI"/>
              </a:defRPr>
            </a:pPr>
            <a:r>
              <a:t>1</a:t>
            </a:r>
          </a:p>
        </p:txBody>
      </p:sp>
      <p:sp>
        <p:nvSpPr>
          <p:cNvPr id="47" name="TextBox 46"/>
          <p:cNvSpPr txBox="1"/>
          <p:nvPr/>
        </p:nvSpPr>
        <p:spPr>
          <a:xfrm>
            <a:off x="6035040" y="5029200"/>
            <a:ext cx="1371600" cy="365760"/>
          </a:xfrm>
          <a:prstGeom prst="rect">
            <a:avLst/>
          </a:prstGeom>
          <a:noFill/>
        </p:spPr>
        <p:txBody>
          <a:bodyPr wrap="square">
            <a:spAutoFit/>
          </a:bodyPr>
          <a:lstStyle/>
          <a:p>
            <a:pPr algn="ctr">
              <a:defRPr sz="1100" b="0">
                <a:solidFill>
                  <a:srgbClr val="242424"/>
                </a:solidFill>
                <a:latin typeface="Segoe UI"/>
              </a:defRPr>
            </a:pPr>
            <a:r>
              <a:t>0</a:t>
            </a:r>
          </a:p>
        </p:txBody>
      </p:sp>
      <p:sp>
        <p:nvSpPr>
          <p:cNvPr id="48" name="TextBox 47"/>
          <p:cNvSpPr txBox="1"/>
          <p:nvPr/>
        </p:nvSpPr>
        <p:spPr>
          <a:xfrm>
            <a:off x="7589520" y="5029200"/>
            <a:ext cx="3657600" cy="365760"/>
          </a:xfrm>
          <a:prstGeom prst="rect">
            <a:avLst/>
          </a:prstGeom>
          <a:noFill/>
        </p:spPr>
        <p:txBody>
          <a:bodyPr wrap="square">
            <a:spAutoFit/>
          </a:bodyPr>
          <a:lstStyle/>
          <a:p>
            <a:pPr algn="l">
              <a:defRPr sz="1100" b="0">
                <a:solidFill>
                  <a:srgbClr val="666666"/>
                </a:solidFill>
                <a:latin typeface="Segoe UI"/>
              </a:defRPr>
            </a:pPr>
            <a:r>
              <a:t>Data science workflows</a:t>
            </a:r>
          </a:p>
        </p:txBody>
      </p:sp>
      <p:sp>
        <p:nvSpPr>
          <p:cNvPr id="49" name="TextBox 48"/>
          <p:cNvSpPr txBox="1"/>
          <p:nvPr/>
        </p:nvSpPr>
        <p:spPr>
          <a:xfrm>
            <a:off x="731520" y="5669280"/>
            <a:ext cx="10058400" cy="457200"/>
          </a:xfrm>
          <a:prstGeom prst="rect">
            <a:avLst/>
          </a:prstGeom>
          <a:noFill/>
        </p:spPr>
        <p:txBody>
          <a:bodyPr wrap="square">
            <a:spAutoFit/>
          </a:bodyPr>
          <a:lstStyle/>
          <a:p>
            <a:pPr algn="l">
              <a:defRPr sz="1300" b="1">
                <a:solidFill>
                  <a:srgbClr val="038E8E"/>
                </a:solidFill>
                <a:latin typeface="Segoe UI"/>
              </a:defRPr>
            </a:pPr>
            <a:r>
              <a:t>Common base: 8 core agents + 5 core instructions shared across all extensions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Learning Curve &amp; Compounding Value</a:t>
            </a:r>
          </a:p>
        </p:txBody>
      </p:sp>
      <p:sp>
        <p:nvSpPr>
          <p:cNvPr id="3" name="Rectangle 2"/>
          <p:cNvSpPr/>
          <p:nvPr/>
        </p:nvSpPr>
        <p:spPr>
          <a:xfrm>
            <a:off x="731520" y="1005840"/>
            <a:ext cx="731520" cy="50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0292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The Honest Truth</a:t>
            </a:r>
          </a:p>
        </p:txBody>
      </p:sp>
      <p:sp>
        <p:nvSpPr>
          <p:cNvPr id="5" name="TextBox 4"/>
          <p:cNvSpPr txBox="1"/>
          <p:nvPr/>
        </p:nvSpPr>
        <p:spPr>
          <a:xfrm>
            <a:off x="731520" y="2011680"/>
            <a:ext cx="5029200" cy="2286000"/>
          </a:xfrm>
          <a:prstGeom prst="rect">
            <a:avLst/>
          </a:prstGeom>
          <a:noFill/>
        </p:spPr>
        <p:txBody>
          <a:bodyPr wrap="square">
            <a:spAutoFit/>
          </a:bodyPr>
          <a:lstStyle/>
          <a:p>
            <a:pPr>
              <a:spcAft>
                <a:spcPts val="400"/>
              </a:spcAft>
              <a:defRPr sz="1800" b="1">
                <a:solidFill>
                  <a:srgbClr val="FF8C00"/>
                </a:solidFill>
                <a:latin typeface="Segoe UI"/>
              </a:defRPr>
            </a:pPr>
            <a:r>
              <a:t>Your first RPI workflow will feel slower.</a:t>
            </a:r>
          </a:p>
          <a:p>
            <a:pPr>
              <a:spcAft>
                <a:spcPts val="400"/>
              </a:spcAft>
              <a:defRPr sz="800" b="0">
                <a:solidFill>
                  <a:srgbClr val="242424"/>
                </a:solidFill>
                <a:latin typeface="Segoe UI"/>
              </a:defRPr>
            </a:pPr>
          </a:p>
          <a:p>
            <a:pPr>
              <a:spcAft>
                <a:spcPts val="400"/>
              </a:spcAft>
              <a:defRPr sz="1400" b="0">
                <a:solidFill>
                  <a:srgbClr val="444444"/>
                </a:solidFill>
                <a:latin typeface="Segoe UI"/>
              </a:defRPr>
            </a:pPr>
            <a:r>
              <a:t>You'll wonder why you can't just ask AI to code it.</a:t>
            </a:r>
          </a:p>
          <a:p>
            <a:pPr>
              <a:spcAft>
                <a:spcPts val="400"/>
              </a:spcAft>
              <a:defRPr sz="1400" b="0">
                <a:solidFill>
                  <a:srgbClr val="444444"/>
                </a:solidFill>
                <a:latin typeface="Segoe UI"/>
              </a:defRPr>
            </a:pPr>
            <a:r>
              <a:t>You'll feel like the constraints are slowing you down.</a:t>
            </a:r>
          </a:p>
          <a:p>
            <a:pPr>
              <a:spcAft>
                <a:spcPts val="400"/>
              </a:spcAft>
              <a:defRPr sz="1400" b="0">
                <a:solidFill>
                  <a:srgbClr val="444444"/>
                </a:solidFill>
                <a:latin typeface="Segoe UI"/>
              </a:defRPr>
            </a:pPr>
            <a:r>
              <a:t>You'll want to skip the research phase.</a:t>
            </a:r>
          </a:p>
          <a:p>
            <a:pPr>
              <a:spcAft>
                <a:spcPts val="400"/>
              </a:spcAft>
              <a:defRPr sz="800" b="0">
                <a:solidFill>
                  <a:srgbClr val="242424"/>
                </a:solidFill>
                <a:latin typeface="Segoe UI"/>
              </a:defRPr>
            </a:pPr>
          </a:p>
          <a:p>
            <a:pPr>
              <a:spcAft>
                <a:spcPts val="400"/>
              </a:spcAft>
              <a:defRPr sz="1400" b="1">
                <a:solidFill>
                  <a:srgbClr val="666666"/>
                </a:solidFill>
                <a:latin typeface="Segoe UI"/>
              </a:defRPr>
            </a:pPr>
            <a:r>
              <a:t>That's normal. Stay with it.</a:t>
            </a:r>
          </a:p>
        </p:txBody>
      </p:sp>
      <p:sp>
        <p:nvSpPr>
          <p:cNvPr id="6" name="Rounded Rectangle 5"/>
          <p:cNvSpPr/>
          <p:nvPr/>
        </p:nvSpPr>
        <p:spPr>
          <a:xfrm>
            <a:off x="6400800" y="1371600"/>
            <a:ext cx="50292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The Payoff</a:t>
            </a:r>
          </a:p>
        </p:txBody>
      </p:sp>
      <p:sp>
        <p:nvSpPr>
          <p:cNvPr id="7" name="TextBox 6"/>
          <p:cNvSpPr txBox="1"/>
          <p:nvPr/>
        </p:nvSpPr>
        <p:spPr>
          <a:xfrm>
            <a:off x="6400800" y="2011680"/>
            <a:ext cx="5029200" cy="2286000"/>
          </a:xfrm>
          <a:prstGeom prst="rect">
            <a:avLst/>
          </a:prstGeom>
          <a:noFill/>
        </p:spPr>
        <p:txBody>
          <a:bodyPr wrap="square">
            <a:spAutoFit/>
          </a:bodyPr>
          <a:lstStyle/>
          <a:p>
            <a:pPr>
              <a:spcAft>
                <a:spcPts val="400"/>
              </a:spcAft>
              <a:defRPr sz="1800" b="1">
                <a:solidFill>
                  <a:srgbClr val="107C10"/>
                </a:solidFill>
                <a:latin typeface="Segoe UI"/>
              </a:defRPr>
            </a:pPr>
            <a:r>
              <a:t>By your third feature, the workflow</a:t>
            </a:r>
          </a:p>
          <a:p>
            <a:pPr>
              <a:spcAft>
                <a:spcPts val="400"/>
              </a:spcAft>
              <a:defRPr sz="1800" b="1">
                <a:solidFill>
                  <a:srgbClr val="107C10"/>
                </a:solidFill>
                <a:latin typeface="Segoe UI"/>
              </a:defRPr>
            </a:pPr>
            <a:r>
              <a:t>feels natural.</a:t>
            </a:r>
          </a:p>
          <a:p>
            <a:pPr>
              <a:spcAft>
                <a:spcPts val="400"/>
              </a:spcAft>
              <a:defRPr sz="800" b="0">
                <a:solidFill>
                  <a:srgbClr val="242424"/>
                </a:solidFill>
                <a:latin typeface="Segoe UI"/>
              </a:defRPr>
            </a:pPr>
          </a:p>
          <a:p>
            <a:pPr>
              <a:spcAft>
                <a:spcPts val="400"/>
              </a:spcAft>
              <a:defRPr sz="1400" b="0">
                <a:solidFill>
                  <a:srgbClr val="444444"/>
                </a:solidFill>
                <a:latin typeface="Segoe UI"/>
              </a:defRPr>
            </a:pPr>
            <a:r>
              <a:t>Research artifacts compound across features.</a:t>
            </a:r>
          </a:p>
          <a:p>
            <a:pPr>
              <a:spcAft>
                <a:spcPts val="400"/>
              </a:spcAft>
              <a:defRPr sz="1400" b="0">
                <a:solidFill>
                  <a:srgbClr val="444444"/>
                </a:solidFill>
                <a:latin typeface="Segoe UI"/>
              </a:defRPr>
            </a:pPr>
            <a:r>
              <a:t>Plans reference previous research findings.</a:t>
            </a:r>
          </a:p>
          <a:p>
            <a:pPr>
              <a:spcAft>
                <a:spcPts val="400"/>
              </a:spcAft>
              <a:defRPr sz="1400" b="0">
                <a:solidFill>
                  <a:srgbClr val="444444"/>
                </a:solidFill>
                <a:latin typeface="Segoe UI"/>
              </a:defRPr>
            </a:pPr>
            <a:r>
              <a:t>Rework drops below 10%.</a:t>
            </a:r>
          </a:p>
          <a:p>
            <a:pPr>
              <a:spcAft>
                <a:spcPts val="400"/>
              </a:spcAft>
              <a:defRPr sz="800" b="0">
                <a:solidFill>
                  <a:srgbClr val="242424"/>
                </a:solidFill>
                <a:latin typeface="Segoe UI"/>
              </a:defRPr>
            </a:pPr>
          </a:p>
          <a:p>
            <a:pPr>
              <a:spcAft>
                <a:spcPts val="400"/>
              </a:spcAft>
              <a:defRPr sz="1400" b="1">
                <a:solidFill>
                  <a:srgbClr val="666666"/>
                </a:solidFill>
                <a:latin typeface="Segoe UI"/>
              </a:defRPr>
            </a:pPr>
            <a:r>
              <a:t>The framework pays for itself.</a:t>
            </a:r>
          </a:p>
        </p:txBody>
      </p:sp>
      <p:sp>
        <p:nvSpPr>
          <p:cNvPr id="8" name="TextBox 7"/>
          <p:cNvSpPr txBox="1"/>
          <p:nvPr/>
        </p:nvSpPr>
        <p:spPr>
          <a:xfrm>
            <a:off x="731520" y="4754880"/>
            <a:ext cx="10058400" cy="365760"/>
          </a:xfrm>
          <a:prstGeom prst="rect">
            <a:avLst/>
          </a:prstGeom>
          <a:noFill/>
        </p:spPr>
        <p:txBody>
          <a:bodyPr wrap="square">
            <a:spAutoFit/>
          </a:bodyPr>
          <a:lstStyle/>
          <a:p>
            <a:pPr algn="l">
              <a:defRPr sz="1600" b="1">
                <a:solidFill>
                  <a:srgbClr val="242424"/>
                </a:solidFill>
                <a:latin typeface="Segoe UI"/>
              </a:defRPr>
            </a:pPr>
            <a:r>
              <a:t>Evolution Timeline</a:t>
            </a:r>
          </a:p>
        </p:txBody>
      </p:sp>
      <p:sp>
        <p:nvSpPr>
          <p:cNvPr id="9" name="Rounded Rectangle 8"/>
          <p:cNvSpPr/>
          <p:nvPr/>
        </p:nvSpPr>
        <p:spPr>
          <a:xfrm>
            <a:off x="914400" y="5212080"/>
            <a:ext cx="1097280" cy="4114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v1.1.0</a:t>
            </a:r>
          </a:p>
        </p:txBody>
      </p:sp>
      <p:sp>
        <p:nvSpPr>
          <p:cNvPr id="10" name="TextBox 9"/>
          <p:cNvSpPr txBox="1"/>
          <p:nvPr/>
        </p:nvSpPr>
        <p:spPr>
          <a:xfrm>
            <a:off x="2194560" y="5212080"/>
            <a:ext cx="2011680" cy="411480"/>
          </a:xfrm>
          <a:prstGeom prst="rect">
            <a:avLst/>
          </a:prstGeom>
          <a:noFill/>
        </p:spPr>
        <p:txBody>
          <a:bodyPr wrap="square">
            <a:spAutoFit/>
          </a:bodyPr>
          <a:lstStyle/>
          <a:p>
            <a:pPr algn="l">
              <a:defRPr sz="1100" b="0">
                <a:solidFill>
                  <a:srgbClr val="666666"/>
                </a:solidFill>
                <a:latin typeface="Segoe UI"/>
              </a:defRPr>
            </a:pPr>
            <a:r>
              <a:t>Jan 19 — Initial release</a:t>
            </a:r>
          </a:p>
        </p:txBody>
      </p:sp>
      <p:cxnSp>
        <p:nvCxnSpPr>
          <p:cNvPr id="11" name="Connector 10"/>
          <p:cNvCxnSpPr/>
          <p:nvPr/>
        </p:nvCxnSpPr>
        <p:spPr>
          <a:xfrm>
            <a:off x="4114800" y="5413248"/>
            <a:ext cx="18288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89120" y="5212080"/>
            <a:ext cx="1097280" cy="41148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v2.0.0</a:t>
            </a:r>
          </a:p>
        </p:txBody>
      </p:sp>
      <p:sp>
        <p:nvSpPr>
          <p:cNvPr id="13" name="TextBox 12"/>
          <p:cNvSpPr txBox="1"/>
          <p:nvPr/>
        </p:nvSpPr>
        <p:spPr>
          <a:xfrm>
            <a:off x="5669280" y="5212080"/>
            <a:ext cx="2011680" cy="411480"/>
          </a:xfrm>
          <a:prstGeom prst="rect">
            <a:avLst/>
          </a:prstGeom>
          <a:noFill/>
        </p:spPr>
        <p:txBody>
          <a:bodyPr wrap="square">
            <a:spAutoFit/>
          </a:bodyPr>
          <a:lstStyle/>
          <a:p>
            <a:pPr algn="l">
              <a:defRPr sz="1100" b="0">
                <a:solidFill>
                  <a:srgbClr val="666666"/>
                </a:solidFill>
                <a:latin typeface="Segoe UI"/>
              </a:defRPr>
            </a:pPr>
            <a:r>
              <a:t>Jan 28 — Breaking: agent restructure</a:t>
            </a:r>
          </a:p>
        </p:txBody>
      </p:sp>
      <p:cxnSp>
        <p:nvCxnSpPr>
          <p:cNvPr id="14" name="Connector 13"/>
          <p:cNvCxnSpPr/>
          <p:nvPr/>
        </p:nvCxnSpPr>
        <p:spPr>
          <a:xfrm>
            <a:off x="7589520" y="5413248"/>
            <a:ext cx="182880" cy="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863840" y="5212080"/>
            <a:ext cx="109728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v2.3.4</a:t>
            </a:r>
          </a:p>
        </p:txBody>
      </p:sp>
      <p:sp>
        <p:nvSpPr>
          <p:cNvPr id="16" name="TextBox 15"/>
          <p:cNvSpPr txBox="1"/>
          <p:nvPr/>
        </p:nvSpPr>
        <p:spPr>
          <a:xfrm>
            <a:off x="9144000" y="5212080"/>
            <a:ext cx="2011680" cy="411480"/>
          </a:xfrm>
          <a:prstGeom prst="rect">
            <a:avLst/>
          </a:prstGeom>
          <a:noFill/>
        </p:spPr>
        <p:txBody>
          <a:bodyPr wrap="square">
            <a:spAutoFit/>
          </a:bodyPr>
          <a:lstStyle/>
          <a:p>
            <a:pPr algn="l">
              <a:defRPr sz="1100" b="0">
                <a:solidFill>
                  <a:srgbClr val="666666"/>
                </a:solidFill>
                <a:latin typeface="Segoe UI"/>
              </a:defRPr>
            </a:pPr>
            <a:r>
              <a:t>Feb 13 — Stable + extensions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242424"/>
                </a:solidFill>
                <a:latin typeface="Segoe UI"/>
              </a:defRPr>
            </a:pPr>
            <a:r>
              <a:t>Getting Started</a:t>
            </a:r>
          </a:p>
        </p:txBody>
      </p:sp>
      <p:sp>
        <p:nvSpPr>
          <p:cNvPr id="3" name="Rectangle 2"/>
          <p:cNvSpPr/>
          <p:nvPr/>
        </p:nvSpPr>
        <p:spPr>
          <a:xfrm>
            <a:off x="731520" y="1005840"/>
            <a:ext cx="731520" cy="508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320040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VS Code Extension  •  10 seconds</a:t>
            </a:r>
          </a:p>
        </p:txBody>
      </p:sp>
      <p:sp>
        <p:nvSpPr>
          <p:cNvPr id="5" name="TextBox 4"/>
          <p:cNvSpPr txBox="1"/>
          <p:nvPr/>
        </p:nvSpPr>
        <p:spPr>
          <a:xfrm>
            <a:off x="914400" y="2103120"/>
            <a:ext cx="2926080" cy="1371600"/>
          </a:xfrm>
          <a:prstGeom prst="rect">
            <a:avLst/>
          </a:prstGeom>
          <a:noFill/>
        </p:spPr>
        <p:txBody>
          <a:bodyPr wrap="square">
            <a:spAutoFit/>
          </a:bodyPr>
          <a:lstStyle/>
          <a:p>
            <a:pPr>
              <a:spcAft>
                <a:spcPts val="400"/>
              </a:spcAft>
              <a:defRPr sz="1300" b="0">
                <a:solidFill>
                  <a:srgbClr val="444444"/>
                </a:solidFill>
                <a:latin typeface="Segoe UI"/>
              </a:defRPr>
            </a:pPr>
            <a:r>
              <a:t>Zero-config</a:t>
            </a:r>
            <a:br/>
            <a:r>
              <a:t>Install from marketplace</a:t>
            </a:r>
          </a:p>
          <a:p>
            <a:pPr>
              <a:spcAft>
                <a:spcPts val="400"/>
              </a:spcAft>
              <a:defRPr sz="600" b="0">
                <a:solidFill>
                  <a:srgbClr val="242424"/>
                </a:solidFill>
                <a:latin typeface="Segoe UI"/>
              </a:defRPr>
            </a:pPr>
          </a:p>
          <a:p>
            <a:pPr>
              <a:spcAft>
                <a:spcPts val="400"/>
              </a:spcAft>
              <a:defRPr sz="1100" b="0">
                <a:solidFill>
                  <a:srgbClr val="666666"/>
                </a:solidFill>
                <a:latin typeface="Segoe UI"/>
              </a:defRPr>
            </a:pPr>
            <a:r>
              <a:t>Recommended for most users</a:t>
            </a:r>
          </a:p>
        </p:txBody>
      </p:sp>
      <p:sp>
        <p:nvSpPr>
          <p:cNvPr id="6" name="Rounded Rectangle 5"/>
          <p:cNvSpPr/>
          <p:nvPr/>
        </p:nvSpPr>
        <p:spPr>
          <a:xfrm>
            <a:off x="4389120" y="1371600"/>
            <a:ext cx="3200400" cy="5486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Peer Clone  •  2 minutes</a:t>
            </a:r>
          </a:p>
        </p:txBody>
      </p:sp>
      <p:sp>
        <p:nvSpPr>
          <p:cNvPr id="7" name="TextBox 6"/>
          <p:cNvSpPr txBox="1"/>
          <p:nvPr/>
        </p:nvSpPr>
        <p:spPr>
          <a:xfrm>
            <a:off x="4572000" y="2103120"/>
            <a:ext cx="2926080" cy="1371600"/>
          </a:xfrm>
          <a:prstGeom prst="rect">
            <a:avLst/>
          </a:prstGeom>
          <a:noFill/>
        </p:spPr>
        <p:txBody>
          <a:bodyPr wrap="square">
            <a:spAutoFit/>
          </a:bodyPr>
          <a:lstStyle/>
          <a:p>
            <a:pPr>
              <a:spcAft>
                <a:spcPts val="400"/>
              </a:spcAft>
              <a:defRPr sz="1300" b="0">
                <a:solidFill>
                  <a:srgbClr val="444444"/>
                </a:solidFill>
                <a:latin typeface="Segoe UI"/>
              </a:defRPr>
            </a:pPr>
            <a:r>
              <a:t>Customizable</a:t>
            </a:r>
            <a:br/>
            <a:r>
              <a:t>Clone .github/ into your repo</a:t>
            </a:r>
          </a:p>
          <a:p>
            <a:pPr>
              <a:spcAft>
                <a:spcPts val="400"/>
              </a:spcAft>
              <a:defRPr sz="600" b="0">
                <a:solidFill>
                  <a:srgbClr val="242424"/>
                </a:solidFill>
                <a:latin typeface="Segoe UI"/>
              </a:defRPr>
            </a:pPr>
          </a:p>
          <a:p>
            <a:pPr>
              <a:spcAft>
                <a:spcPts val="400"/>
              </a:spcAft>
              <a:defRPr sz="1100" b="0">
                <a:solidFill>
                  <a:srgbClr val="666666"/>
                </a:solidFill>
                <a:latin typeface="Segoe UI"/>
              </a:defRPr>
            </a:pPr>
            <a:r>
              <a:t>For teams with custom needs</a:t>
            </a:r>
          </a:p>
        </p:txBody>
      </p:sp>
      <p:sp>
        <p:nvSpPr>
          <p:cNvPr id="8" name="Rounded Rectangle 7"/>
          <p:cNvSpPr/>
          <p:nvPr/>
        </p:nvSpPr>
        <p:spPr>
          <a:xfrm>
            <a:off x="8046720" y="1371600"/>
            <a:ext cx="3200400" cy="5486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Codespaces  •  1 click</a:t>
            </a:r>
          </a:p>
        </p:txBody>
      </p:sp>
      <p:sp>
        <p:nvSpPr>
          <p:cNvPr id="9" name="TextBox 8"/>
          <p:cNvSpPr txBox="1"/>
          <p:nvPr/>
        </p:nvSpPr>
        <p:spPr>
          <a:xfrm>
            <a:off x="8229600" y="2103120"/>
            <a:ext cx="2926080" cy="1371600"/>
          </a:xfrm>
          <a:prstGeom prst="rect">
            <a:avLst/>
          </a:prstGeom>
          <a:noFill/>
        </p:spPr>
        <p:txBody>
          <a:bodyPr wrap="square">
            <a:spAutoFit/>
          </a:bodyPr>
          <a:lstStyle/>
          <a:p>
            <a:pPr>
              <a:spcAft>
                <a:spcPts val="400"/>
              </a:spcAft>
              <a:defRPr sz="1300" b="0">
                <a:solidFill>
                  <a:srgbClr val="444444"/>
                </a:solidFill>
                <a:latin typeface="Segoe UI"/>
              </a:defRPr>
            </a:pPr>
            <a:r>
              <a:t>Zero-config</a:t>
            </a:r>
            <a:br/>
            <a:r>
              <a:t>Pre-built dev environment</a:t>
            </a:r>
          </a:p>
          <a:p>
            <a:pPr>
              <a:spcAft>
                <a:spcPts val="400"/>
              </a:spcAft>
              <a:defRPr sz="600" b="0">
                <a:solidFill>
                  <a:srgbClr val="242424"/>
                </a:solidFill>
                <a:latin typeface="Segoe UI"/>
              </a:defRPr>
            </a:pPr>
          </a:p>
          <a:p>
            <a:pPr>
              <a:spcAft>
                <a:spcPts val="400"/>
              </a:spcAft>
              <a:defRPr sz="1100" b="0">
                <a:solidFill>
                  <a:srgbClr val="666666"/>
                </a:solidFill>
                <a:latin typeface="Segoe UI"/>
              </a:defRPr>
            </a:pPr>
            <a:r>
              <a:t>For quick exploration</a:t>
            </a:r>
          </a:p>
        </p:txBody>
      </p:sp>
      <p:sp>
        <p:nvSpPr>
          <p:cNvPr id="10" name="TextBox 9"/>
          <p:cNvSpPr txBox="1"/>
          <p:nvPr/>
        </p:nvSpPr>
        <p:spPr>
          <a:xfrm>
            <a:off x="731520" y="3840480"/>
            <a:ext cx="10058400" cy="457200"/>
          </a:xfrm>
          <a:prstGeom prst="rect">
            <a:avLst/>
          </a:prstGeom>
          <a:noFill/>
        </p:spPr>
        <p:txBody>
          <a:bodyPr wrap="square">
            <a:spAutoFit/>
          </a:bodyPr>
          <a:lstStyle/>
          <a:p>
            <a:pPr algn="ctr">
              <a:defRPr sz="2000" b="1">
                <a:solidFill>
                  <a:srgbClr val="0078D4"/>
                </a:solidFill>
                <a:latin typeface="Segoe UI"/>
              </a:defRPr>
            </a:pPr>
            <a:r>
              <a:t>github.com/microsoft/hve-core</a:t>
            </a:r>
          </a:p>
        </p:txBody>
      </p:sp>
      <p:sp>
        <p:nvSpPr>
          <p:cNvPr id="11" name="Rounded Rectangle 10"/>
          <p:cNvSpPr/>
          <p:nvPr/>
        </p:nvSpPr>
        <p:spPr>
          <a:xfrm>
            <a:off x="2743200" y="4480560"/>
            <a:ext cx="6400800" cy="5486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Try /task-research on your next feature</a:t>
            </a:r>
          </a:p>
        </p:txBody>
      </p:sp>
      <p:sp>
        <p:nvSpPr>
          <p:cNvPr id="12" name="TextBox 11"/>
          <p:cNvSpPr txBox="1"/>
          <p:nvPr/>
        </p:nvSpPr>
        <p:spPr>
          <a:xfrm>
            <a:off x="731520" y="5486400"/>
            <a:ext cx="10058400" cy="914400"/>
          </a:xfrm>
          <a:prstGeom prst="rect">
            <a:avLst/>
          </a:prstGeom>
          <a:noFill/>
        </p:spPr>
        <p:txBody>
          <a:bodyPr wrap="square">
            <a:spAutoFit/>
          </a:bodyPr>
          <a:lstStyle/>
          <a:p>
            <a:pPr algn="ctr">
              <a:defRPr sz="3600" b="1">
                <a:solidFill>
                  <a:srgbClr val="242424"/>
                </a:solidFill>
                <a:latin typeface="Segoe UI"/>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