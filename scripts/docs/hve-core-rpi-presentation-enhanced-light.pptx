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Over the next 30 minutes I'll show you why the way most teams use AI coding assistants is fundamentally broken — and how a constraint-based framework called RPI fixes it. We'll cover the problem, the framework, a live demo, and how different roles use it today.</a:t>
            </a:r>
          </a:p>
          <a:p/>
          <a:p>
            <a:r>
              <a:t>HVE-Core has been industry-proven at companies like AVEVA, BMW, Michelin, Hexagon, Kubota, and Nvidia to improve coding accuracy, automate repetitive tasks, and personalize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Raise your hand if this has happened to you. The AI generates something that looks right. It compiles. Then you deploy and discover it used patterns from 3 years ago, missed your naming conventions, and broke two downstream services. This is the universal failure mode of AI-assisted development.</a:t>
            </a:r>
          </a:p>
          <a:p/>
          <a:p>
            <a:r>
              <a:t>The pain is quantifiable: developers lose 15 to 20 hours per week dealing with repetitive tasks and relearning context. Unstructured AI interactions and constant context-switching cost about 40% of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root cause: AI treats every request as an implementation request. It never separates investigation from implementation. It pattern-matches from training data instead of searching your actual codebase. The output looks plausible — but plausible and correct aren't the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philosophical foundation of HVE-Core. We don't try to make AI smarter. We constrain what it can do at each stage. A researcher that cannot write code will search instead of inventing. A planner that cannot implement will sequence instead of coding. Constraints force better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HVE-Core is an enterprise-ready prompt engineering framework. 22 custom agents, 27 prompts, 24 instruction files, 1 skill, and 10 collections. Agents define what AI can and cannot do. Instructions encode coding standards. Prompts are how users interact. Collections bundle artifacts for specific roles.</a:t>
            </a:r>
          </a:p>
          <a:p/>
          <a:p>
            <a:r>
              <a:t>This isn't just theory. HVE-Core has been used by industry leaders like AVEVA, BMW, Michelin, Hexagon, Kubota, and Nvidia.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phase converts one form of understanding into the next. Internal trials show up to 88% faster task completion using RPI compared to unstructured AI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constraints row is the key architectural element. Each constraint forces the AI into its correct mode of operation. Keep each RPI cycle scoped to about 3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traceability row is the strongest argument for RPI adoption. The /clear rule sounds counterintuitive — why throw away context? Because context contamination causes mode confusion.</a:t>
            </a:r>
          </a:p>
          <a:p/>
          <a:p>
            <a:r>
              <a:t>The paradigm shift: stop asking AI to write code. Start asking it to help you research, plan, and then implement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modes form the RPI cycle. Two additional modes serve specialized functions. For familiar tasks, the rpi-agent can orchestrate all four phases in one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for five things: how the researcher searches rather than invents, how it cites files and line numbers, how the plan references research artifacts, how /clear resets context, and how the implementor follows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HVE-Core isn't just for developers. Eight distinct roles, each with a dedicated collection that filters the right tools for their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complex or ambiguous projects, add a Discovery phase before Research — D-RPI. Discovery mirrors Empathize and Define stages of Design Thinking. D-RPI and Design Thinking integration are forward-looking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aren't hypothetical — a global telecom cut deployment times by 50%. Architecture and security docs went from days to hours. A hackathon team delivered a prototype in 2 days instead of 8 weeks. Developers are happier.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HVE-Core uses its own tools to build itself. This presentation was planned using the RPI workflow. The validation pipeline runs 12+ automated checks on every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VS Code extensions organized by role. All share a common base of 8 core agents and 5 core instructions. Pick the extension that matches your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with your team: the first RPI workflow feels slower. By the third feature, the workflow feels natural. Research documents accumulate into institutional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paths to get started. The VS Code Extension is the fastest — 10 seconds. The HVE-Learning repository has self-paced modules. Customer Zero Katas provide hands-on practice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Bi-weekly community syncs, Teams channels, and curated good-first-issue tags. Contributions aren't limited to code — prompts, instructions, documentation, and bug reports are all 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steps to get started. Install the extension — 10 seconds. Open Copilot Chat. Select Task Researcher. Ask it about your next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takeaways: accelerate delivery and quality, RPI is the game-changer, empower every role, and start your hypervelocity journey. The code comes last, after the hard work of understanding is complete.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42424"/>
                </a:solidFill>
                <a:latin typeface="Segoe UI"/>
              </a:defRPr>
            </a:pPr>
            <a:r>
              <a:t>HVE-Core and the RPI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Segoe UI"/>
              </a:defRPr>
            </a:pPr>
            <a:r>
              <a:t>Turning AI from a Code Generator into a Research Partner</a:t>
            </a:r>
          </a:p>
          <a:p>
            <a:pPr>
              <a:spcAft>
                <a:spcPts val="400"/>
              </a:spcAft>
              <a:defRPr sz="10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 constraint-based framework for AI-assisted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2743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30-Minute Overview  •  Two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38E8E"/>
                </a:solidFill>
                <a:latin typeface="Segoe UI"/>
              </a:defRPr>
            </a:pPr>
            <a:r>
              <a:t>Proven at AVEVA  •  BMW  •  Michelin  •  Hexagon  •  Kubota  •  Nvidia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242424"/>
                </a:solidFill>
                <a:latin typeface="Segoe UI"/>
              </a:defRPr>
            </a:pPr>
            <a:r>
              <a:t>You: "Build me a Terraform module for Azure IoT"</a:t>
            </a:r>
          </a:p>
          <a:p>
            <a:pPr>
              <a:spcAft>
                <a:spcPts val="400"/>
              </a:spcAft>
              <a:defRPr sz="12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Segoe UI"/>
              </a:defRPr>
            </a:pPr>
            <a:r>
              <a:t>AI: *immediately generates 2,000 lines of code*</a:t>
            </a:r>
          </a:p>
          <a:p>
            <a:pPr>
              <a:spcAft>
                <a:spcPts val="400"/>
              </a:spcAft>
              <a:defRPr sz="12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D13438"/>
                </a:solidFill>
                <a:latin typeface="Segoe UI"/>
              </a:defRPr>
            </a:pPr>
            <a:r>
              <a:t>Reality:</a:t>
            </a:r>
          </a:p>
          <a:p>
            <a:pPr>
              <a:spcAft>
                <a:spcPts val="400"/>
              </a:spcAft>
              <a:defRPr sz="1400" b="0">
                <a:solidFill>
                  <a:srgbClr val="D13438"/>
                </a:solidFill>
                <a:latin typeface="Segoe UI"/>
              </a:defRPr>
            </a:pPr>
            <a:r>
              <a:t>  • Missing provider dependencies</a:t>
            </a:r>
          </a:p>
          <a:p>
            <a:pPr>
              <a:spcAft>
                <a:spcPts val="400"/>
              </a:spcAft>
              <a:defRPr sz="1400" b="0">
                <a:solidFill>
                  <a:srgbClr val="D13438"/>
                </a:solidFill>
                <a:latin typeface="Segoe UI"/>
              </a:defRPr>
            </a:pPr>
            <a:r>
              <a:t>  • Wrong variable naming conventions</a:t>
            </a:r>
          </a:p>
          <a:p>
            <a:pPr>
              <a:spcAft>
                <a:spcPts val="400"/>
              </a:spcAft>
              <a:defRPr sz="1400" b="0">
                <a:solidFill>
                  <a:srgbClr val="D13438"/>
                </a:solidFill>
                <a:latin typeface="Segoe UI"/>
              </a:defRPr>
            </a:pPr>
            <a:r>
              <a:t>  • Patterns from 3 years ago</a:t>
            </a:r>
          </a:p>
          <a:p>
            <a:pPr>
              <a:spcAft>
                <a:spcPts val="400"/>
              </a:spcAft>
              <a:defRPr sz="1400" b="0">
                <a:solidFill>
                  <a:srgbClr val="D13438"/>
                </a:solidFill>
                <a:latin typeface="Segoe UI"/>
              </a:defRPr>
            </a:pPr>
            <a:r>
              <a:t>  • Broke two downstream services</a:t>
            </a:r>
          </a:p>
          <a:p>
            <a:pPr>
              <a:spcAft>
                <a:spcPts val="400"/>
              </a:spcAft>
              <a:defRPr sz="1400" b="0">
                <a:solidFill>
                  <a:srgbClr val="D13438"/>
                </a:solidFill>
                <a:latin typeface="Segoe UI"/>
              </a:defRPr>
            </a:pPr>
            <a:r>
              <a:t>  • Used modules that don't exist in your registry</a:t>
            </a:r>
          </a:p>
          <a:p>
            <a:pPr>
              <a:spcAft>
                <a:spcPts val="400"/>
              </a:spcAft>
              <a:defRPr sz="12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666666"/>
                </a:solidFill>
                <a:latin typeface="Segoe UI"/>
              </a:defRPr>
            </a:pPr>
            <a:r>
              <a:t>It looked right. It compiled. Then you deployed.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200400" cy="4572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8C00"/>
                </a:solidFill>
                <a:latin typeface="Segoe UI"/>
              </a:defRPr>
            </a:pPr>
            <a:r>
              <a:t>15–20 hrs/week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lost to repetitive tasks and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relearning context</a:t>
            </a:r>
          </a:p>
          <a:p>
            <a:pPr>
              <a:spcAft>
                <a:spcPts val="400"/>
              </a:spcAft>
              <a:defRPr sz="10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FF8C00"/>
                </a:solidFill>
                <a:latin typeface="Segoe UI"/>
              </a:defRPr>
            </a:pPr>
            <a:r>
              <a:t>40% productivity loss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from unstructured AI interactions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and context-switching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Raise your hand if this has happened to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Why It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3657600" cy="2286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Investigate?</a:t>
            </a:r>
            <a:br/>
            <a:br/>
            <a:r>
              <a:t>🔍</a:t>
            </a:r>
            <a:br/>
            <a:br/>
            <a:r>
              <a:t>Search • Analyze • Understand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3657600" cy="2286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Implement!</a:t>
            </a:r>
            <a:br/>
            <a:br/>
            <a:r>
              <a:t>⌨️</a:t>
            </a:r>
            <a:br/>
            <a:br/>
            <a:r>
              <a:t>Generate • Write • Ship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212080" y="2743200"/>
            <a:ext cx="1463040" cy="0"/>
          </a:xfrm>
          <a:prstGeom prst="line">
            <a:avLst/>
          </a:prstGeom>
          <a:ln w="38100">
            <a:solidFill>
              <a:srgbClr val="D13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800" y="4389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AI Writes First and Thinks Never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"Plausible" and "correct" aren't the same thing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The Counterintuitive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242424"/>
                </a:solidFill>
                <a:latin typeface="Segoe UI"/>
              </a:defRPr>
            </a:pPr>
            <a:r>
              <a:t>"The solution isn't teaching AI to be smarter.</a:t>
            </a:r>
          </a:p>
          <a:p>
            <a:pPr>
              <a:spcAft>
                <a:spcPts val="400"/>
              </a:spcAft>
              <a:defRPr sz="8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2200" b="0">
                <a:solidFill>
                  <a:srgbClr val="242424"/>
                </a:solidFill>
                <a:latin typeface="Segoe UI"/>
              </a:defRPr>
            </a:pPr>
            <a:r>
              <a:t>It's preventing AI from doing certain things</a:t>
            </a:r>
          </a:p>
          <a:p>
            <a:pPr>
              <a:spcAft>
                <a:spcPts val="400"/>
              </a:spcAft>
              <a:defRPr sz="2200" b="0">
                <a:solidFill>
                  <a:srgbClr val="242424"/>
                </a:solidFill>
                <a:latin typeface="Segoe UI"/>
              </a:defRPr>
            </a:pPr>
            <a:r>
              <a:t>at certain times."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4389120"/>
            <a:ext cx="4114800" cy="64008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Optimizing for plausible code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0" y="4709160"/>
            <a:ext cx="731520" cy="0"/>
          </a:xfrm>
          <a:prstGeom prst="line">
            <a:avLst/>
          </a:prstGeom>
          <a:ln w="3810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0" y="4389120"/>
            <a:ext cx="4114800" cy="6400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Optimizing for verified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Constraints are features, not limitations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What is HVE-Core?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Segoe UI"/>
              </a:defRPr>
            </a:pPr>
            <a:r>
              <a:t>An enterprise-ready prompt engineering framework that transforms GitHub Copilot from a code-completion tool into a structured engineering partner.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920240" cy="10972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Agents</a:t>
            </a:r>
            <a:br/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194560"/>
            <a:ext cx="1920240" cy="10972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Prompts</a:t>
            </a:r>
            <a:br/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194560"/>
            <a:ext cx="1920240" cy="10972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Instructions</a:t>
            </a:r>
            <a:br/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2194560"/>
            <a:ext cx="1920240" cy="1097280"/>
          </a:xfrm>
          <a:prstGeom prst="roundRect">
            <a:avLst/>
          </a:prstGeom>
          <a:solidFill>
            <a:srgbClr val="03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Skills</a:t>
            </a:r>
            <a:br/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194560"/>
            <a:ext cx="1920240" cy="1097280"/>
          </a:xfrm>
          <a:prstGeom prst="round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Collections</a:t>
            </a:r>
            <a:br/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424"/>
                </a:solidFill>
                <a:latin typeface="Segoe UI"/>
              </a:defRPr>
            </a:pPr>
            <a:r>
              <a:t>Delegation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182880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66666"/>
                </a:solidFill>
                <a:latin typeface="Segoe UI"/>
              </a:defRPr>
            </a:pPr>
            <a:r>
              <a:t>User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4480560"/>
            <a:ext cx="548640" cy="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4206240"/>
            <a:ext cx="182880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Prompt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4480560"/>
            <a:ext cx="548640" cy="0"/>
          </a:xfrm>
          <a:prstGeom prst="line">
            <a:avLst/>
          </a:prstGeom>
          <a:ln w="25400">
            <a:solidFill>
              <a:srgbClr val="107C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35040" y="4206240"/>
            <a:ext cx="182880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80" y="4480560"/>
            <a:ext cx="54864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95359" y="4206240"/>
            <a:ext cx="182880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Instructions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Segoe UI"/>
              </a:defRPr>
            </a:pPr>
            <a:r>
              <a:t>Agents define behavior and constraints. Instructions encode standards.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Segoe UI"/>
              </a:defRPr>
            </a:pPr>
            <a:r>
              <a:t>Prompts are user entry points. Skills package domain knowledge.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Segoe UI"/>
              </a:defRPr>
            </a:pPr>
            <a:r>
              <a:t>Collections bundle everything for specific roles.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38E8E"/>
                </a:solidFill>
                <a:latin typeface="Segoe UI"/>
              </a:defRPr>
            </a:pPr>
            <a:r>
              <a:t>Industry-proven at AVEVA, BMW, Michelin, Hexagon, Kubota, and Nvidia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The RPI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ght-hve-rpi-pipeline-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Deep Dive: Each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78D4"/>
                </a:solidFill>
                <a:latin typeface="Segoe UI"/>
              </a:defRPr>
            </a:pPr>
            <a:r>
              <a:t>Purpose</a:t>
            </a:r>
          </a:p>
          <a:p>
            <a:pPr>
              <a:spcAft>
                <a:spcPts val="400"/>
              </a:spcAft>
              <a:defRPr sz="1000" b="0">
                <a:solidFill>
                  <a:srgbClr val="444444"/>
                </a:solidFill>
                <a:latin typeface="Segoe UI"/>
              </a:defRPr>
            </a:pPr>
            <a:r>
              <a:t>Discover what exists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D13438"/>
                </a:solidFill>
                <a:latin typeface="Segoe UI"/>
              </a:defRPr>
            </a:pPr>
            <a:r>
              <a:t>Core Constraint</a:t>
            </a:r>
          </a:p>
          <a:p>
            <a:pPr>
              <a:spcAft>
                <a:spcPts val="400"/>
              </a:spcAft>
              <a:defRPr sz="1000" b="1">
                <a:solidFill>
                  <a:srgbClr val="242424"/>
                </a:solidFill>
                <a:latin typeface="Segoe UI"/>
              </a:defRPr>
            </a:pPr>
            <a:r>
              <a:t>CANNOT implement or modify code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0078D4"/>
                </a:solidFill>
                <a:latin typeface="Segoe UI"/>
              </a:defRPr>
            </a:pPr>
            <a:r>
              <a:t>Key Output</a:t>
            </a:r>
          </a:p>
          <a:p>
            <a:pPr>
              <a:spcAft>
                <a:spcPts val="400"/>
              </a:spcAft>
              <a:defRPr sz="1000" b="0">
                <a:solidFill>
                  <a:srgbClr val="444444"/>
                </a:solidFill>
                <a:latin typeface="Segoe UI"/>
              </a:defRPr>
            </a:pPr>
            <a:r>
              <a:t>research.md with citations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0078D4"/>
                </a:solidFill>
                <a:latin typeface="Segoe UI"/>
              </a:defRPr>
            </a:pPr>
            <a:r>
              <a:t>Invocation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/task-research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65176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7C10"/>
                </a:solidFill>
                <a:latin typeface="Segoe UI"/>
              </a:defRPr>
            </a:pPr>
            <a:r>
              <a:t>Purpose</a:t>
            </a:r>
          </a:p>
          <a:p>
            <a:pPr>
              <a:spcAft>
                <a:spcPts val="400"/>
              </a:spcAft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Sequence the work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D13438"/>
                </a:solidFill>
                <a:latin typeface="Segoe UI"/>
              </a:defRPr>
            </a:pPr>
            <a:r>
              <a:t>Core Constraint</a:t>
            </a:r>
          </a:p>
          <a:p>
            <a:pPr>
              <a:spcAft>
                <a:spcPts val="400"/>
              </a:spcAft>
              <a:defRPr sz="1000" b="1">
                <a:solidFill>
                  <a:srgbClr val="242424"/>
                </a:solidFill>
                <a:latin typeface="Segoe UI"/>
              </a:defRPr>
            </a:pPr>
            <a:r>
              <a:t>CANNOT implement or modify code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07C10"/>
                </a:solidFill>
                <a:latin typeface="Segoe UI"/>
              </a:defRPr>
            </a:pPr>
            <a:r>
              <a:t>Key Output</a:t>
            </a:r>
          </a:p>
          <a:p>
            <a:pPr>
              <a:spcAft>
                <a:spcPts val="400"/>
              </a:spcAft>
              <a:defRPr sz="1000" b="0">
                <a:solidFill>
                  <a:srgbClr val="444444"/>
                </a:solidFill>
                <a:latin typeface="Segoe UI"/>
              </a:defRPr>
            </a:pPr>
            <a:r>
              <a:t>plan.instructions.md + details.md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07C10"/>
                </a:solidFill>
                <a:latin typeface="Segoe UI"/>
              </a:defRPr>
            </a:pPr>
            <a:r>
              <a:t>Invocation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/task-plan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65176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Implement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8C00"/>
                </a:solidFill>
                <a:latin typeface="Segoe UI"/>
              </a:defRPr>
            </a:pPr>
            <a:r>
              <a:t>Purpose</a:t>
            </a:r>
          </a:p>
          <a:p>
            <a:pPr>
              <a:spcAft>
                <a:spcPts val="400"/>
              </a:spcAft>
              <a:defRPr sz="1000" b="0">
                <a:solidFill>
                  <a:srgbClr val="444444"/>
                </a:solidFill>
                <a:latin typeface="Segoe UI"/>
              </a:defRPr>
            </a:pPr>
            <a:r>
              <a:t>Execute the plan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D13438"/>
                </a:solidFill>
                <a:latin typeface="Segoe UI"/>
              </a:defRPr>
            </a:pPr>
            <a:r>
              <a:t>Core Constraint</a:t>
            </a:r>
          </a:p>
          <a:p>
            <a:pPr>
              <a:spcAft>
                <a:spcPts val="400"/>
              </a:spcAft>
              <a:defRPr sz="1000" b="1">
                <a:solidFill>
                  <a:srgbClr val="242424"/>
                </a:solidFill>
                <a:latin typeface="Segoe UI"/>
              </a:defRPr>
            </a:pPr>
            <a:r>
              <a:t>MUST follow plan — no creative decisions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FF8C00"/>
                </a:solidFill>
                <a:latin typeface="Segoe UI"/>
              </a:defRPr>
            </a:pPr>
            <a:r>
              <a:t>Key Output</a:t>
            </a:r>
          </a:p>
          <a:p>
            <a:pPr>
              <a:spcAft>
                <a:spcPts val="400"/>
              </a:spcAft>
              <a:defRPr sz="1000" b="0">
                <a:solidFill>
                  <a:srgbClr val="444444"/>
                </a:solidFill>
                <a:latin typeface="Segoe UI"/>
              </a:defRPr>
            </a:pPr>
            <a:r>
              <a:t>Working code matching plan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FF8C00"/>
                </a:solidFill>
                <a:latin typeface="Segoe UI"/>
              </a:defRPr>
            </a:pPr>
            <a:r>
              <a:t>Invocation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/task-implement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651760" cy="457200"/>
          </a:xfrm>
          <a:prstGeom prst="round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864D8"/>
                </a:solidFill>
                <a:latin typeface="Segoe UI"/>
              </a:defRPr>
            </a:pPr>
            <a:r>
              <a:t>Purpose</a:t>
            </a:r>
          </a:p>
          <a:p>
            <a:pPr>
              <a:spcAft>
                <a:spcPts val="400"/>
              </a:spcAft>
              <a:defRPr sz="1000" b="0">
                <a:solidFill>
                  <a:srgbClr val="444444"/>
                </a:solidFill>
                <a:latin typeface="Segoe UI"/>
              </a:defRPr>
            </a:pPr>
            <a:r>
              <a:t>Validate the output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D13438"/>
                </a:solidFill>
                <a:latin typeface="Segoe UI"/>
              </a:defRPr>
            </a:pPr>
            <a:r>
              <a:t>Core Constraint</a:t>
            </a:r>
          </a:p>
          <a:p>
            <a:pPr>
              <a:spcAft>
                <a:spcPts val="400"/>
              </a:spcAft>
              <a:defRPr sz="1000" b="1">
                <a:solidFill>
                  <a:srgbClr val="242424"/>
                </a:solidFill>
                <a:latin typeface="Segoe UI"/>
              </a:defRPr>
            </a:pPr>
            <a:r>
              <a:t>CANNOT modify code — only report findings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8864D8"/>
                </a:solidFill>
                <a:latin typeface="Segoe UI"/>
              </a:defRPr>
            </a:pPr>
            <a:r>
              <a:t>Key Output</a:t>
            </a:r>
          </a:p>
          <a:p>
            <a:pPr>
              <a:spcAft>
                <a:spcPts val="400"/>
              </a:spcAft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8-dimension review report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8864D8"/>
                </a:solidFill>
                <a:latin typeface="Segoe UI"/>
              </a:defRPr>
            </a:pPr>
            <a:r>
              <a:t>Invocation</a:t>
            </a:r>
          </a:p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/task-review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8E8E"/>
                </a:solidFill>
                <a:latin typeface="Segoe UI"/>
              </a:defRPr>
            </a:pPr>
            <a:r>
              <a:t>Best practice: Keep implementation to ~3 files per RPI cycle for manageable scope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Quality Comparison + The /clear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2743200" cy="32004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Traditional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2743200" cy="32004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42424"/>
                </a:solidFill>
                <a:latin typeface="Segoe UI"/>
              </a:defRPr>
            </a:pPr>
            <a:r>
              <a:t>Dimension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097280"/>
            <a:ext cx="3200400" cy="3200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RPI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Invents plausible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42424"/>
                </a:solidFill>
                <a:latin typeface="Segoe UI"/>
              </a:defRPr>
            </a:pPr>
            <a:r>
              <a:t>Pattern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463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Finds actual codebase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47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No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47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42424"/>
                </a:solidFill>
                <a:latin typeface="Segoe UI"/>
              </a:defRPr>
            </a:pPr>
            <a:r>
              <a:t>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47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Research → Plan →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311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Lost between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2311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42424"/>
                </a:solidFill>
                <a:latin typeface="Segoe UI"/>
              </a:defRPr>
            </a:pPr>
            <a:r>
              <a:t>Knowledge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2311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Preserved in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151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30-50% discarded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151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42424"/>
                </a:solidFill>
                <a:latin typeface="Segoe UI"/>
              </a:defRPr>
            </a:pPr>
            <a:r>
              <a:t>Rework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6151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&lt; 10% rework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992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Manual review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9992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42424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9992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8-dimension structured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The /clear Rule: Context Reset Between Phases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1280160" cy="4114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Research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11680" y="4315968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86000" y="4114800"/>
            <a:ext cx="914400" cy="41148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/clear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00400" y="4315968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840480" y="4114800"/>
            <a:ext cx="128016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Plan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120640" y="4315968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394959" y="4114800"/>
            <a:ext cx="914400" cy="41148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/clear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09359" y="4315968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949440" y="4114800"/>
            <a:ext cx="128016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Implement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29600" y="4315968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503920" y="4114800"/>
            <a:ext cx="914400" cy="41148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/clear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18320" y="4315968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58400" y="4114800"/>
            <a:ext cx="1280160" cy="411480"/>
          </a:xfrm>
          <a:prstGeom prst="round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9377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42424"/>
                </a:solidFill>
                <a:latin typeface="Segoe UI"/>
              </a:defRPr>
            </a:pPr>
            <a:r>
              <a:t>Stop asking AI: "Write this code."</a:t>
            </a:r>
          </a:p>
          <a:p>
            <a:pPr>
              <a:spcAft>
                <a:spcPts val="400"/>
              </a:spcAft>
              <a:defRPr sz="1500" b="1">
                <a:solidFill>
                  <a:srgbClr val="0078D4"/>
                </a:solidFill>
                <a:latin typeface="Segoe UI"/>
              </a:defRPr>
            </a:pPr>
            <a:r>
              <a:t>Start asking: "Help me research, plan, then implement with evidence."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Context clearing prevents mode contamination — each phase gets a clean 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Six Custom Chat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RPI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Researcher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8D4"/>
                </a:solidFill>
                <a:latin typeface="Segoe UI"/>
              </a:defRPr>
            </a:pPr>
            <a:r>
              <a:t>/task-research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Constraint: Cannot implement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514600"/>
            <a:ext cx="0" cy="13716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697480"/>
            <a:ext cx="2286000" cy="6400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7C10"/>
                </a:solidFill>
                <a:latin typeface="Segoe UI"/>
              </a:defRPr>
            </a:pPr>
            <a:r>
              <a:t>/task-plan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Constraint: Cannot implement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3383280"/>
            <a:ext cx="0" cy="13716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3566160"/>
            <a:ext cx="22860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Implementor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00"/>
                </a:solidFill>
                <a:latin typeface="Segoe UI"/>
              </a:defRPr>
            </a:pPr>
            <a:r>
              <a:t>/task-implement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Constraint: Follows plan only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4251960"/>
            <a:ext cx="0" cy="13716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434840"/>
            <a:ext cx="2286000" cy="640080"/>
          </a:xfrm>
          <a:prstGeom prst="round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Reviewer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64D8"/>
                </a:solidFill>
                <a:latin typeface="Segoe UI"/>
              </a:defRPr>
            </a:pPr>
            <a:r>
              <a:t>/task-review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Constraint: Cannot modify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38E8E"/>
                </a:solidFill>
                <a:latin typeface="Segoe UI"/>
              </a:defRPr>
            </a:pPr>
            <a:r>
              <a:t>Complementary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1828800"/>
            <a:ext cx="2286000" cy="640080"/>
          </a:xfrm>
          <a:prstGeom prst="roundRect">
            <a:avLst/>
          </a:prstGeom>
          <a:solidFill>
            <a:srgbClr val="03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Prompt 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38E8E"/>
                </a:solidFill>
                <a:latin typeface="Segoe UI"/>
              </a:defRPr>
            </a:pPr>
            <a:r>
              <a:t>/prompt-build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Constraint: Orchestrates subagents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926080"/>
            <a:ext cx="2286000" cy="640080"/>
          </a:xfrm>
          <a:prstGeom prst="round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64D8"/>
                </a:solidFill>
                <a:latin typeface="Segoe UI"/>
              </a:defRPr>
            </a:pPr>
            <a:r>
              <a:t>Agent picker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3438"/>
                </a:solidFill>
                <a:latin typeface="Segoe UI"/>
              </a:defRPr>
            </a:pPr>
            <a:r>
              <a:t>Constraint: Never modifies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Segoe UI"/>
              </a:defRPr>
            </a:pPr>
            <a:r>
              <a:t>Every mode enforces specific constraints — AI cannot bypass its designated role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038E8E"/>
                </a:solidFill>
                <a:latin typeface="Segoe UI"/>
              </a:defRPr>
            </a:pPr>
            <a:r>
              <a:t>Advanced: rpi-agent orchestrates all 4 phases in a single session for familiar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42424"/>
                </a:solidFill>
                <a:latin typeface="Segoe UI"/>
              </a:defRPr>
            </a:pPr>
            <a:r>
              <a:t>Let's See It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73152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44444"/>
                </a:solidFill>
                <a:latin typeface="Segoe UI"/>
              </a:defRPr>
            </a:pPr>
            <a:r>
              <a:t>Live Demo: RPI Workflow — Researching and Planning a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Watch for: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4572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Segoe UI"/>
              </a:defRPr>
            </a:pPr>
            <a:r>
              <a:t>How the researcher finds existing patterns (not invents code)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457200" cy="36576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Segoe UI"/>
              </a:defRPr>
            </a:pPr>
            <a:r>
              <a:t>How it cites specific files and line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63440"/>
            <a:ext cx="457200" cy="3657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Segoe UI"/>
              </a:defRPr>
            </a:pPr>
            <a:r>
              <a:t>How the plan references the research artifacts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457200" cy="36576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Segoe UI"/>
              </a:defRPr>
            </a:pPr>
            <a:r>
              <a:t>How /clear resets context between phases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577840"/>
            <a:ext cx="457200" cy="365760"/>
          </a:xfrm>
          <a:prstGeom prst="round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Segoe UI"/>
              </a:defRPr>
            </a:pPr>
            <a:r>
              <a:t>How the implementor follows the plan step by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Demo: ~5 minutes in VS Code  •  Research → /clear → Plan → /clear → Implement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Eight Roles, One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ght-hve-role-mapping-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Beyond RPI: Discovery + Design Thinking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03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ght-hve-drpi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Design Thinking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37760"/>
            <a:ext cx="1645920" cy="2743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→  Empathize / Define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57800"/>
            <a:ext cx="164592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→  Ideate (evidence-constrained)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577840"/>
            <a:ext cx="1645920" cy="27432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→  Prototype (on paper)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937760"/>
            <a:ext cx="1645920" cy="2743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Implement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→  Build /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257800"/>
            <a:ext cx="1645920" cy="274320"/>
          </a:xfrm>
          <a:prstGeom prst="round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→  Validate /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D-RPI and Design Thinking integration are forward-looking extensions. Core four-phase RPI is the production workflow today.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Real Results with HVE-Core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103120" cy="9144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50%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2103120" cy="7315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4444"/>
                </a:solidFill>
                <a:latin typeface="Segoe UI"/>
              </a:defRPr>
            </a:pPr>
            <a:r>
              <a:t>Faster</a:t>
            </a:r>
            <a:br/>
            <a:r>
              <a:t>Deployments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Global telecom:</a:t>
            </a:r>
            <a:br/>
            <a:r>
              <a:t>AI-driven IaC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463040"/>
            <a:ext cx="2103120" cy="9144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90%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77440"/>
            <a:ext cx="2103120" cy="7315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4444"/>
                </a:solidFill>
                <a:latin typeface="Segoe UI"/>
              </a:defRPr>
            </a:pPr>
            <a:r>
              <a:t>Faster</a:t>
            </a:r>
            <a:br/>
            <a:r>
              <a:t>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Architecture docs</a:t>
            </a:r>
            <a:br/>
            <a:r>
              <a:t>and security plans:</a:t>
            </a:r>
            <a:br/>
            <a:r>
              <a:t>days →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463040"/>
            <a:ext cx="2103120" cy="9144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2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377440"/>
            <a:ext cx="2103120" cy="7315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4444"/>
                </a:solidFill>
                <a:latin typeface="Segoe UI"/>
              </a:defRPr>
            </a:pPr>
            <a:r>
              <a:t>vs 8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Internal hackathon:</a:t>
            </a:r>
            <a:br/>
            <a:r>
              <a:t>RPI + Copilot</a:t>
            </a:r>
            <a:br/>
            <a:r>
              <a:t>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63040"/>
            <a:ext cx="2103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Quality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377440"/>
            <a:ext cx="2103120" cy="7315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4444"/>
                </a:solidFill>
                <a:latin typeface="Segoe UI"/>
              </a:defRPr>
            </a:pPr>
            <a:r>
              <a:t>Improved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AI PR reviews</a:t>
            </a:r>
            <a:br/>
            <a:r>
              <a:t>catch subtle bugs</a:t>
            </a:r>
            <a:br/>
            <a:r>
              <a:t>pre-merge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463040"/>
            <a:ext cx="2103120" cy="914400"/>
          </a:xfrm>
          <a:prstGeom prst="roundRect">
            <a:avLst/>
          </a:prstGeom>
          <a:solidFill>
            <a:srgbClr val="03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Dev</a:t>
            </a:r>
            <a:br/>
            <a:r>
              <a:t>Experience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377440"/>
            <a:ext cx="2103120" cy="7315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4444"/>
                </a:solidFill>
                <a:latin typeface="Segoe UI"/>
              </a:defRPr>
            </a:pPr>
            <a:r>
              <a:t>Better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Less rework,</a:t>
            </a:r>
            <a:br/>
            <a:r>
              <a:t>less context-switching,</a:t>
            </a:r>
            <a:br/>
            <a:r>
              <a:t>higher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4444"/>
                </a:solidFill>
                <a:latin typeface="Segoe UI"/>
              </a:defRPr>
            </a:pPr>
            <a:r>
              <a:t>Real teams.  Real metrics.  Real improvements.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5669280"/>
            <a:ext cx="64008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Internal trials: up to 88% faster task completion with RPI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Built by HVE-Core, Validated by HVE-Core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03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38E8E"/>
                </a:solidFill>
                <a:latin typeface="Segoe UI"/>
              </a:defRPr>
            </a:pPr>
            <a:r>
              <a:t>Self-Referential Credibility</a:t>
            </a:r>
          </a:p>
          <a:p>
            <a:pPr>
              <a:spcAft>
                <a:spcPts val="400"/>
              </a:spcAft>
              <a:defRPr sz="8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• This presentation was planned using RPI</a:t>
            </a: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• Every agent was built by the Prompt Builder agent</a:t>
            </a: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• Instructions files follow their own rules</a:t>
            </a: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• Collection manifests are validated by their own CI</a:t>
            </a: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• Documentation is generated from the same artifacts</a:t>
            </a:r>
          </a:p>
          <a:p>
            <a:pPr>
              <a:spcAft>
                <a:spcPts val="400"/>
              </a:spcAft>
              <a:defRPr sz="8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666666"/>
                </a:solidFill>
                <a:latin typeface="Segoe UI"/>
              </a:defRPr>
            </a:pPr>
            <a:r>
              <a:t>If HVE-Core doesn't work on itself,</a:t>
            </a:r>
          </a:p>
          <a:p>
            <a:pPr>
              <a:spcAft>
                <a:spcPts val="400"/>
              </a:spcAft>
              <a:defRPr sz="1400" b="1">
                <a:solidFill>
                  <a:srgbClr val="666666"/>
                </a:solidFill>
                <a:latin typeface="Segoe UI"/>
              </a:defRPr>
            </a:pPr>
            <a:r>
              <a:t>why would it work on your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8C00"/>
                </a:solidFill>
                <a:latin typeface="Segoe UI"/>
              </a:defRPr>
            </a:pPr>
            <a:r>
              <a:t>Validation Pipeline</a:t>
            </a:r>
          </a:p>
          <a:p>
            <a:pPr>
              <a:spcAft>
                <a:spcPts val="400"/>
              </a:spcAft>
              <a:defRPr sz="8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78D4"/>
                </a:solidFill>
                <a:latin typeface="Segoe UI"/>
              </a:defRPr>
            </a:pPr>
            <a:r>
              <a:t>Linting (7 jobs)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Segoe UI"/>
              </a:defRPr>
            </a:pPr>
            <a:r>
              <a:t>  Markdown, YAML, frontmatter, links,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Segoe UI"/>
              </a:defRPr>
            </a:pPr>
            <a:r>
              <a:t>  tables, collections metadata, version consistency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7C10"/>
                </a:solidFill>
                <a:latin typeface="Segoe UI"/>
              </a:defRPr>
            </a:pPr>
            <a:r>
              <a:t>Analysis (2 jobs)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Segoe UI"/>
              </a:defRPr>
            </a:pPr>
            <a:r>
              <a:t>  PowerShell PSScriptAnalyzer, skill validation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D13438"/>
                </a:solidFill>
                <a:latin typeface="Segoe UI"/>
              </a:defRPr>
            </a:pPr>
            <a:r>
              <a:t>Security (3 jobs)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Segoe UI"/>
              </a:defRPr>
            </a:pPr>
            <a:r>
              <a:t>  Dependency pinning, SHA staleness, copyright</a:t>
            </a:r>
          </a:p>
          <a:p>
            <a:pPr>
              <a:spcAft>
                <a:spcPts val="400"/>
              </a:spcAft>
              <a:defRPr sz="6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8864D8"/>
                </a:solidFill>
                <a:latin typeface="Segoe UI"/>
              </a:defRPr>
            </a:pPr>
            <a:r>
              <a:t>Schema Validation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Segoe UI"/>
              </a:defRPr>
            </a:pPr>
            <a:r>
              <a:t>  Collection YAML → plugin generation → extension packaging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Extension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7432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Extension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371600"/>
            <a:ext cx="109728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109728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Prompts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13716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36576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Focus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7432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hve-core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Core RPI + all 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Segoe UI"/>
              </a:defRPr>
            </a:pPr>
            <a:r>
              <a:t>hve-ado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Azure DevOps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Segoe UI"/>
              </a:defRPr>
            </a:pPr>
            <a:r>
              <a:t>hve-github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GitHub backlog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Segoe UI"/>
              </a:defRPr>
            </a:pPr>
            <a:r>
              <a:t>hve-project-planning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PRD / BRD / ADR workflows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Segoe UI"/>
              </a:defRPr>
            </a:pPr>
            <a:r>
              <a:t>hve-security-planning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Threat modeling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Segoe UI"/>
              </a:defRPr>
            </a:pPr>
            <a:r>
              <a:t>hve-rpi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Standalone RPI cycle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Segoe UI"/>
              </a:defRPr>
            </a:pPr>
            <a:r>
              <a:t>hve-prompt-engineering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Artifact authoring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Segoe UI"/>
              </a:defRPr>
            </a:pPr>
            <a:r>
              <a:t>hve-data-science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029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5029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42424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Data science workflows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8E8E"/>
                </a:solidFill>
                <a:latin typeface="Segoe UI"/>
              </a:defRPr>
            </a:pPr>
            <a:r>
              <a:t>Common base: 8 core agents + 5 core instructions shared across all extensions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Learning Curve &amp; Compounding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The Honest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8C00"/>
                </a:solidFill>
                <a:latin typeface="Segoe UI"/>
              </a:defRPr>
            </a:pPr>
            <a:r>
              <a:t>Your first RPI workflow will feel slower.</a:t>
            </a:r>
          </a:p>
          <a:p>
            <a:pPr>
              <a:spcAft>
                <a:spcPts val="400"/>
              </a:spcAft>
              <a:defRPr sz="8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You'll wonder why you can't just ask AI to code it.</a:t>
            </a: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You'll feel like the constraints are slowing you down.</a:t>
            </a: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You'll want to skip the research phase.</a:t>
            </a:r>
          </a:p>
          <a:p>
            <a:pPr>
              <a:spcAft>
                <a:spcPts val="400"/>
              </a:spcAft>
              <a:defRPr sz="8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666666"/>
                </a:solidFill>
                <a:latin typeface="Segoe UI"/>
              </a:defRPr>
            </a:pPr>
            <a:r>
              <a:t>That's normal. Stay with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The Payoff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07C10"/>
                </a:solidFill>
                <a:latin typeface="Segoe UI"/>
              </a:defRPr>
            </a:pPr>
            <a:r>
              <a:t>By your third feature, the workflow</a:t>
            </a:r>
          </a:p>
          <a:p>
            <a:pPr>
              <a:spcAft>
                <a:spcPts val="400"/>
              </a:spcAft>
              <a:defRPr sz="1800" b="1">
                <a:solidFill>
                  <a:srgbClr val="107C10"/>
                </a:solidFill>
                <a:latin typeface="Segoe UI"/>
              </a:defRPr>
            </a:pPr>
            <a:r>
              <a:t>feels natural.</a:t>
            </a:r>
          </a:p>
          <a:p>
            <a:pPr>
              <a:spcAft>
                <a:spcPts val="400"/>
              </a:spcAft>
              <a:defRPr sz="8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Research artifacts compound across features.</a:t>
            </a: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Plans reference previous research findings.</a:t>
            </a: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Segoe UI"/>
              </a:defRPr>
            </a:pPr>
            <a:r>
              <a:t>Rework drops below 10%.</a:t>
            </a:r>
          </a:p>
          <a:p>
            <a:pPr>
              <a:spcAft>
                <a:spcPts val="400"/>
              </a:spcAft>
              <a:defRPr sz="800" b="0">
                <a:solidFill>
                  <a:srgbClr val="242424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666666"/>
                </a:solidFill>
                <a:latin typeface="Segoe UI"/>
              </a:defRPr>
            </a:pPr>
            <a:r>
              <a:t>The framework pays for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2424"/>
                </a:solidFill>
                <a:latin typeface="Segoe UI"/>
              </a:defRPr>
            </a:pPr>
            <a:r>
              <a:t>Research documents accumulate into institutional memory.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New team members can read how past decisions were made. You're not just solving 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today's problem — you're building the knowledge base that accelerates tomorrow's.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Evolution 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6035040"/>
            <a:ext cx="109728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v1.1.0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Jan 19 — Initial release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6217920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6035040"/>
            <a:ext cx="1097280" cy="36576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v2.0.0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Jan 28 — Breaking: agent restructure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0" y="6217920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63840" y="6035040"/>
            <a:ext cx="1097280" cy="36576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v2.3.4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Feb 13 — Stable + extensions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Three Paths to Start + Learn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VS Code Extension ⭐  •  10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Individual users, TPMs,</a:t>
            </a:r>
            <a:br/>
            <a:r>
              <a:t>immediate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004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Peer Clone  •  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Developers needing</a:t>
            </a:r>
            <a:br/>
            <a:r>
              <a:t>customization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004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Codespaces  •  1 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Contributors wanting</a:t>
            </a:r>
            <a:br/>
            <a:r>
              <a:t>zero-config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424"/>
                </a:solidFill>
                <a:latin typeface="Segoe UI"/>
              </a:defRPr>
            </a:pPr>
            <a:r>
              <a:t>Learning Resources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66160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42424"/>
                </a:solidFill>
                <a:latin typeface="Segoe UI"/>
              </a:defRPr>
            </a:pPr>
            <a:r>
              <a:t>HVE-Learning Repository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Segoe UI"/>
              </a:defRPr>
            </a:pPr>
            <a:r>
              <a:t>Self-paced modules on prompt engineering, RPI, backlog management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14800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42424"/>
                </a:solidFill>
                <a:latin typeface="Segoe UI"/>
              </a:defRPr>
            </a:pPr>
            <a:r>
              <a:t>Customer Zero Katas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Segoe UI"/>
              </a:defRPr>
            </a:pPr>
            <a:r>
              <a:t>Hands-on practice exercises for real-world scenarios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566160"/>
            <a:ext cx="274320" cy="27432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42424"/>
                </a:solidFill>
                <a:latin typeface="Segoe UI"/>
              </a:defRPr>
            </a:pPr>
            <a:r>
              <a:t>First Workflow Tutorial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Segoe UI"/>
              </a:defRPr>
            </a:pPr>
            <a:r>
              <a:t>15-minute guided RPI exercise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4114800"/>
            <a:ext cx="274320" cy="27432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42424"/>
                </a:solidFill>
                <a:latin typeface="Segoe UI"/>
              </a:defRPr>
            </a:pPr>
            <a:r>
              <a:t>Documentation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aka.ms/hve-core — install, usage, FAQs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5156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microsoft/hve-learning  •  aka.ms/cz-repo-katas  •  aka.ms/hve-core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Start with one RPI workflow. The research artifacts compound from there.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Join the Community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Bi-Weekly Syncs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HVE Community Syncs — live demos,</a:t>
            </a:r>
            <a:br/>
            <a:r>
              <a:t>Q&amp;A, roadmap updates,</a:t>
            </a:r>
            <a:br/>
            <a:r>
              <a:t>and best practice sharing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57200"/>
          </a:xfrm>
          <a:prstGeom prst="roundRect">
            <a:avLst/>
          </a:prstGeom>
          <a:solidFill>
            <a:srgbClr val="03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Teams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#Hypervelocity and #SeasonOfHVE</a:t>
            </a:r>
            <a:br/>
            <a:r>
              <a:t>— real-time discussions,</a:t>
            </a:r>
            <a:br/>
            <a:r>
              <a:t>tips, troubleshooting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0292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Good First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Look for "good first issue" tags</a:t>
            </a:r>
            <a:br/>
            <a:r>
              <a:t>on HVE-Core and accelerator</a:t>
            </a:r>
            <a:br/>
            <a:r>
              <a:t>repos (Edge AI, Robotics)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5029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Contribution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661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Code • Prompts • Instructions</a:t>
            </a:r>
            <a:br/>
            <a:r>
              <a:t>• Skills • Docs • Bug reports</a:t>
            </a:r>
            <a:br/>
            <a:r>
              <a:t>• Feature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46320"/>
            <a:ext cx="201168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Find Issue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5074920"/>
            <a:ext cx="36576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4846320"/>
            <a:ext cx="201168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 RPI to Research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5074920"/>
            <a:ext cx="36576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0" y="4846320"/>
            <a:ext cx="201168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Submit PR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38160" y="5074920"/>
            <a:ext cx="36576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95359" y="4846320"/>
            <a:ext cx="2011680" cy="457200"/>
          </a:xfrm>
          <a:prstGeom prst="round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Get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Use RPI to learn the repo and make your first PR — the agents keep you on track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Segoe UI"/>
              </a:defRPr>
            </a:pPr>
            <a:r>
              <a:t>Install HVE-Core extension from VS Code Marketplace (10 seconds)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Segoe UI"/>
              </a:defRPr>
            </a:pPr>
            <a:r>
              <a:t>Open Copilot Chat and select a chat mode (e.g., Task Researcher)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2608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Segoe UI"/>
              </a:defRPr>
            </a:pPr>
            <a:r>
              <a:t>Run /task-research on your next feature or bug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49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Segoe UI"/>
              </a:defRPr>
            </a:pPr>
            <a:r>
              <a:t>Experience the difference — then try the full RPI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github.com/microsoft/hve-core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303520"/>
            <a:ext cx="640080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Try /task-research on your next feature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424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2424"/>
                </a:solidFill>
                <a:latin typeface="Segoe UI"/>
              </a:defRPr>
            </a:pPr>
            <a:r>
              <a:t>Accelerate delivery and quality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HVE-Core combines AI tools with structured practices — tasks up to 88% faster without sacrificing quality or security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2424"/>
                </a:solidFill>
                <a:latin typeface="Segoe UI"/>
              </a:defRPr>
            </a:pPr>
            <a:r>
              <a:t>RPI is the game-changer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Research → Plan → Implement → Review turns Copilot from a nifty helper into a reliable partner. Structured phases kill the AI rework loop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2424"/>
                </a:solidFill>
                <a:latin typeface="Segoe UI"/>
              </a:defRPr>
            </a:pPr>
            <a:r>
              <a:t>Empower every role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Not just for coders — PMs, TPMs, security engineers, data scientists, and OSS contributors each have dedicated workflows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2424"/>
                </a:solidFill>
                <a:latin typeface="Segoe UI"/>
              </a:defRPr>
            </a:pPr>
            <a:r>
              <a:t>Start your hypervelocity journey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Segoe UI"/>
              </a:defRPr>
            </a:pPr>
            <a:r>
              <a:t>It only takes 10 seconds to install. Pick a small task, run it through RPI, and see the difference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389120"/>
            <a:ext cx="5080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389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424"/>
                </a:solidFill>
                <a:latin typeface="Segoe UI"/>
              </a:defRPr>
            </a:pPr>
            <a:r>
              <a:t>"The code comes last, after the hard work of understanding is complete."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303520"/>
            <a:ext cx="22860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Install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63440" y="5532120"/>
            <a:ext cx="27432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0" y="5303520"/>
            <a:ext cx="22860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Try RPI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06640" y="5532120"/>
            <a:ext cx="27432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5303520"/>
            <a:ext cx="2286000" cy="457200"/>
          </a:xfrm>
          <a:prstGeom prst="roundRect">
            <a:avLst/>
          </a:prstGeom>
          <a:solidFill>
            <a:srgbClr val="88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Join 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42424"/>
                </a:solidFill>
                <a:latin typeface="Segoe U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